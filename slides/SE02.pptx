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74" r:id="rId3"/>
    <p:sldId id="257" r:id="rId4"/>
    <p:sldId id="278" r:id="rId5"/>
    <p:sldId id="292" r:id="rId6"/>
    <p:sldId id="282" r:id="rId7"/>
    <p:sldId id="293" r:id="rId8"/>
    <p:sldId id="283" r:id="rId9"/>
    <p:sldId id="294" r:id="rId10"/>
    <p:sldId id="285" r:id="rId11"/>
    <p:sldId id="284" r:id="rId12"/>
    <p:sldId id="295" r:id="rId13"/>
    <p:sldId id="296" r:id="rId14"/>
    <p:sldId id="291" r:id="rId15"/>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4C2C"/>
    <a:srgbClr val="163794"/>
    <a:srgbClr val="DAD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57"/>
    <p:restoredTop sz="96842"/>
  </p:normalViewPr>
  <p:slideViewPr>
    <p:cSldViewPr>
      <p:cViewPr>
        <p:scale>
          <a:sx n="76" d="100"/>
          <a:sy n="76" d="100"/>
        </p:scale>
        <p:origin x="144" y="264"/>
      </p:cViewPr>
      <p:guideLst>
        <p:guide orient="horz" pos="2880"/>
        <p:guide pos="2160"/>
      </p:guideLst>
    </p:cSldViewPr>
  </p:slideViewPr>
  <p:notesTextViewPr>
    <p:cViewPr>
      <p:scale>
        <a:sx n="120" d="100"/>
        <a:sy n="12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25325D8C-F4DA-D345-83D7-04EC01554320}" type="datetimeFigureOut">
              <a:rPr lang="en-US" smtClean="0"/>
              <a:t>2/19/26</a:t>
            </a:fld>
            <a:endParaRPr lang="en-US"/>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A9BFE423-54EC-2840-A3E4-FB38557F24C7}" type="slidenum">
              <a:rPr lang="en-US" smtClean="0"/>
              <a:t>‹#›</a:t>
            </a:fld>
            <a:endParaRPr lang="en-US"/>
          </a:p>
        </p:txBody>
      </p:sp>
    </p:spTree>
    <p:extLst>
      <p:ext uri="{BB962C8B-B14F-4D97-AF65-F5344CB8AC3E}">
        <p14:creationId xmlns:p14="http://schemas.microsoft.com/office/powerpoint/2010/main" val="340524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BFE423-54EC-2840-A3E4-FB38557F24C7}" type="slidenum">
              <a:rPr lang="en-US" smtClean="0"/>
              <a:t>1</a:t>
            </a:fld>
            <a:endParaRPr lang="en-US"/>
          </a:p>
        </p:txBody>
      </p:sp>
    </p:spTree>
    <p:extLst>
      <p:ext uri="{BB962C8B-B14F-4D97-AF65-F5344CB8AC3E}">
        <p14:creationId xmlns:p14="http://schemas.microsoft.com/office/powerpoint/2010/main" val="1284603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BFE423-54EC-2840-A3E4-FB38557F24C7}" type="slidenum">
              <a:rPr lang="en-US" smtClean="0"/>
              <a:t>2</a:t>
            </a:fld>
            <a:endParaRPr lang="en-US"/>
          </a:p>
        </p:txBody>
      </p:sp>
    </p:spTree>
    <p:extLst>
      <p:ext uri="{BB962C8B-B14F-4D97-AF65-F5344CB8AC3E}">
        <p14:creationId xmlns:p14="http://schemas.microsoft.com/office/powerpoint/2010/main" val="3201035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9BFE423-54EC-2840-A3E4-FB38557F24C7}" type="slidenum">
              <a:rPr lang="en-US" smtClean="0"/>
              <a:t>3</a:t>
            </a:fld>
            <a:endParaRPr lang="en-US"/>
          </a:p>
        </p:txBody>
      </p:sp>
    </p:spTree>
    <p:extLst>
      <p:ext uri="{BB962C8B-B14F-4D97-AF65-F5344CB8AC3E}">
        <p14:creationId xmlns:p14="http://schemas.microsoft.com/office/powerpoint/2010/main" val="554152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7D2B6-5D57-DBFF-6AA1-62A4B4F6E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CAF43-2402-3F31-33CF-978BE9955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88302-AE6E-86D6-3B64-46A5B909B2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9F1A34-73D8-1A2F-24D1-73F094C34D1A}"/>
              </a:ext>
            </a:extLst>
          </p:cNvPr>
          <p:cNvSpPr>
            <a:spLocks noGrp="1"/>
          </p:cNvSpPr>
          <p:nvPr>
            <p:ph type="sldNum" sz="quarter" idx="5"/>
          </p:nvPr>
        </p:nvSpPr>
        <p:spPr/>
        <p:txBody>
          <a:bodyPr/>
          <a:lstStyle/>
          <a:p>
            <a:fld id="{A9BFE423-54EC-2840-A3E4-FB38557F24C7}" type="slidenum">
              <a:rPr lang="en-US" smtClean="0"/>
              <a:t>4</a:t>
            </a:fld>
            <a:endParaRPr lang="en-US"/>
          </a:p>
        </p:txBody>
      </p:sp>
    </p:spTree>
    <p:extLst>
      <p:ext uri="{BB962C8B-B14F-4D97-AF65-F5344CB8AC3E}">
        <p14:creationId xmlns:p14="http://schemas.microsoft.com/office/powerpoint/2010/main" val="1771025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A986-3977-B64C-72FF-B5D354B9D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E7F09-645C-BF92-DDF9-12260E450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2C913-EB95-15DB-7261-D794CFBD4E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0EA3EA-D3E3-ECCB-49B0-F083A11A4D98}"/>
              </a:ext>
            </a:extLst>
          </p:cNvPr>
          <p:cNvSpPr>
            <a:spLocks noGrp="1"/>
          </p:cNvSpPr>
          <p:nvPr>
            <p:ph type="sldNum" sz="quarter" idx="5"/>
          </p:nvPr>
        </p:nvSpPr>
        <p:spPr/>
        <p:txBody>
          <a:bodyPr/>
          <a:lstStyle/>
          <a:p>
            <a:fld id="{A9BFE423-54EC-2840-A3E4-FB38557F24C7}" type="slidenum">
              <a:rPr lang="en-US" smtClean="0"/>
              <a:t>5</a:t>
            </a:fld>
            <a:endParaRPr lang="en-US"/>
          </a:p>
        </p:txBody>
      </p:sp>
    </p:spTree>
    <p:extLst>
      <p:ext uri="{BB962C8B-B14F-4D97-AF65-F5344CB8AC3E}">
        <p14:creationId xmlns:p14="http://schemas.microsoft.com/office/powerpoint/2010/main" val="3502924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6E752-837E-17C9-CF03-4D657BECC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FFFD9B-7C90-8580-1D56-6AA2E7A63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0C247-14E5-1E9B-28F4-BF7D94DD92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205C94-F626-2B46-02F2-B85DD59B8C45}"/>
              </a:ext>
            </a:extLst>
          </p:cNvPr>
          <p:cNvSpPr>
            <a:spLocks noGrp="1"/>
          </p:cNvSpPr>
          <p:nvPr>
            <p:ph type="sldNum" sz="quarter" idx="5"/>
          </p:nvPr>
        </p:nvSpPr>
        <p:spPr/>
        <p:txBody>
          <a:bodyPr/>
          <a:lstStyle/>
          <a:p>
            <a:fld id="{A9BFE423-54EC-2840-A3E4-FB38557F24C7}" type="slidenum">
              <a:rPr lang="en-US" smtClean="0"/>
              <a:t>6</a:t>
            </a:fld>
            <a:endParaRPr lang="en-US"/>
          </a:p>
        </p:txBody>
      </p:sp>
    </p:spTree>
    <p:extLst>
      <p:ext uri="{BB962C8B-B14F-4D97-AF65-F5344CB8AC3E}">
        <p14:creationId xmlns:p14="http://schemas.microsoft.com/office/powerpoint/2010/main" val="1981696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FD628-A0E9-9AA8-3885-9E22DDB01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54183-7341-400C-78F1-CB6D7254A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3387D-7040-4073-AAD6-8E3564E600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37B33B-4AA5-B6C0-04B3-BA2057FC2944}"/>
              </a:ext>
            </a:extLst>
          </p:cNvPr>
          <p:cNvSpPr>
            <a:spLocks noGrp="1"/>
          </p:cNvSpPr>
          <p:nvPr>
            <p:ph type="sldNum" sz="quarter" idx="5"/>
          </p:nvPr>
        </p:nvSpPr>
        <p:spPr/>
        <p:txBody>
          <a:bodyPr/>
          <a:lstStyle/>
          <a:p>
            <a:fld id="{A9BFE423-54EC-2840-A3E4-FB38557F24C7}" type="slidenum">
              <a:rPr lang="en-US" smtClean="0"/>
              <a:t>7</a:t>
            </a:fld>
            <a:endParaRPr lang="en-US"/>
          </a:p>
        </p:txBody>
      </p:sp>
    </p:spTree>
    <p:extLst>
      <p:ext uri="{BB962C8B-B14F-4D97-AF65-F5344CB8AC3E}">
        <p14:creationId xmlns:p14="http://schemas.microsoft.com/office/powerpoint/2010/main" val="3129432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5E828-A7B1-C481-CED4-F22EB524C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48998-912E-EF52-F58F-2B72081FD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8DD609-2D68-EE35-B601-AF57E9506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F79B47-8752-6CB7-87E3-1A8E3D651910}"/>
              </a:ext>
            </a:extLst>
          </p:cNvPr>
          <p:cNvSpPr>
            <a:spLocks noGrp="1"/>
          </p:cNvSpPr>
          <p:nvPr>
            <p:ph type="sldNum" sz="quarter" idx="5"/>
          </p:nvPr>
        </p:nvSpPr>
        <p:spPr/>
        <p:txBody>
          <a:bodyPr/>
          <a:lstStyle/>
          <a:p>
            <a:fld id="{A9BFE423-54EC-2840-A3E4-FB38557F24C7}" type="slidenum">
              <a:rPr lang="en-US" smtClean="0"/>
              <a:t>8</a:t>
            </a:fld>
            <a:endParaRPr lang="en-US"/>
          </a:p>
        </p:txBody>
      </p:sp>
    </p:spTree>
    <p:extLst>
      <p:ext uri="{BB962C8B-B14F-4D97-AF65-F5344CB8AC3E}">
        <p14:creationId xmlns:p14="http://schemas.microsoft.com/office/powerpoint/2010/main" val="2891245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A3C2A-475D-9F2B-26B9-2E313AC6F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610CA-E169-D89A-5C66-0CD2C9AE1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91B33-F6E3-70F2-C37D-EB8A4A7AE0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C8F011-193C-8D0E-7B40-CED1DB932DB2}"/>
              </a:ext>
            </a:extLst>
          </p:cNvPr>
          <p:cNvSpPr>
            <a:spLocks noGrp="1"/>
          </p:cNvSpPr>
          <p:nvPr>
            <p:ph type="sldNum" sz="quarter" idx="5"/>
          </p:nvPr>
        </p:nvSpPr>
        <p:spPr/>
        <p:txBody>
          <a:bodyPr/>
          <a:lstStyle/>
          <a:p>
            <a:fld id="{A9BFE423-54EC-2840-A3E4-FB38557F24C7}" type="slidenum">
              <a:rPr lang="en-US" smtClean="0"/>
              <a:t>9</a:t>
            </a:fld>
            <a:endParaRPr lang="en-US"/>
          </a:p>
        </p:txBody>
      </p:sp>
    </p:spTree>
    <p:extLst>
      <p:ext uri="{BB962C8B-B14F-4D97-AF65-F5344CB8AC3E}">
        <p14:creationId xmlns:p14="http://schemas.microsoft.com/office/powerpoint/2010/main" val="324264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E860-3823-E451-193A-5A2BF34DD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EEF5D-40CE-A0AE-FD66-9BAD67D00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0DAA2-B528-C429-66F2-76C22E6BC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B05B1-BD3F-BFB1-3A6E-2E1A94BE1AFC}"/>
              </a:ext>
            </a:extLst>
          </p:cNvPr>
          <p:cNvSpPr>
            <a:spLocks noGrp="1"/>
          </p:cNvSpPr>
          <p:nvPr>
            <p:ph type="sldNum" sz="quarter" idx="5"/>
          </p:nvPr>
        </p:nvSpPr>
        <p:spPr/>
        <p:txBody>
          <a:bodyPr/>
          <a:lstStyle/>
          <a:p>
            <a:fld id="{A9BFE423-54EC-2840-A3E4-FB38557F24C7}" type="slidenum">
              <a:rPr lang="en-US" smtClean="0"/>
              <a:t>10</a:t>
            </a:fld>
            <a:endParaRPr lang="en-US"/>
          </a:p>
        </p:txBody>
      </p:sp>
    </p:spTree>
    <p:extLst>
      <p:ext uri="{BB962C8B-B14F-4D97-AF65-F5344CB8AC3E}">
        <p14:creationId xmlns:p14="http://schemas.microsoft.com/office/powerpoint/2010/main" val="36704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C88ED-C644-8051-FA01-550E1B104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799BD-C42A-D0F9-9523-C6FC34CF5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613FF6-6FC6-2C7E-2FB9-543DD554B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997244-38FD-5E52-F11E-A3CFB6C5C878}"/>
              </a:ext>
            </a:extLst>
          </p:cNvPr>
          <p:cNvSpPr>
            <a:spLocks noGrp="1"/>
          </p:cNvSpPr>
          <p:nvPr>
            <p:ph type="sldNum" sz="quarter" idx="5"/>
          </p:nvPr>
        </p:nvSpPr>
        <p:spPr/>
        <p:txBody>
          <a:bodyPr/>
          <a:lstStyle/>
          <a:p>
            <a:fld id="{A9BFE423-54EC-2840-A3E4-FB38557F24C7}" type="slidenum">
              <a:rPr lang="en-US" smtClean="0"/>
              <a:t>11</a:t>
            </a:fld>
            <a:endParaRPr lang="en-US"/>
          </a:p>
        </p:txBody>
      </p:sp>
    </p:spTree>
    <p:extLst>
      <p:ext uri="{BB962C8B-B14F-4D97-AF65-F5344CB8AC3E}">
        <p14:creationId xmlns:p14="http://schemas.microsoft.com/office/powerpoint/2010/main" val="2126036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9B948-D5AF-B252-6C10-8B5BFA9FE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C21DF-1F97-3E04-3D3E-37F0A0B2F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A9D72-A095-6238-4A41-1377B82D26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CDA8A2-548F-AB5F-DB14-05994AC40129}"/>
              </a:ext>
            </a:extLst>
          </p:cNvPr>
          <p:cNvSpPr>
            <a:spLocks noGrp="1"/>
          </p:cNvSpPr>
          <p:nvPr>
            <p:ph type="sldNum" sz="quarter" idx="5"/>
          </p:nvPr>
        </p:nvSpPr>
        <p:spPr/>
        <p:txBody>
          <a:bodyPr/>
          <a:lstStyle/>
          <a:p>
            <a:fld id="{A9BFE423-54EC-2840-A3E4-FB38557F24C7}" type="slidenum">
              <a:rPr lang="en-US" smtClean="0"/>
              <a:t>12</a:t>
            </a:fld>
            <a:endParaRPr lang="en-US"/>
          </a:p>
        </p:txBody>
      </p:sp>
    </p:spTree>
    <p:extLst>
      <p:ext uri="{BB962C8B-B14F-4D97-AF65-F5344CB8AC3E}">
        <p14:creationId xmlns:p14="http://schemas.microsoft.com/office/powerpoint/2010/main" val="438648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677B-CDF2-039D-EE39-69E6C8FBB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AE466-9AD4-A019-875A-44C8A514C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A4588-3B30-6FEF-B6E3-67D3AD62B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496FB4-030E-935A-E737-BAF31B882152}"/>
              </a:ext>
            </a:extLst>
          </p:cNvPr>
          <p:cNvSpPr>
            <a:spLocks noGrp="1"/>
          </p:cNvSpPr>
          <p:nvPr>
            <p:ph type="sldNum" sz="quarter" idx="5"/>
          </p:nvPr>
        </p:nvSpPr>
        <p:spPr/>
        <p:txBody>
          <a:bodyPr/>
          <a:lstStyle/>
          <a:p>
            <a:fld id="{A9BFE423-54EC-2840-A3E4-FB38557F24C7}" type="slidenum">
              <a:rPr lang="en-US" smtClean="0"/>
              <a:t>13</a:t>
            </a:fld>
            <a:endParaRPr lang="en-US"/>
          </a:p>
        </p:txBody>
      </p:sp>
    </p:spTree>
    <p:extLst>
      <p:ext uri="{BB962C8B-B14F-4D97-AF65-F5344CB8AC3E}">
        <p14:creationId xmlns:p14="http://schemas.microsoft.com/office/powerpoint/2010/main" val="2781761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9EC6F-87BD-3686-5557-92880C57E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B497C-EE63-0D5F-50D3-4E819B75B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DF068-8B39-3858-65E1-F223D36184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D4B362-F14A-712D-DD69-7717B67CEB92}"/>
              </a:ext>
            </a:extLst>
          </p:cNvPr>
          <p:cNvSpPr>
            <a:spLocks noGrp="1"/>
          </p:cNvSpPr>
          <p:nvPr>
            <p:ph type="sldNum" sz="quarter" idx="5"/>
          </p:nvPr>
        </p:nvSpPr>
        <p:spPr/>
        <p:txBody>
          <a:bodyPr/>
          <a:lstStyle/>
          <a:p>
            <a:fld id="{A9BFE423-54EC-2840-A3E4-FB38557F24C7}" type="slidenum">
              <a:rPr lang="en-US" smtClean="0"/>
              <a:t>14</a:t>
            </a:fld>
            <a:endParaRPr lang="en-US"/>
          </a:p>
        </p:txBody>
      </p:sp>
    </p:spTree>
    <p:extLst>
      <p:ext uri="{BB962C8B-B14F-4D97-AF65-F5344CB8AC3E}">
        <p14:creationId xmlns:p14="http://schemas.microsoft.com/office/powerpoint/2010/main" val="348344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sz="8550" b="0" i="0">
                <a:solidFill>
                  <a:srgbClr val="DADADA"/>
                </a:solidFill>
                <a:latin typeface="InputMono"/>
                <a:cs typeface="InputMono"/>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sz="8550" b="0" i="0">
                <a:solidFill>
                  <a:srgbClr val="163794"/>
                </a:solidFill>
                <a:latin typeface="InputMono"/>
                <a:cs typeface="InputMon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550" b="0" i="0">
                <a:solidFill>
                  <a:srgbClr val="DADADA"/>
                </a:solidFill>
                <a:latin typeface="InputMono"/>
                <a:cs typeface="InputMono"/>
              </a:defRPr>
            </a:lvl1pPr>
          </a:lstStyle>
          <a:p>
            <a:endParaRPr/>
          </a:p>
        </p:txBody>
      </p:sp>
      <p:sp>
        <p:nvSpPr>
          <p:cNvPr id="3" name="Holder 3"/>
          <p:cNvSpPr>
            <a:spLocks noGrp="1"/>
          </p:cNvSpPr>
          <p:nvPr>
            <p:ph type="body" idx="1"/>
          </p:nvPr>
        </p:nvSpPr>
        <p:spPr/>
        <p:txBody>
          <a:bodyPr lIns="0" tIns="0" rIns="0" bIns="0"/>
          <a:lstStyle>
            <a:lvl1pPr>
              <a:defRPr sz="8550" b="0" i="0">
                <a:solidFill>
                  <a:srgbClr val="163794"/>
                </a:solidFill>
                <a:latin typeface="InputMono"/>
                <a:cs typeface="InputMon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550" b="0" i="0">
                <a:solidFill>
                  <a:srgbClr val="DADADA"/>
                </a:solidFill>
                <a:latin typeface="InputMono"/>
                <a:cs typeface="InputMono"/>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163794"/>
          </a:solidFill>
        </p:spPr>
        <p:txBody>
          <a:bodyPr wrap="square" lIns="0" tIns="0" rIns="0" bIns="0" rtlCol="0"/>
          <a:lstStyle/>
          <a:p>
            <a:endParaRPr/>
          </a:p>
        </p:txBody>
      </p:sp>
      <p:sp>
        <p:nvSpPr>
          <p:cNvPr id="17" name="bg object 17"/>
          <p:cNvSpPr/>
          <p:nvPr/>
        </p:nvSpPr>
        <p:spPr>
          <a:xfrm>
            <a:off x="6955589" y="2499850"/>
            <a:ext cx="13148944" cy="8808720"/>
          </a:xfrm>
          <a:custGeom>
            <a:avLst/>
            <a:gdLst/>
            <a:ahLst/>
            <a:cxnLst/>
            <a:rect l="l" t="t" r="r" b="b"/>
            <a:pathLst>
              <a:path w="13148944" h="8808720">
                <a:moveTo>
                  <a:pt x="13148500" y="0"/>
                </a:moveTo>
                <a:lnTo>
                  <a:pt x="0" y="0"/>
                </a:lnTo>
                <a:lnTo>
                  <a:pt x="0" y="8808705"/>
                </a:lnTo>
                <a:lnTo>
                  <a:pt x="13148500" y="8808705"/>
                </a:lnTo>
                <a:lnTo>
                  <a:pt x="13148500" y="0"/>
                </a:lnTo>
                <a:close/>
              </a:path>
            </a:pathLst>
          </a:custGeom>
          <a:solidFill>
            <a:srgbClr val="DADADA"/>
          </a:solidFill>
        </p:spPr>
        <p:txBody>
          <a:bodyPr wrap="square" lIns="0" tIns="0" rIns="0" bIns="0" rtlCol="0"/>
          <a:lstStyle/>
          <a:p>
            <a:endParaRPr/>
          </a:p>
        </p:txBody>
      </p:sp>
      <p:sp>
        <p:nvSpPr>
          <p:cNvPr id="18" name="bg object 18"/>
          <p:cNvSpPr/>
          <p:nvPr/>
        </p:nvSpPr>
        <p:spPr>
          <a:xfrm>
            <a:off x="1032015" y="7563474"/>
            <a:ext cx="1751330" cy="1751330"/>
          </a:xfrm>
          <a:custGeom>
            <a:avLst/>
            <a:gdLst/>
            <a:ahLst/>
            <a:cxnLst/>
            <a:rect l="l" t="t" r="r" b="b"/>
            <a:pathLst>
              <a:path w="1751330" h="1751329">
                <a:moveTo>
                  <a:pt x="875617" y="0"/>
                </a:moveTo>
                <a:lnTo>
                  <a:pt x="827574" y="1295"/>
                </a:lnTo>
                <a:lnTo>
                  <a:pt x="780209" y="5138"/>
                </a:lnTo>
                <a:lnTo>
                  <a:pt x="733588" y="11460"/>
                </a:lnTo>
                <a:lnTo>
                  <a:pt x="687777" y="20196"/>
                </a:lnTo>
                <a:lnTo>
                  <a:pt x="642844" y="31278"/>
                </a:lnTo>
                <a:lnTo>
                  <a:pt x="598855" y="44639"/>
                </a:lnTo>
                <a:lnTo>
                  <a:pt x="555877" y="60214"/>
                </a:lnTo>
                <a:lnTo>
                  <a:pt x="513977" y="77935"/>
                </a:lnTo>
                <a:lnTo>
                  <a:pt x="473221" y="97735"/>
                </a:lnTo>
                <a:lnTo>
                  <a:pt x="433677" y="119548"/>
                </a:lnTo>
                <a:lnTo>
                  <a:pt x="395411" y="143307"/>
                </a:lnTo>
                <a:lnTo>
                  <a:pt x="358490" y="168944"/>
                </a:lnTo>
                <a:lnTo>
                  <a:pt x="322980" y="196394"/>
                </a:lnTo>
                <a:lnTo>
                  <a:pt x="288949" y="225590"/>
                </a:lnTo>
                <a:lnTo>
                  <a:pt x="256463" y="256464"/>
                </a:lnTo>
                <a:lnTo>
                  <a:pt x="225589" y="288951"/>
                </a:lnTo>
                <a:lnTo>
                  <a:pt x="196393" y="322982"/>
                </a:lnTo>
                <a:lnTo>
                  <a:pt x="168944" y="358492"/>
                </a:lnTo>
                <a:lnTo>
                  <a:pt x="143306" y="395414"/>
                </a:lnTo>
                <a:lnTo>
                  <a:pt x="119548" y="433680"/>
                </a:lnTo>
                <a:lnTo>
                  <a:pt x="97735" y="473225"/>
                </a:lnTo>
                <a:lnTo>
                  <a:pt x="77935" y="513981"/>
                </a:lnTo>
                <a:lnTo>
                  <a:pt x="60214" y="555882"/>
                </a:lnTo>
                <a:lnTo>
                  <a:pt x="44639" y="598860"/>
                </a:lnTo>
                <a:lnTo>
                  <a:pt x="31278" y="642850"/>
                </a:lnTo>
                <a:lnTo>
                  <a:pt x="20196" y="687784"/>
                </a:lnTo>
                <a:lnTo>
                  <a:pt x="11460" y="733595"/>
                </a:lnTo>
                <a:lnTo>
                  <a:pt x="5138" y="780218"/>
                </a:lnTo>
                <a:lnTo>
                  <a:pt x="1295" y="827584"/>
                </a:lnTo>
                <a:lnTo>
                  <a:pt x="0" y="875627"/>
                </a:lnTo>
                <a:lnTo>
                  <a:pt x="1295" y="923671"/>
                </a:lnTo>
                <a:lnTo>
                  <a:pt x="5138" y="971037"/>
                </a:lnTo>
                <a:lnTo>
                  <a:pt x="11460" y="1017659"/>
                </a:lnTo>
                <a:lnTo>
                  <a:pt x="20196" y="1063471"/>
                </a:lnTo>
                <a:lnTo>
                  <a:pt x="31278" y="1108405"/>
                </a:lnTo>
                <a:lnTo>
                  <a:pt x="44639" y="1152394"/>
                </a:lnTo>
                <a:lnTo>
                  <a:pt x="60214" y="1195373"/>
                </a:lnTo>
                <a:lnTo>
                  <a:pt x="77935" y="1237273"/>
                </a:lnTo>
                <a:lnTo>
                  <a:pt x="97735" y="1278030"/>
                </a:lnTo>
                <a:lnTo>
                  <a:pt x="119548" y="1317574"/>
                </a:lnTo>
                <a:lnTo>
                  <a:pt x="143306" y="1355841"/>
                </a:lnTo>
                <a:lnTo>
                  <a:pt x="168944" y="1392763"/>
                </a:lnTo>
                <a:lnTo>
                  <a:pt x="196393" y="1428273"/>
                </a:lnTo>
                <a:lnTo>
                  <a:pt x="225589" y="1462304"/>
                </a:lnTo>
                <a:lnTo>
                  <a:pt x="256463" y="1494790"/>
                </a:lnTo>
                <a:lnTo>
                  <a:pt x="288949" y="1525665"/>
                </a:lnTo>
                <a:lnTo>
                  <a:pt x="322980" y="1554860"/>
                </a:lnTo>
                <a:lnTo>
                  <a:pt x="358490" y="1582310"/>
                </a:lnTo>
                <a:lnTo>
                  <a:pt x="395411" y="1607948"/>
                </a:lnTo>
                <a:lnTo>
                  <a:pt x="433677" y="1631707"/>
                </a:lnTo>
                <a:lnTo>
                  <a:pt x="473221" y="1653519"/>
                </a:lnTo>
                <a:lnTo>
                  <a:pt x="513977" y="1673320"/>
                </a:lnTo>
                <a:lnTo>
                  <a:pt x="555877" y="1691041"/>
                </a:lnTo>
                <a:lnTo>
                  <a:pt x="598855" y="1706615"/>
                </a:lnTo>
                <a:lnTo>
                  <a:pt x="642844" y="1719977"/>
                </a:lnTo>
                <a:lnTo>
                  <a:pt x="687777" y="1731059"/>
                </a:lnTo>
                <a:lnTo>
                  <a:pt x="733588" y="1739795"/>
                </a:lnTo>
                <a:lnTo>
                  <a:pt x="780209" y="1746117"/>
                </a:lnTo>
                <a:lnTo>
                  <a:pt x="827574" y="1749959"/>
                </a:lnTo>
                <a:lnTo>
                  <a:pt x="875617" y="1751255"/>
                </a:lnTo>
                <a:lnTo>
                  <a:pt x="923660" y="1749959"/>
                </a:lnTo>
                <a:lnTo>
                  <a:pt x="971026" y="1746117"/>
                </a:lnTo>
                <a:lnTo>
                  <a:pt x="1017649" y="1739795"/>
                </a:lnTo>
                <a:lnTo>
                  <a:pt x="1063460" y="1731059"/>
                </a:lnTo>
                <a:lnTo>
                  <a:pt x="1108394" y="1719977"/>
                </a:lnTo>
                <a:lnTo>
                  <a:pt x="1152384" y="1706615"/>
                </a:lnTo>
                <a:lnTo>
                  <a:pt x="1195362" y="1691041"/>
                </a:lnTo>
                <a:lnTo>
                  <a:pt x="1237263" y="1673320"/>
                </a:lnTo>
                <a:lnTo>
                  <a:pt x="1278019" y="1653519"/>
                </a:lnTo>
                <a:lnTo>
                  <a:pt x="1317564" y="1631707"/>
                </a:lnTo>
                <a:lnTo>
                  <a:pt x="1355830" y="1607948"/>
                </a:lnTo>
                <a:lnTo>
                  <a:pt x="1392752" y="1582310"/>
                </a:lnTo>
                <a:lnTo>
                  <a:pt x="1428262" y="1554860"/>
                </a:lnTo>
                <a:lnTo>
                  <a:pt x="1462294" y="1525665"/>
                </a:lnTo>
                <a:lnTo>
                  <a:pt x="1494780" y="1494790"/>
                </a:lnTo>
                <a:lnTo>
                  <a:pt x="1525654" y="1462304"/>
                </a:lnTo>
                <a:lnTo>
                  <a:pt x="1554850" y="1428273"/>
                </a:lnTo>
                <a:lnTo>
                  <a:pt x="1582300" y="1392763"/>
                </a:lnTo>
                <a:lnTo>
                  <a:pt x="1607938" y="1355841"/>
                </a:lnTo>
                <a:lnTo>
                  <a:pt x="1631696" y="1317574"/>
                </a:lnTo>
                <a:lnTo>
                  <a:pt x="1653509" y="1278030"/>
                </a:lnTo>
                <a:lnTo>
                  <a:pt x="1673309" y="1237273"/>
                </a:lnTo>
                <a:lnTo>
                  <a:pt x="1691030" y="1195373"/>
                </a:lnTo>
                <a:lnTo>
                  <a:pt x="1706605" y="1152394"/>
                </a:lnTo>
                <a:lnTo>
                  <a:pt x="1719966" y="1108405"/>
                </a:lnTo>
                <a:lnTo>
                  <a:pt x="1731049" y="1063471"/>
                </a:lnTo>
                <a:lnTo>
                  <a:pt x="1739784" y="1017659"/>
                </a:lnTo>
                <a:lnTo>
                  <a:pt x="1746107" y="971037"/>
                </a:lnTo>
                <a:lnTo>
                  <a:pt x="1749949" y="923671"/>
                </a:lnTo>
                <a:lnTo>
                  <a:pt x="1751245" y="875627"/>
                </a:lnTo>
                <a:lnTo>
                  <a:pt x="1749949" y="827584"/>
                </a:lnTo>
                <a:lnTo>
                  <a:pt x="1746107" y="780218"/>
                </a:lnTo>
                <a:lnTo>
                  <a:pt x="1739784" y="733595"/>
                </a:lnTo>
                <a:lnTo>
                  <a:pt x="1731049" y="687784"/>
                </a:lnTo>
                <a:lnTo>
                  <a:pt x="1719966" y="642850"/>
                </a:lnTo>
                <a:lnTo>
                  <a:pt x="1706605" y="598860"/>
                </a:lnTo>
                <a:lnTo>
                  <a:pt x="1691030" y="555882"/>
                </a:lnTo>
                <a:lnTo>
                  <a:pt x="1673309" y="513981"/>
                </a:lnTo>
                <a:lnTo>
                  <a:pt x="1653509" y="473225"/>
                </a:lnTo>
                <a:lnTo>
                  <a:pt x="1631696" y="433680"/>
                </a:lnTo>
                <a:lnTo>
                  <a:pt x="1607938" y="395414"/>
                </a:lnTo>
                <a:lnTo>
                  <a:pt x="1582300" y="358492"/>
                </a:lnTo>
                <a:lnTo>
                  <a:pt x="1554850" y="322982"/>
                </a:lnTo>
                <a:lnTo>
                  <a:pt x="1525654" y="288951"/>
                </a:lnTo>
                <a:lnTo>
                  <a:pt x="1494780" y="256464"/>
                </a:lnTo>
                <a:lnTo>
                  <a:pt x="1462294" y="225590"/>
                </a:lnTo>
                <a:lnTo>
                  <a:pt x="1428262" y="196394"/>
                </a:lnTo>
                <a:lnTo>
                  <a:pt x="1392752" y="168944"/>
                </a:lnTo>
                <a:lnTo>
                  <a:pt x="1355830" y="143307"/>
                </a:lnTo>
                <a:lnTo>
                  <a:pt x="1317564" y="119548"/>
                </a:lnTo>
                <a:lnTo>
                  <a:pt x="1278019" y="97735"/>
                </a:lnTo>
                <a:lnTo>
                  <a:pt x="1237263" y="77935"/>
                </a:lnTo>
                <a:lnTo>
                  <a:pt x="1195362" y="60214"/>
                </a:lnTo>
                <a:lnTo>
                  <a:pt x="1152384" y="44639"/>
                </a:lnTo>
                <a:lnTo>
                  <a:pt x="1108394" y="31278"/>
                </a:lnTo>
                <a:lnTo>
                  <a:pt x="1063460" y="20196"/>
                </a:lnTo>
                <a:lnTo>
                  <a:pt x="1017649" y="11460"/>
                </a:lnTo>
                <a:lnTo>
                  <a:pt x="971026" y="5138"/>
                </a:lnTo>
                <a:lnTo>
                  <a:pt x="923660" y="1295"/>
                </a:lnTo>
                <a:lnTo>
                  <a:pt x="875617" y="0"/>
                </a:lnTo>
                <a:close/>
              </a:path>
            </a:pathLst>
          </a:custGeom>
          <a:solidFill>
            <a:srgbClr val="DADADA"/>
          </a:solidFill>
        </p:spPr>
        <p:txBody>
          <a:bodyPr wrap="square" lIns="0" tIns="0" rIns="0" bIns="0" rtlCol="0"/>
          <a:lstStyle/>
          <a:p>
            <a:endParaRPr/>
          </a:p>
        </p:txBody>
      </p:sp>
      <p:sp>
        <p:nvSpPr>
          <p:cNvPr id="19" name="bg object 19"/>
          <p:cNvSpPr/>
          <p:nvPr/>
        </p:nvSpPr>
        <p:spPr>
          <a:xfrm>
            <a:off x="1749465" y="7973633"/>
            <a:ext cx="481965" cy="963294"/>
          </a:xfrm>
          <a:custGeom>
            <a:avLst/>
            <a:gdLst/>
            <a:ahLst/>
            <a:cxnLst/>
            <a:rect l="l" t="t" r="r" b="b"/>
            <a:pathLst>
              <a:path w="481964" h="963295">
                <a:moveTo>
                  <a:pt x="0" y="0"/>
                </a:moveTo>
                <a:lnTo>
                  <a:pt x="481618" y="481618"/>
                </a:lnTo>
                <a:lnTo>
                  <a:pt x="0" y="963237"/>
                </a:lnTo>
              </a:path>
            </a:pathLst>
          </a:custGeom>
          <a:ln w="20941">
            <a:solidFill>
              <a:srgbClr val="163794"/>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8550" b="0" i="0">
                <a:solidFill>
                  <a:srgbClr val="DADADA"/>
                </a:solidFill>
                <a:latin typeface="InputMono"/>
                <a:cs typeface="InputMon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2/19/26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7043" y="1772790"/>
            <a:ext cx="13194030" cy="1332230"/>
          </a:xfrm>
          <a:prstGeom prst="rect">
            <a:avLst/>
          </a:prstGeom>
        </p:spPr>
        <p:txBody>
          <a:bodyPr wrap="square" lIns="0" tIns="0" rIns="0" bIns="0">
            <a:spAutoFit/>
          </a:bodyPr>
          <a:lstStyle>
            <a:lvl1pPr>
              <a:defRPr sz="8550" b="0" i="0">
                <a:solidFill>
                  <a:srgbClr val="DADADA"/>
                </a:solidFill>
                <a:latin typeface="InputMono"/>
                <a:cs typeface="InputMono"/>
              </a:defRPr>
            </a:lvl1pPr>
          </a:lstStyle>
          <a:p>
            <a:endParaRPr/>
          </a:p>
        </p:txBody>
      </p:sp>
      <p:sp>
        <p:nvSpPr>
          <p:cNvPr id="3" name="Holder 3"/>
          <p:cNvSpPr>
            <a:spLocks noGrp="1"/>
          </p:cNvSpPr>
          <p:nvPr>
            <p:ph type="body" idx="1"/>
          </p:nvPr>
        </p:nvSpPr>
        <p:spPr>
          <a:xfrm>
            <a:off x="1319287" y="1730114"/>
            <a:ext cx="14086840" cy="3217545"/>
          </a:xfrm>
          <a:prstGeom prst="rect">
            <a:avLst/>
          </a:prstGeom>
        </p:spPr>
        <p:txBody>
          <a:bodyPr wrap="square" lIns="0" tIns="0" rIns="0" bIns="0">
            <a:spAutoFit/>
          </a:bodyPr>
          <a:lstStyle>
            <a:lvl1pPr>
              <a:defRPr sz="8550" b="0" i="0">
                <a:solidFill>
                  <a:srgbClr val="163794"/>
                </a:solidFill>
                <a:latin typeface="InputMono"/>
                <a:cs typeface="InputMono"/>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2/19/26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2.wdp"/><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microsoft.com/office/2007/relationships/hdphoto" Target="../media/hdphoto3.wdp"/><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 name="object 2">
            <a:extLst>
              <a:ext uri="{FF2B5EF4-FFF2-40B4-BE49-F238E27FC236}">
                <a16:creationId xmlns:a16="http://schemas.microsoft.com/office/drawing/2014/main" id="{8F9163AB-6597-02D6-16EF-4276DC47FACA}"/>
              </a:ext>
            </a:extLst>
          </p:cNvPr>
          <p:cNvSpPr/>
          <p:nvPr/>
        </p:nvSpPr>
        <p:spPr>
          <a:xfrm>
            <a:off x="-82550" y="-60325"/>
            <a:ext cx="20269200" cy="11582400"/>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163794"/>
          </a:solidFill>
        </p:spPr>
        <p:txBody>
          <a:bodyPr wrap="square" lIns="0" tIns="0" rIns="0" bIns="0" rtlCol="0"/>
          <a:lstStyle/>
          <a:p>
            <a:endParaRPr/>
          </a:p>
        </p:txBody>
      </p:sp>
      <p:sp>
        <p:nvSpPr>
          <p:cNvPr id="3" name="object 3"/>
          <p:cNvSpPr/>
          <p:nvPr/>
        </p:nvSpPr>
        <p:spPr>
          <a:xfrm>
            <a:off x="841375" y="1331989"/>
            <a:ext cx="17440275" cy="0"/>
          </a:xfrm>
          <a:custGeom>
            <a:avLst/>
            <a:gdLst/>
            <a:ahLst/>
            <a:cxnLst/>
            <a:rect l="l" t="t" r="r" b="b"/>
            <a:pathLst>
              <a:path w="17440275">
                <a:moveTo>
                  <a:pt x="0" y="0"/>
                </a:moveTo>
                <a:lnTo>
                  <a:pt x="17440118" y="0"/>
                </a:lnTo>
              </a:path>
            </a:pathLst>
          </a:custGeom>
          <a:ln w="20941">
            <a:solidFill>
              <a:srgbClr val="DADADA"/>
            </a:solidFill>
          </a:ln>
        </p:spPr>
        <p:txBody>
          <a:bodyPr wrap="square" lIns="0" tIns="0" rIns="0" bIns="0" rtlCol="0"/>
          <a:lstStyle/>
          <a:p>
            <a:endParaRPr/>
          </a:p>
        </p:txBody>
      </p:sp>
      <p:sp>
        <p:nvSpPr>
          <p:cNvPr id="116" name="object 116"/>
          <p:cNvSpPr txBox="1"/>
          <p:nvPr/>
        </p:nvSpPr>
        <p:spPr>
          <a:xfrm>
            <a:off x="841375" y="9702169"/>
            <a:ext cx="5811771" cy="329577"/>
          </a:xfrm>
          <a:prstGeom prst="rect">
            <a:avLst/>
          </a:prstGeom>
        </p:spPr>
        <p:txBody>
          <a:bodyPr vert="horz" wrap="square" lIns="0" tIns="13970" rIns="0" bIns="0" rtlCol="0">
            <a:spAutoFit/>
          </a:bodyPr>
          <a:lstStyle/>
          <a:p>
            <a:pPr marL="12700">
              <a:lnSpc>
                <a:spcPct val="100000"/>
              </a:lnSpc>
              <a:spcBef>
                <a:spcPts val="110"/>
              </a:spcBef>
            </a:pPr>
            <a:r>
              <a:rPr lang="en-GB" sz="2050" dirty="0">
                <a:solidFill>
                  <a:srgbClr val="DADADA"/>
                </a:solidFill>
                <a:latin typeface="InputMono Light" panose="02000509020000090004" pitchFamily="49" charset="0"/>
                <a:cs typeface="InputMono"/>
              </a:rPr>
              <a:t>FACULTY OF SCIENCE AND ENGINEERING</a:t>
            </a:r>
            <a:endParaRPr sz="2050" dirty="0">
              <a:latin typeface="InputMono Light" panose="02000509020000090004" pitchFamily="49" charset="0"/>
              <a:cs typeface="InputMono"/>
            </a:endParaRPr>
          </a:p>
        </p:txBody>
      </p:sp>
      <p:pic>
        <p:nvPicPr>
          <p:cNvPr id="4" name="Picture 6" descr="Introduction to Deep Learning. These days, you hear a lot about… | by Arun  Addagatla | Medium">
            <a:extLst>
              <a:ext uri="{FF2B5EF4-FFF2-40B4-BE49-F238E27FC236}">
                <a16:creationId xmlns:a16="http://schemas.microsoft.com/office/drawing/2014/main" id="{ACFAC9B3-432B-35ED-430A-DDF8FFA52A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5172" y="3749680"/>
            <a:ext cx="9601193" cy="6400795"/>
          </a:xfrm>
          <a:prstGeom prst="rect">
            <a:avLst/>
          </a:prstGeom>
          <a:noFill/>
          <a:extLst>
            <a:ext uri="{909E8E84-426E-40DD-AFC4-6F175D3DCCD1}">
              <a14:hiddenFill xmlns:a14="http://schemas.microsoft.com/office/drawing/2010/main">
                <a:solidFill>
                  <a:srgbClr val="FFFFFF"/>
                </a:solidFill>
              </a14:hiddenFill>
            </a:ext>
          </a:extLst>
        </p:spPr>
      </p:pic>
      <p:sp>
        <p:nvSpPr>
          <p:cNvPr id="117" name="object 117"/>
          <p:cNvSpPr txBox="1"/>
          <p:nvPr/>
        </p:nvSpPr>
        <p:spPr>
          <a:xfrm>
            <a:off x="7325996" y="9702169"/>
            <a:ext cx="4021454" cy="339725"/>
          </a:xfrm>
          <a:prstGeom prst="rect">
            <a:avLst/>
          </a:prstGeom>
        </p:spPr>
        <p:txBody>
          <a:bodyPr vert="horz" wrap="square" lIns="0" tIns="13970" rIns="0" bIns="0" rtlCol="0">
            <a:spAutoFit/>
          </a:bodyPr>
          <a:lstStyle/>
          <a:p>
            <a:pPr marL="12700">
              <a:lnSpc>
                <a:spcPct val="100000"/>
              </a:lnSpc>
              <a:spcBef>
                <a:spcPts val="110"/>
              </a:spcBef>
            </a:pPr>
            <a:r>
              <a:rPr sz="2050" dirty="0">
                <a:solidFill>
                  <a:srgbClr val="DADADA"/>
                </a:solidFill>
                <a:latin typeface="InputMono Light" panose="02000509020000090004" pitchFamily="49" charset="0"/>
                <a:cs typeface="InputMono"/>
              </a:rPr>
              <a:t>UNIVERSITY</a:t>
            </a:r>
            <a:r>
              <a:rPr sz="2050" spc="-20" dirty="0">
                <a:solidFill>
                  <a:srgbClr val="DADADA"/>
                </a:solidFill>
                <a:latin typeface="InputMono Light" panose="02000509020000090004" pitchFamily="49" charset="0"/>
                <a:cs typeface="InputMono"/>
              </a:rPr>
              <a:t> </a:t>
            </a:r>
            <a:r>
              <a:rPr sz="2050" dirty="0">
                <a:solidFill>
                  <a:srgbClr val="DADADA"/>
                </a:solidFill>
                <a:latin typeface="InputMono Light" panose="02000509020000090004" pitchFamily="49" charset="0"/>
                <a:cs typeface="InputMono"/>
              </a:rPr>
              <a:t>OF</a:t>
            </a:r>
            <a:r>
              <a:rPr sz="2050" spc="-20" dirty="0">
                <a:solidFill>
                  <a:srgbClr val="DADADA"/>
                </a:solidFill>
                <a:latin typeface="InputMono Light" panose="02000509020000090004" pitchFamily="49" charset="0"/>
                <a:cs typeface="InputMono"/>
              </a:rPr>
              <a:t> </a:t>
            </a:r>
            <a:r>
              <a:rPr sz="2050" spc="-10" dirty="0">
                <a:solidFill>
                  <a:srgbClr val="DADADA"/>
                </a:solidFill>
                <a:latin typeface="InputMono Light" panose="02000509020000090004" pitchFamily="49" charset="0"/>
                <a:cs typeface="InputMono"/>
              </a:rPr>
              <a:t>MANCHESTER</a:t>
            </a:r>
            <a:endParaRPr sz="2050" dirty="0">
              <a:latin typeface="InputMono Light" panose="02000509020000090004" pitchFamily="49" charset="0"/>
              <a:cs typeface="InputMono"/>
            </a:endParaRPr>
          </a:p>
        </p:txBody>
      </p:sp>
      <p:sp>
        <p:nvSpPr>
          <p:cNvPr id="118" name="object 118" descr="$PPTXTitle"/>
          <p:cNvSpPr txBox="1">
            <a:spLocks noGrp="1"/>
          </p:cNvSpPr>
          <p:nvPr>
            <p:ph type="body" idx="1"/>
          </p:nvPr>
        </p:nvSpPr>
        <p:spPr>
          <a:xfrm>
            <a:off x="841375" y="1730114"/>
            <a:ext cx="17440274" cy="3236142"/>
          </a:xfrm>
          <a:prstGeom prst="rect">
            <a:avLst/>
          </a:prstGeom>
        </p:spPr>
        <p:txBody>
          <a:bodyPr vert="horz" wrap="square" lIns="0" tIns="12065" rIns="0" bIns="0" rtlCol="0">
            <a:spAutoFit/>
          </a:bodyPr>
          <a:lstStyle/>
          <a:p>
            <a:pPr marL="12700">
              <a:lnSpc>
                <a:spcPct val="100000"/>
              </a:lnSpc>
              <a:spcBef>
                <a:spcPts val="95"/>
              </a:spcBef>
            </a:pPr>
            <a:r>
              <a:rPr lang="en-GB" sz="17400" spc="1265" dirty="0">
                <a:solidFill>
                  <a:srgbClr val="DADADA"/>
                </a:solidFill>
                <a:latin typeface="InputMono Light" panose="02000509020000090004" pitchFamily="49" charset="0"/>
              </a:rPr>
              <a:t>SESSION 02</a:t>
            </a:r>
            <a:endParaRPr sz="17400" dirty="0">
              <a:latin typeface="InputMono Light" panose="02000509020000090004" pitchFamily="49" charset="0"/>
            </a:endParaRPr>
          </a:p>
          <a:p>
            <a:pPr marL="12700">
              <a:lnSpc>
                <a:spcPct val="100000"/>
              </a:lnSpc>
              <a:spcBef>
                <a:spcPts val="1795"/>
              </a:spcBef>
              <a:tabLst>
                <a:tab pos="3460115" algn="l"/>
                <a:tab pos="6395720" algn="l"/>
              </a:tabLst>
            </a:pPr>
            <a:r>
              <a:rPr lang="en-GB" sz="2050" spc="-10" dirty="0">
                <a:solidFill>
                  <a:srgbClr val="DADADA"/>
                </a:solidFill>
                <a:latin typeface="InputMono Light" panose="02000509020000090004" pitchFamily="49" charset="0"/>
              </a:rPr>
              <a:t>WORKSHOP</a:t>
            </a:r>
            <a:r>
              <a:rPr sz="2050" dirty="0">
                <a:solidFill>
                  <a:srgbClr val="DADADA"/>
                </a:solidFill>
                <a:latin typeface="InputMono Light" panose="02000509020000090004" pitchFamily="49" charset="0"/>
              </a:rPr>
              <a:t>	FEBRUARY</a:t>
            </a:r>
            <a:r>
              <a:rPr sz="2050" spc="-30" dirty="0">
                <a:solidFill>
                  <a:srgbClr val="DADADA"/>
                </a:solidFill>
                <a:latin typeface="InputMono Light" panose="02000509020000090004" pitchFamily="49" charset="0"/>
              </a:rPr>
              <a:t> </a:t>
            </a:r>
            <a:r>
              <a:rPr sz="2050" spc="-20" dirty="0">
                <a:solidFill>
                  <a:srgbClr val="DADADA"/>
                </a:solidFill>
                <a:latin typeface="InputMono Light" panose="02000509020000090004" pitchFamily="49" charset="0"/>
              </a:rPr>
              <a:t>2026</a:t>
            </a:r>
            <a:r>
              <a:rPr sz="2050" dirty="0">
                <a:solidFill>
                  <a:srgbClr val="DADADA"/>
                </a:solidFill>
                <a:latin typeface="InputMono Light" panose="02000509020000090004" pitchFamily="49" charset="0"/>
              </a:rPr>
              <a:t>	</a:t>
            </a:r>
            <a:r>
              <a:rPr lang="en-GB" sz="2050" dirty="0">
                <a:solidFill>
                  <a:srgbClr val="DADADA"/>
                </a:solidFill>
                <a:latin typeface="InputMono Light" panose="02000509020000090004" pitchFamily="49" charset="0"/>
              </a:rPr>
              <a:t> </a:t>
            </a:r>
            <a:r>
              <a:rPr sz="2050" dirty="0">
                <a:solidFill>
                  <a:srgbClr val="DADADA"/>
                </a:solidFill>
                <a:latin typeface="InputMono Light" panose="02000509020000090004" pitchFamily="49" charset="0"/>
              </a:rPr>
              <a:t>BY</a:t>
            </a:r>
            <a:r>
              <a:rPr sz="2050" spc="20" dirty="0">
                <a:solidFill>
                  <a:srgbClr val="DADADA"/>
                </a:solidFill>
                <a:latin typeface="InputMono Light" panose="02000509020000090004" pitchFamily="49" charset="0"/>
              </a:rPr>
              <a:t> </a:t>
            </a:r>
            <a:r>
              <a:rPr sz="2050" dirty="0">
                <a:solidFill>
                  <a:srgbClr val="DADADA"/>
                </a:solidFill>
                <a:latin typeface="InputMono Light" panose="02000509020000090004" pitchFamily="49" charset="0"/>
              </a:rPr>
              <a:t>DR</a:t>
            </a:r>
            <a:r>
              <a:rPr sz="2050" spc="15" dirty="0">
                <a:solidFill>
                  <a:srgbClr val="DADADA"/>
                </a:solidFill>
                <a:latin typeface="InputMono Light" panose="02000509020000090004" pitchFamily="49" charset="0"/>
              </a:rPr>
              <a:t> </a:t>
            </a:r>
            <a:r>
              <a:rPr sz="2050" spc="-10" dirty="0">
                <a:solidFill>
                  <a:srgbClr val="DADADA"/>
                </a:solidFill>
                <a:latin typeface="InputMono Light" panose="02000509020000090004" pitchFamily="49" charset="0"/>
              </a:rPr>
              <a:t>CORONA-LOPEZ</a:t>
            </a:r>
            <a:endParaRPr sz="2050" dirty="0">
              <a:latin typeface="InputMono Light" panose="02000509020000090004" pitchFamily="49" charset="0"/>
            </a:endParaRPr>
          </a:p>
        </p:txBody>
      </p:sp>
      <p:sp>
        <p:nvSpPr>
          <p:cNvPr id="119" name="object 119"/>
          <p:cNvSpPr txBox="1"/>
          <p:nvPr/>
        </p:nvSpPr>
        <p:spPr>
          <a:xfrm>
            <a:off x="841375" y="6264794"/>
            <a:ext cx="8992235" cy="1338187"/>
          </a:xfrm>
          <a:prstGeom prst="rect">
            <a:avLst/>
          </a:prstGeom>
        </p:spPr>
        <p:txBody>
          <a:bodyPr vert="horz" wrap="square" lIns="0" tIns="17145" rIns="0" bIns="0" rtlCol="0">
            <a:spAutoFit/>
          </a:bodyPr>
          <a:lstStyle/>
          <a:p>
            <a:pPr marL="12700">
              <a:lnSpc>
                <a:spcPct val="100000"/>
              </a:lnSpc>
              <a:spcBef>
                <a:spcPts val="135"/>
              </a:spcBef>
            </a:pPr>
            <a:r>
              <a:rPr lang="en-GB" sz="4250" dirty="0">
                <a:solidFill>
                  <a:srgbClr val="DADADA"/>
                </a:solidFill>
                <a:latin typeface="InputMono Light" panose="02000509020000090004" pitchFamily="49" charset="0"/>
                <a:cs typeface="InputMono"/>
              </a:rPr>
              <a:t>ARTIFICIAL NEURAL</a:t>
            </a:r>
          </a:p>
          <a:p>
            <a:pPr marL="12700">
              <a:lnSpc>
                <a:spcPct val="100000"/>
              </a:lnSpc>
              <a:spcBef>
                <a:spcPts val="135"/>
              </a:spcBef>
            </a:pPr>
            <a:r>
              <a:rPr lang="en-GB" sz="4250" dirty="0">
                <a:solidFill>
                  <a:srgbClr val="DADADA"/>
                </a:solidFill>
                <a:latin typeface="InputMono Light" panose="02000509020000090004" pitchFamily="49" charset="0"/>
                <a:cs typeface="InputMono"/>
              </a:rPr>
              <a:t>NETWORKS</a:t>
            </a:r>
            <a:endParaRPr sz="4250" dirty="0">
              <a:latin typeface="InputMono Light" panose="02000509020000090004" pitchFamily="49" charset="0"/>
              <a:cs typeface="Input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30B7D-8E4C-D4DF-E3A8-839A5F4EF757}"/>
            </a:ext>
          </a:extLst>
        </p:cNvPr>
        <p:cNvGrpSpPr/>
        <p:nvPr/>
      </p:nvGrpSpPr>
      <p:grpSpPr>
        <a:xfrm>
          <a:off x="0" y="0"/>
          <a:ext cx="0" cy="0"/>
          <a:chOff x="0" y="0"/>
          <a:chExt cx="0" cy="0"/>
        </a:xfrm>
      </p:grpSpPr>
      <p:pic>
        <p:nvPicPr>
          <p:cNvPr id="3074" name="Picture 2" descr="Plotting decision boundaries in 3D — Logistic regression and XGBoost | by  Shiu-Tang Li | TDS Archive | Medium">
            <a:extLst>
              <a:ext uri="{FF2B5EF4-FFF2-40B4-BE49-F238E27FC236}">
                <a16:creationId xmlns:a16="http://schemas.microsoft.com/office/drawing/2014/main" id="{3163DEB1-3939-0C84-E9F3-A5568E661E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5450" y="4283075"/>
            <a:ext cx="16332200" cy="6824526"/>
          </a:xfrm>
          <a:prstGeom prst="rect">
            <a:avLst/>
          </a:prstGeom>
          <a:noFill/>
          <a:extLst>
            <a:ext uri="{909E8E84-426E-40DD-AFC4-6F175D3DCCD1}">
              <a14:hiddenFill xmlns:a14="http://schemas.microsoft.com/office/drawing/2010/main">
                <a:solidFill>
                  <a:srgbClr val="FFFFFF"/>
                </a:solidFill>
              </a14:hiddenFill>
            </a:ext>
          </a:extLst>
        </p:spPr>
      </p:pic>
      <p:sp>
        <p:nvSpPr>
          <p:cNvPr id="117" name="object 117" descr="$PPTXTitle">
            <a:extLst>
              <a:ext uri="{FF2B5EF4-FFF2-40B4-BE49-F238E27FC236}">
                <a16:creationId xmlns:a16="http://schemas.microsoft.com/office/drawing/2014/main" id="{6F19EC79-831C-03B9-9460-635A2A3C2CDB}"/>
              </a:ext>
            </a:extLst>
          </p:cNvPr>
          <p:cNvSpPr txBox="1">
            <a:spLocks noGrp="1"/>
          </p:cNvSpPr>
          <p:nvPr>
            <p:ph type="body" idx="1"/>
          </p:nvPr>
        </p:nvSpPr>
        <p:spPr>
          <a:xfrm>
            <a:off x="755650" y="1118242"/>
            <a:ext cx="5486400" cy="1695980"/>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AGENDA</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8D6ADDA6-978C-12E9-1599-61C80B709A89}"/>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61A896CF-8D1B-8DAC-5798-C3E593B8BEDA}"/>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3" name="object 118">
            <a:extLst>
              <a:ext uri="{FF2B5EF4-FFF2-40B4-BE49-F238E27FC236}">
                <a16:creationId xmlns:a16="http://schemas.microsoft.com/office/drawing/2014/main" id="{96CDB6B9-5969-8F16-6BC6-10E242A04907}"/>
              </a:ext>
            </a:extLst>
          </p:cNvPr>
          <p:cNvSpPr txBox="1"/>
          <p:nvPr/>
        </p:nvSpPr>
        <p:spPr>
          <a:xfrm>
            <a:off x="911866" y="2835214"/>
            <a:ext cx="12188184" cy="6106159"/>
          </a:xfrm>
          <a:prstGeom prst="rect">
            <a:avLst/>
          </a:prstGeom>
        </p:spPr>
        <p:txBody>
          <a:bodyPr vert="horz" wrap="square" lIns="0" tIns="12065" rIns="0" bIns="0" rtlCol="0">
            <a:spAutoFit/>
          </a:bodyPr>
          <a:lstStyle/>
          <a:p>
            <a:pPr marL="355600" indent="-342900" rtl="0">
              <a:lnSpc>
                <a:spcPct val="200000"/>
              </a:lnSpc>
              <a:buFont typeface="Arial" panose="020B0604020202020204" pitchFamily="34" charset="0"/>
              <a:buChar char="•"/>
            </a:pPr>
            <a:r>
              <a:rPr lang="en-GB" sz="2200" b="1" spc="-10" dirty="0">
                <a:solidFill>
                  <a:srgbClr val="163794"/>
                </a:solidFill>
                <a:latin typeface="InputMono Light" panose="02000509020000090004" pitchFamily="49" charset="0"/>
                <a:cs typeface="InputMono"/>
              </a:rPr>
              <a:t>anatomy of a neuron: </a:t>
            </a:r>
            <a:r>
              <a:rPr lang="en-GB" sz="2200" spc="-10" dirty="0">
                <a:solidFill>
                  <a:srgbClr val="163794"/>
                </a:solidFill>
                <a:latin typeface="InputMono Light" panose="02000509020000090004" pitchFamily="49" charset="0"/>
                <a:cs typeface="InputMono"/>
              </a:rPr>
              <a:t>linear classification and manual forward pass.</a:t>
            </a:r>
          </a:p>
          <a:p>
            <a:pPr marL="355600" lvl="0" indent="-342900" algn="l" rtl="0">
              <a:lnSpc>
                <a:spcPct val="200000"/>
              </a:lnSpc>
              <a:buFont typeface="Arial" panose="020B0604020202020204" pitchFamily="34" charset="0"/>
              <a:buChar char="•"/>
            </a:pPr>
            <a:r>
              <a:rPr lang="en-GB" sz="2200" b="1" spc="-10" dirty="0">
                <a:solidFill>
                  <a:srgbClr val="163794"/>
                </a:solidFill>
                <a:latin typeface="InputMono Light" panose="02000509020000090004" pitchFamily="49" charset="0"/>
                <a:cs typeface="InputMono"/>
              </a:rPr>
              <a:t>learning via gradient descent: </a:t>
            </a:r>
            <a:r>
              <a:rPr lang="en-GB" sz="2200" spc="-10" dirty="0">
                <a:solidFill>
                  <a:srgbClr val="163794"/>
                </a:solidFill>
                <a:latin typeface="InputMono Light" panose="02000509020000090004" pitchFamily="49" charset="0"/>
                <a:cs typeface="InputMono"/>
              </a:rPr>
              <a:t>binary cross-entropy and the </a:t>
            </a:r>
            <a:r>
              <a:rPr lang="en-GB" sz="2200" spc="-10" dirty="0" err="1">
                <a:solidFill>
                  <a:srgbClr val="163794"/>
                </a:solidFill>
                <a:latin typeface="InputMono Light" panose="02000509020000090004" pitchFamily="49" charset="0"/>
                <a:cs typeface="InputMono"/>
              </a:rPr>
              <a:t>pytorch</a:t>
            </a:r>
            <a:r>
              <a:rPr lang="en-GB" sz="2200" spc="-10" dirty="0">
                <a:solidFill>
                  <a:srgbClr val="163794"/>
                </a:solidFill>
                <a:latin typeface="InputMono Light" panose="02000509020000090004" pitchFamily="49" charset="0"/>
                <a:cs typeface="InputMono"/>
              </a:rPr>
              <a:t> standard recipe.</a:t>
            </a:r>
          </a:p>
          <a:p>
            <a:pPr marL="355600" lvl="0" indent="-342900" algn="l" rtl="0">
              <a:lnSpc>
                <a:spcPct val="200000"/>
              </a:lnSpc>
              <a:buFont typeface="Arial" panose="020B0604020202020204" pitchFamily="34" charset="0"/>
              <a:buChar char="•"/>
            </a:pPr>
            <a:r>
              <a:rPr lang="en-GB" sz="2200" b="1" spc="-10" dirty="0">
                <a:solidFill>
                  <a:srgbClr val="163794"/>
                </a:solidFill>
                <a:latin typeface="InputMono Light" panose="02000509020000090004" pitchFamily="49" charset="0"/>
                <a:cs typeface="InputMono"/>
              </a:rPr>
              <a:t>the non-linear wall: </a:t>
            </a:r>
            <a:r>
              <a:rPr lang="en-GB" sz="2200" spc="-10" dirty="0">
                <a:solidFill>
                  <a:srgbClr val="163794"/>
                </a:solidFill>
                <a:latin typeface="InputMono Light" panose="02000509020000090004" pitchFamily="49" charset="0"/>
                <a:cs typeface="InputMono"/>
              </a:rPr>
              <a:t>why lines fail (the circles dataset).</a:t>
            </a:r>
          </a:p>
          <a:p>
            <a:pPr marL="355600" lvl="0" indent="-342900" algn="l" rtl="0">
              <a:lnSpc>
                <a:spcPct val="200000"/>
              </a:lnSpc>
              <a:buFont typeface="Arial" panose="020B0604020202020204" pitchFamily="34" charset="0"/>
              <a:buChar char="•"/>
            </a:pPr>
            <a:r>
              <a:rPr lang="en-GB" sz="2200" b="1" spc="-10" dirty="0">
                <a:solidFill>
                  <a:srgbClr val="163794"/>
                </a:solidFill>
                <a:latin typeface="InputMono Light" panose="02000509020000090004" pitchFamily="49" charset="0"/>
                <a:cs typeface="InputMono"/>
              </a:rPr>
              <a:t>multi-layer </a:t>
            </a:r>
            <a:r>
              <a:rPr lang="en-GB" sz="2200" b="1" spc="-10" dirty="0" err="1">
                <a:solidFill>
                  <a:srgbClr val="163794"/>
                </a:solidFill>
                <a:latin typeface="InputMono Light" panose="02000509020000090004" pitchFamily="49" charset="0"/>
                <a:cs typeface="InputMono"/>
              </a:rPr>
              <a:t>perceptrons</a:t>
            </a:r>
            <a:r>
              <a:rPr lang="en-GB" sz="2200" b="1" spc="-10" dirty="0">
                <a:solidFill>
                  <a:srgbClr val="163794"/>
                </a:solidFill>
                <a:latin typeface="InputMono Light" panose="02000509020000090004" pitchFamily="49" charset="0"/>
                <a:cs typeface="InputMono"/>
              </a:rPr>
              <a:t> (</a:t>
            </a:r>
            <a:r>
              <a:rPr lang="en-GB" sz="2200" b="1" spc="-10" dirty="0" err="1">
                <a:solidFill>
                  <a:srgbClr val="163794"/>
                </a:solidFill>
                <a:latin typeface="InputMono Light" panose="02000509020000090004" pitchFamily="49" charset="0"/>
                <a:cs typeface="InputMono"/>
              </a:rPr>
              <a:t>mlps</a:t>
            </a:r>
            <a:r>
              <a:rPr lang="en-GB" sz="2200" b="1" spc="-10" dirty="0">
                <a:solidFill>
                  <a:srgbClr val="163794"/>
                </a:solidFill>
                <a:latin typeface="InputMono Light" panose="02000509020000090004" pitchFamily="49" charset="0"/>
                <a:cs typeface="InputMono"/>
              </a:rPr>
              <a:t>): </a:t>
            </a:r>
            <a:r>
              <a:rPr lang="en-GB" sz="2200" spc="-10" dirty="0">
                <a:solidFill>
                  <a:srgbClr val="163794"/>
                </a:solidFill>
                <a:latin typeface="InputMono Light" panose="02000509020000090004" pitchFamily="49" charset="0"/>
                <a:cs typeface="InputMono"/>
              </a:rPr>
              <a:t>combining neurons </a:t>
            </a:r>
          </a:p>
          <a:p>
            <a:pPr marL="12700" lvl="0" algn="l" rtl="0">
              <a:lnSpc>
                <a:spcPct val="200000"/>
              </a:lnSpc>
            </a:pPr>
            <a:r>
              <a:rPr lang="en-GB" sz="2200" spc="-10" dirty="0">
                <a:solidFill>
                  <a:srgbClr val="163794"/>
                </a:solidFill>
                <a:latin typeface="InputMono Light" panose="02000509020000090004" pitchFamily="49" charset="0"/>
                <a:cs typeface="InputMono"/>
              </a:rPr>
              <a:t>  and non-linear activations.</a:t>
            </a:r>
          </a:p>
          <a:p>
            <a:pPr marL="355600" lvl="0" indent="-342900" algn="l" rtl="0">
              <a:lnSpc>
                <a:spcPct val="200000"/>
              </a:lnSpc>
              <a:buFont typeface="Arial" panose="020B0604020202020204" pitchFamily="34" charset="0"/>
              <a:buChar char="•"/>
            </a:pPr>
            <a:r>
              <a:rPr lang="en-GB" sz="2200" b="1" spc="-10" dirty="0">
                <a:solidFill>
                  <a:srgbClr val="163794"/>
                </a:solidFill>
                <a:latin typeface="InputMono Light" panose="02000509020000090004" pitchFamily="49" charset="0"/>
                <a:cs typeface="InputMono"/>
              </a:rPr>
              <a:t>visualizing probability fields: </a:t>
            </a:r>
            <a:r>
              <a:rPr lang="en-GB" sz="2200" spc="-10" dirty="0">
                <a:solidFill>
                  <a:srgbClr val="163794"/>
                </a:solidFill>
                <a:latin typeface="InputMono Light" panose="02000509020000090004" pitchFamily="49" charset="0"/>
                <a:cs typeface="InputMono"/>
              </a:rPr>
              <a:t>solving the non-linear problem.</a:t>
            </a:r>
          </a:p>
          <a:p>
            <a:pPr marL="355600" lvl="0" indent="-342900" algn="l" rtl="0">
              <a:lnSpc>
                <a:spcPct val="200000"/>
              </a:lnSpc>
              <a:buFont typeface="Arial" panose="020B0604020202020204" pitchFamily="34" charset="0"/>
              <a:buChar char="•"/>
            </a:pPr>
            <a:endParaRPr lang="en-GB" sz="2200" spc="-10" dirty="0">
              <a:solidFill>
                <a:srgbClr val="163794"/>
              </a:solidFill>
              <a:latin typeface="InputMono Light" panose="02000509020000090004" pitchFamily="49" charset="0"/>
              <a:cs typeface="InputMono"/>
            </a:endParaRPr>
          </a:p>
          <a:p>
            <a:pPr marL="12700" rtl="0"/>
            <a:endParaRPr lang="en-GB" sz="2200" dirty="0">
              <a:latin typeface="InputMono"/>
              <a:cs typeface="InputMono"/>
            </a:endParaRPr>
          </a:p>
          <a:p>
            <a:pPr>
              <a:lnSpc>
                <a:spcPct val="100000"/>
              </a:lnSpc>
              <a:spcBef>
                <a:spcPts val="40"/>
              </a:spcBef>
            </a:pPr>
            <a:endParaRPr lang="en-GB" sz="2200" dirty="0">
              <a:latin typeface="InputMono"/>
              <a:cs typeface="InputMono"/>
            </a:endParaRPr>
          </a:p>
        </p:txBody>
      </p:sp>
      <p:sp>
        <p:nvSpPr>
          <p:cNvPr id="4" name="object 145">
            <a:extLst>
              <a:ext uri="{FF2B5EF4-FFF2-40B4-BE49-F238E27FC236}">
                <a16:creationId xmlns:a16="http://schemas.microsoft.com/office/drawing/2014/main" id="{69F628A4-FE5C-BF25-0F33-125CC029C518}"/>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sz="4250" spc="-25" dirty="0">
                <a:solidFill>
                  <a:srgbClr val="163794"/>
                </a:solidFill>
                <a:latin typeface="InputMono Light" panose="02000509020000090004" pitchFamily="49" charset="0"/>
                <a:cs typeface="InputMono"/>
              </a:rPr>
              <a:t>0</a:t>
            </a:r>
            <a:r>
              <a:rPr lang="en-GB" sz="4250" spc="-25" dirty="0">
                <a:solidFill>
                  <a:srgbClr val="163794"/>
                </a:solidFill>
                <a:latin typeface="InputMono Light" panose="02000509020000090004" pitchFamily="49" charset="0"/>
                <a:cs typeface="InputMono"/>
              </a:rPr>
              <a:t>1</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749C0680-6965-21ED-7821-18949B4E6CFB}"/>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p:sp>
        <p:nvSpPr>
          <p:cNvPr id="5" name="Rectangle 2">
            <a:extLst>
              <a:ext uri="{FF2B5EF4-FFF2-40B4-BE49-F238E27FC236}">
                <a16:creationId xmlns:a16="http://schemas.microsoft.com/office/drawing/2014/main" id="{0CB7AAA3-66F3-7E08-CF7F-E67F0081E1A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5963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Screenshot (13)">
            <a:extLst>
              <a:ext uri="{FF2B5EF4-FFF2-40B4-BE49-F238E27FC236}">
                <a16:creationId xmlns:a16="http://schemas.microsoft.com/office/drawing/2014/main" id="{52945113-743C-42CA-7ECB-A0C7771A16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37" t="10247" r="5274" b="5060"/>
          <a:stretch>
            <a:fillRect/>
          </a:stretch>
        </p:blipFill>
        <p:spPr bwMode="auto">
          <a:xfrm>
            <a:off x="7918450" y="1080031"/>
            <a:ext cx="12932108" cy="7467600"/>
          </a:xfrm>
          <a:prstGeom prst="rect">
            <a:avLst/>
          </a:prstGeom>
          <a:noFill/>
          <a:extLst>
            <a:ext uri="{909E8E84-426E-40DD-AFC4-6F175D3DCCD1}">
              <a14:hiddenFill xmlns:a14="http://schemas.microsoft.com/office/drawing/2010/main">
                <a:solidFill>
                  <a:srgbClr val="FFFFFF"/>
                </a:solidFill>
              </a14:hiddenFill>
            </a:ext>
          </a:extLst>
        </p:spPr>
      </p:pic>
      <p:sp>
        <p:nvSpPr>
          <p:cNvPr id="140" name="object 140" descr="$PPTXTitle"/>
          <p:cNvSpPr txBox="1">
            <a:spLocks noGrp="1"/>
          </p:cNvSpPr>
          <p:nvPr>
            <p:ph type="title"/>
          </p:nvPr>
        </p:nvSpPr>
        <p:spPr>
          <a:xfrm>
            <a:off x="586336" y="866597"/>
            <a:ext cx="7179714" cy="7894469"/>
          </a:xfrm>
          <a:prstGeom prst="rect">
            <a:avLst/>
          </a:prstGeom>
        </p:spPr>
        <p:txBody>
          <a:bodyPr vert="horz" wrap="square" lIns="0" tIns="15240" rIns="0" bIns="0" rtlCol="0">
            <a:spAutoFit/>
          </a:bodyPr>
          <a:lstStyle/>
          <a:p>
            <a:pPr marL="12700" algn="l">
              <a:spcBef>
                <a:spcPts val="120"/>
              </a:spcBef>
            </a:pPr>
            <a:r>
              <a:rPr lang="en-GB" sz="3200" dirty="0">
                <a:solidFill>
                  <a:srgbClr val="163794"/>
                </a:solidFill>
                <a:latin typeface="InputMono Light" panose="02000509020000090004" pitchFamily="49" charset="0"/>
              </a:rPr>
              <a:t>neural networks are computational models inspired by the human brain's neural structure. </a:t>
            </a:r>
            <a:br>
              <a:rPr lang="en-GB" sz="3200" dirty="0">
                <a:solidFill>
                  <a:srgbClr val="163794"/>
                </a:solidFill>
                <a:latin typeface="InputMono Light" panose="02000509020000090004" pitchFamily="49" charset="0"/>
              </a:rPr>
            </a:br>
            <a:br>
              <a:rPr lang="en-GB" sz="3200" dirty="0">
                <a:solidFill>
                  <a:srgbClr val="163794"/>
                </a:solidFill>
                <a:latin typeface="InputMono Light" panose="02000509020000090004" pitchFamily="49" charset="0"/>
              </a:rPr>
            </a:br>
            <a:r>
              <a:rPr lang="en-GB" sz="3200" dirty="0">
                <a:solidFill>
                  <a:srgbClr val="163794"/>
                </a:solidFill>
                <a:latin typeface="InputMono Light" panose="02000509020000090004" pitchFamily="49" charset="0"/>
              </a:rPr>
              <a:t>they consist of interconnected neurons organized in layers that transform input data into meaningful outputs. </a:t>
            </a:r>
            <a:br>
              <a:rPr lang="en-GB" sz="3200" dirty="0">
                <a:solidFill>
                  <a:srgbClr val="163794"/>
                </a:solidFill>
                <a:latin typeface="InputMono Light" panose="02000509020000090004" pitchFamily="49" charset="0"/>
              </a:rPr>
            </a:br>
            <a:br>
              <a:rPr lang="en-GB" sz="3200" dirty="0">
                <a:solidFill>
                  <a:srgbClr val="163794"/>
                </a:solidFill>
                <a:latin typeface="InputMono Light" panose="02000509020000090004" pitchFamily="49" charset="0"/>
              </a:rPr>
            </a:br>
            <a:r>
              <a:rPr lang="en-GB" sz="3200" dirty="0">
                <a:solidFill>
                  <a:srgbClr val="163794"/>
                </a:solidFill>
                <a:latin typeface="InputMono Light" panose="02000509020000090004" pitchFamily="49" charset="0"/>
              </a:rPr>
              <a:t>each neuron performs weighted calculations on its inputs and applies an activation function to introduce non-linearity. </a:t>
            </a:r>
            <a:endParaRPr lang="en-GB" sz="3600" dirty="0">
              <a:latin typeface="InputMono Light" panose="02000509020000090004" pitchFamily="49" charset="0"/>
            </a:endParaRPr>
          </a:p>
        </p:txBody>
      </p:sp>
      <p:sp>
        <p:nvSpPr>
          <p:cNvPr id="145" name="object 145"/>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sz="4250" spc="-25" dirty="0">
                <a:solidFill>
                  <a:srgbClr val="163794"/>
                </a:solidFill>
                <a:latin typeface="InputMono Light" panose="02000509020000090004" pitchFamily="49" charset="0"/>
                <a:cs typeface="InputMono"/>
              </a:rPr>
              <a:t>0</a:t>
            </a:r>
            <a:r>
              <a:rPr lang="en-GB" sz="4250" spc="-25" dirty="0">
                <a:solidFill>
                  <a:srgbClr val="163794"/>
                </a:solidFill>
                <a:latin typeface="InputMono Light" panose="02000509020000090004" pitchFamily="49" charset="0"/>
                <a:cs typeface="InputMono"/>
              </a:rPr>
              <a:t>2</a:t>
            </a:r>
            <a:endParaRPr sz="4250" dirty="0">
              <a:latin typeface="InputMono Light" panose="02000509020000090004" pitchFamily="49" charset="0"/>
              <a:cs typeface="InputMon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12752-1A37-EEE6-40A5-0673A142F156}"/>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ABFC09B4-E1BC-C4B9-59E6-F8F67A807E7A}"/>
              </a:ext>
            </a:extLst>
          </p:cNvPr>
          <p:cNvSpPr txBox="1">
            <a:spLocks noGrp="1"/>
          </p:cNvSpPr>
          <p:nvPr>
            <p:ph type="body" idx="1"/>
          </p:nvPr>
        </p:nvSpPr>
        <p:spPr>
          <a:xfrm>
            <a:off x="755650" y="1118242"/>
            <a:ext cx="6477000" cy="1695980"/>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NEURON</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11A0A5FA-23B1-61B6-1A9C-E1CAFC0F831D}"/>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8CC634C9-5568-C3AF-99E8-01E6D1821723}"/>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1D1F814A-09CD-9CC0-702A-7E12211568AB}"/>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sz="4250" spc="-25" dirty="0">
                <a:solidFill>
                  <a:srgbClr val="163794"/>
                </a:solidFill>
                <a:latin typeface="InputMono Light" panose="02000509020000090004" pitchFamily="49" charset="0"/>
                <a:cs typeface="InputMono"/>
              </a:rPr>
              <a:t>0</a:t>
            </a:r>
            <a:r>
              <a:rPr lang="en-GB" sz="4250" spc="-25" dirty="0">
                <a:solidFill>
                  <a:srgbClr val="163794"/>
                </a:solidFill>
                <a:latin typeface="InputMono Light" panose="02000509020000090004" pitchFamily="49" charset="0"/>
                <a:cs typeface="InputMono"/>
              </a:rPr>
              <a:t>3</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03369CA8-616F-1C0A-2B9F-E70EF5AF494D}"/>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p:sp>
        <p:nvSpPr>
          <p:cNvPr id="9" name="Rectangle 2">
            <a:extLst>
              <a:ext uri="{FF2B5EF4-FFF2-40B4-BE49-F238E27FC236}">
                <a16:creationId xmlns:a16="http://schemas.microsoft.com/office/drawing/2014/main" id="{6F2CE432-D75E-E106-9E9B-695B0B320F82}"/>
              </a:ext>
            </a:extLst>
          </p:cNvPr>
          <p:cNvSpPr txBox="1">
            <a:spLocks noChangeArrowheads="1"/>
          </p:cNvSpPr>
          <p:nvPr/>
        </p:nvSpPr>
        <p:spPr bwMode="auto">
          <a:xfrm>
            <a:off x="11061156" y="1469710"/>
            <a:ext cx="7670522" cy="380270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10000"/>
              </a:lnSpc>
              <a:spcAft>
                <a:spcPct val="0"/>
              </a:spcAft>
              <a:buNone/>
            </a:pPr>
            <a:r>
              <a:rPr lang="en-US" altLang="en-US" sz="2400" dirty="0">
                <a:solidFill>
                  <a:srgbClr val="163794"/>
                </a:solidFill>
                <a:latin typeface="InputMono Light" panose="02000509020000090004" pitchFamily="49" charset="0"/>
              </a:rPr>
              <a:t>basic computational units of neural networks</a:t>
            </a:r>
          </a:p>
          <a:p>
            <a:pPr marL="0" indent="0" fontAlgn="base">
              <a:lnSpc>
                <a:spcPct val="110000"/>
              </a:lnSpc>
              <a:spcAft>
                <a:spcPct val="0"/>
              </a:spcAft>
              <a:buNone/>
            </a:pPr>
            <a:endParaRPr lang="en-US" altLang="en-US" sz="2400" dirty="0">
              <a:solidFill>
                <a:srgbClr val="163794"/>
              </a:solidFill>
              <a:latin typeface="InputMono Light" panose="02000509020000090004" pitchFamily="49" charset="0"/>
            </a:endParaRPr>
          </a:p>
          <a:p>
            <a:pPr marL="0" indent="0" fontAlgn="base">
              <a:lnSpc>
                <a:spcPct val="110000"/>
              </a:lnSpc>
              <a:spcAft>
                <a:spcPct val="0"/>
              </a:spcAft>
              <a:buNone/>
            </a:pPr>
            <a:r>
              <a:rPr lang="en-US" altLang="en-US" sz="2400" b="1" dirty="0">
                <a:solidFill>
                  <a:srgbClr val="163794"/>
                </a:solidFill>
                <a:latin typeface="InputMono Light" panose="02000509020000090004" pitchFamily="49" charset="0"/>
              </a:rPr>
              <a:t>each neuron:</a:t>
            </a:r>
          </a:p>
          <a:p>
            <a:pPr fontAlgn="base">
              <a:lnSpc>
                <a:spcPct val="110000"/>
              </a:lnSpc>
              <a:spcAft>
                <a:spcPct val="0"/>
              </a:spcAft>
            </a:pPr>
            <a:r>
              <a:rPr lang="en-US" altLang="en-US" sz="2400" dirty="0">
                <a:solidFill>
                  <a:srgbClr val="163794"/>
                </a:solidFill>
                <a:latin typeface="InputMono Light" panose="02000509020000090004" pitchFamily="49" charset="0"/>
              </a:rPr>
              <a:t>receives inputs</a:t>
            </a:r>
          </a:p>
          <a:p>
            <a:pPr fontAlgn="base">
              <a:lnSpc>
                <a:spcPct val="110000"/>
              </a:lnSpc>
              <a:spcAft>
                <a:spcPct val="0"/>
              </a:spcAft>
            </a:pPr>
            <a:r>
              <a:rPr lang="en-US" altLang="en-US" sz="2400" dirty="0">
                <a:solidFill>
                  <a:srgbClr val="163794"/>
                </a:solidFill>
                <a:latin typeface="InputMono Light" panose="02000509020000090004" pitchFamily="49" charset="0"/>
              </a:rPr>
              <a:t>applies weights and bias</a:t>
            </a:r>
          </a:p>
          <a:p>
            <a:pPr fontAlgn="base">
              <a:lnSpc>
                <a:spcPct val="110000"/>
              </a:lnSpc>
              <a:spcAft>
                <a:spcPct val="0"/>
              </a:spcAft>
            </a:pPr>
            <a:r>
              <a:rPr lang="en-US" altLang="en-US" sz="2400" dirty="0">
                <a:solidFill>
                  <a:srgbClr val="163794"/>
                </a:solidFill>
                <a:latin typeface="InputMono Light" panose="02000509020000090004" pitchFamily="49" charset="0"/>
              </a:rPr>
              <a:t>processes through activation function</a:t>
            </a:r>
          </a:p>
          <a:p>
            <a:pPr fontAlgn="base">
              <a:lnSpc>
                <a:spcPct val="110000"/>
              </a:lnSpc>
              <a:spcAft>
                <a:spcPct val="0"/>
              </a:spcAft>
            </a:pPr>
            <a:r>
              <a:rPr lang="en-US" altLang="en-US" sz="2400" dirty="0">
                <a:solidFill>
                  <a:srgbClr val="163794"/>
                </a:solidFill>
                <a:latin typeface="InputMono Light" panose="02000509020000090004" pitchFamily="49" charset="0"/>
              </a:rPr>
              <a:t>produces output</a:t>
            </a:r>
          </a:p>
          <a:p>
            <a:pPr marL="0" indent="0" fontAlgn="base">
              <a:lnSpc>
                <a:spcPct val="110000"/>
              </a:lnSpc>
              <a:spcAft>
                <a:spcPct val="0"/>
              </a:spcAft>
              <a:buNone/>
            </a:pPr>
            <a:endParaRPr lang="en-US" altLang="en-US" sz="2400" dirty="0">
              <a:solidFill>
                <a:srgbClr val="163794"/>
              </a:solidFill>
              <a:latin typeface="InputMono Light" panose="02000509020000090004" pitchFamily="49" charset="0"/>
            </a:endParaRPr>
          </a:p>
          <a:p>
            <a:pPr marL="0" indent="0" fontAlgn="base">
              <a:lnSpc>
                <a:spcPct val="110000"/>
              </a:lnSpc>
              <a:spcAft>
                <a:spcPct val="0"/>
              </a:spcAft>
              <a:buNone/>
            </a:pPr>
            <a:endParaRPr lang="en-US" altLang="en-US" sz="2400" dirty="0">
              <a:solidFill>
                <a:srgbClr val="163794"/>
              </a:solidFill>
              <a:latin typeface="InputMono Light" panose="02000509020000090004" pitchFamily="49" charset="0"/>
            </a:endParaRPr>
          </a:p>
        </p:txBody>
      </p:sp>
      <p:pic>
        <p:nvPicPr>
          <p:cNvPr id="5" name="Picture 4" descr="A white circle with blue border&#10;&#10;AI-generated content may be incorrect.">
            <a:extLst>
              <a:ext uri="{FF2B5EF4-FFF2-40B4-BE49-F238E27FC236}">
                <a16:creationId xmlns:a16="http://schemas.microsoft.com/office/drawing/2014/main" id="{8896F29C-1884-E18F-E6F3-DAF24585E488}"/>
              </a:ext>
            </a:extLst>
          </p:cNvPr>
          <p:cNvPicPr>
            <a:picLocks noChangeAspect="1"/>
          </p:cNvPicPr>
          <p:nvPr/>
        </p:nvPicPr>
        <p:blipFill>
          <a:blip r:embed="rId3"/>
          <a:stretch>
            <a:fillRect/>
          </a:stretch>
        </p:blipFill>
        <p:spPr>
          <a:xfrm>
            <a:off x="4007928" y="6072885"/>
            <a:ext cx="13139849" cy="3985464"/>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D405124-565F-028A-C3CC-755A555AA7DE}"/>
                  </a:ext>
                </a:extLst>
              </p:cNvPr>
              <p:cNvSpPr txBox="1"/>
              <p:nvPr/>
            </p:nvSpPr>
            <p:spPr>
              <a:xfrm>
                <a:off x="911866" y="4355913"/>
                <a:ext cx="673667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3600" i="1" smtClean="0">
                              <a:solidFill>
                                <a:srgbClr val="163794"/>
                              </a:solidFill>
                              <a:latin typeface="Cambria Math" panose="02040503050406030204" pitchFamily="18" charset="0"/>
                            </a:rPr>
                          </m:ctrlPr>
                        </m:accPr>
                        <m:e>
                          <m:r>
                            <a:rPr lang="en-GB" sz="3600" i="1">
                              <a:solidFill>
                                <a:srgbClr val="163794"/>
                              </a:solidFill>
                              <a:latin typeface="Cambria Math" panose="02040503050406030204" pitchFamily="18" charset="0"/>
                            </a:rPr>
                            <m:t>𝑦</m:t>
                          </m:r>
                        </m:e>
                      </m:acc>
                      <m:r>
                        <a:rPr lang="en-GB" sz="3600" i="0">
                          <a:solidFill>
                            <a:srgbClr val="163794"/>
                          </a:solidFill>
                          <a:latin typeface="Cambria Math" panose="02040503050406030204" pitchFamily="18" charset="0"/>
                        </a:rPr>
                        <m:t>=</m:t>
                      </m:r>
                      <m:r>
                        <a:rPr lang="en-GB" sz="3600" i="1">
                          <a:solidFill>
                            <a:srgbClr val="163794"/>
                          </a:solidFill>
                          <a:latin typeface="Cambria Math" panose="02040503050406030204" pitchFamily="18" charset="0"/>
                        </a:rPr>
                        <m:t>𝑓</m:t>
                      </m:r>
                      <m:d>
                        <m:dPr>
                          <m:ctrlPr>
                            <a:rPr lang="en-GB" sz="3600" i="1">
                              <a:solidFill>
                                <a:srgbClr val="163794"/>
                              </a:solidFill>
                              <a:latin typeface="Cambria Math" panose="02040503050406030204" pitchFamily="18" charset="0"/>
                            </a:rPr>
                          </m:ctrlPr>
                        </m:dPr>
                        <m:e>
                          <m:r>
                            <a:rPr lang="en-GB" sz="3600" i="1">
                              <a:solidFill>
                                <a:srgbClr val="163794"/>
                              </a:solidFill>
                              <a:latin typeface="Cambria Math" panose="02040503050406030204" pitchFamily="18" charset="0"/>
                            </a:rPr>
                            <m:t>𝑊</m:t>
                          </m:r>
                          <m:r>
                            <a:rPr lang="en-GB" sz="3600" i="0">
                              <a:solidFill>
                                <a:srgbClr val="163794"/>
                              </a:solidFill>
                              <a:latin typeface="Cambria Math" panose="02040503050406030204" pitchFamily="18" charset="0"/>
                            </a:rPr>
                            <m:t>⋅</m:t>
                          </m:r>
                          <m:r>
                            <a:rPr lang="en-GB" sz="3600" i="1">
                              <a:solidFill>
                                <a:srgbClr val="163794"/>
                              </a:solidFill>
                              <a:latin typeface="Cambria Math" panose="02040503050406030204" pitchFamily="18" charset="0"/>
                            </a:rPr>
                            <m:t>𝑋</m:t>
                          </m:r>
                          <m:r>
                            <a:rPr lang="en-GB" sz="3600" i="0">
                              <a:solidFill>
                                <a:srgbClr val="163794"/>
                              </a:solidFill>
                              <a:latin typeface="Cambria Math" panose="02040503050406030204" pitchFamily="18" charset="0"/>
                            </a:rPr>
                            <m:t>+</m:t>
                          </m:r>
                          <m:r>
                            <a:rPr lang="en-GB" sz="3600" i="1">
                              <a:solidFill>
                                <a:srgbClr val="163794"/>
                              </a:solidFill>
                              <a:latin typeface="Cambria Math" panose="02040503050406030204" pitchFamily="18" charset="0"/>
                            </a:rPr>
                            <m:t>𝑏</m:t>
                          </m:r>
                        </m:e>
                      </m:d>
                    </m:oMath>
                  </m:oMathPara>
                </a14:m>
                <a:endParaRPr lang="en-GB" sz="3600" dirty="0">
                  <a:solidFill>
                    <a:srgbClr val="163794"/>
                  </a:solidFill>
                  <a:latin typeface="IBM Plex Sans" panose="020B0503050203000203" pitchFamily="34" charset="0"/>
                </a:endParaRPr>
              </a:p>
            </p:txBody>
          </p:sp>
        </mc:Choice>
        <mc:Fallback>
          <p:sp>
            <p:nvSpPr>
              <p:cNvPr id="6" name="TextBox 5">
                <a:extLst>
                  <a:ext uri="{FF2B5EF4-FFF2-40B4-BE49-F238E27FC236}">
                    <a16:creationId xmlns:a16="http://schemas.microsoft.com/office/drawing/2014/main" id="{AD405124-565F-028A-C3CC-755A555AA7DE}"/>
                  </a:ext>
                </a:extLst>
              </p:cNvPr>
              <p:cNvSpPr txBox="1">
                <a:spLocks noRot="1" noChangeAspect="1" noMove="1" noResize="1" noEditPoints="1" noAdjustHandles="1" noChangeArrowheads="1" noChangeShapeType="1" noTextEdit="1"/>
              </p:cNvSpPr>
              <p:nvPr/>
            </p:nvSpPr>
            <p:spPr>
              <a:xfrm>
                <a:off x="911866" y="4355913"/>
                <a:ext cx="6736674" cy="646331"/>
              </a:xfrm>
              <a:prstGeom prst="rect">
                <a:avLst/>
              </a:prstGeom>
              <a:blipFill>
                <a:blip r:embed="rId4"/>
                <a:stretch>
                  <a:fillRect t="-9615" b="-21154"/>
                </a:stretch>
              </a:blipFill>
            </p:spPr>
            <p:txBody>
              <a:bodyPr/>
              <a:lstStyle/>
              <a:p>
                <a:r>
                  <a:rPr lang="en-US">
                    <a:noFill/>
                  </a:rPr>
                  <a:t> </a:t>
                </a:r>
              </a:p>
            </p:txBody>
          </p:sp>
        </mc:Fallback>
      </mc:AlternateContent>
    </p:spTree>
    <p:extLst>
      <p:ext uri="{BB962C8B-B14F-4D97-AF65-F5344CB8AC3E}">
        <p14:creationId xmlns:p14="http://schemas.microsoft.com/office/powerpoint/2010/main" val="1254323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0D7E9-22C1-992C-8DDA-FA1AC1F4EFC6}"/>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2ACA2B77-EF7E-F5FA-5CF2-CE756996ED25}"/>
              </a:ext>
            </a:extLst>
          </p:cNvPr>
          <p:cNvSpPr txBox="1">
            <a:spLocks noGrp="1"/>
          </p:cNvSpPr>
          <p:nvPr>
            <p:ph type="body" idx="1"/>
          </p:nvPr>
        </p:nvSpPr>
        <p:spPr>
          <a:xfrm>
            <a:off x="755650" y="1118242"/>
            <a:ext cx="6477000" cy="3024549"/>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TRAINING</a:t>
            </a:r>
          </a:p>
          <a:p>
            <a:pPr marL="224154" algn="l">
              <a:lnSpc>
                <a:spcPct val="100000"/>
              </a:lnSpc>
              <a:spcBef>
                <a:spcPts val="125"/>
              </a:spcBef>
            </a:pPr>
            <a:r>
              <a:rPr lang="en-GB" spc="680" dirty="0">
                <a:latin typeface="InputMono Light" panose="02000509020000090004" pitchFamily="49" charset="0"/>
              </a:rPr>
              <a:t>BASICS</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B207F24A-D789-D623-4EE7-F7C198994A7A}"/>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C32CE548-E4E1-B14B-98B7-48D68CAE7294}"/>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ECAFFA1F-41CA-D2D4-0C9F-8015FBB14CEA}"/>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sz="4250" spc="-25" dirty="0">
                <a:solidFill>
                  <a:srgbClr val="163794"/>
                </a:solidFill>
                <a:latin typeface="InputMono Light" panose="02000509020000090004" pitchFamily="49" charset="0"/>
                <a:cs typeface="InputMono"/>
              </a:rPr>
              <a:t>0</a:t>
            </a:r>
            <a:r>
              <a:rPr lang="en-GB" sz="4250" spc="-25" dirty="0">
                <a:solidFill>
                  <a:srgbClr val="163794"/>
                </a:solidFill>
                <a:latin typeface="InputMono Light" panose="02000509020000090004" pitchFamily="49" charset="0"/>
                <a:cs typeface="InputMono"/>
              </a:rPr>
              <a:t>4</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6F7787CB-1BB6-26E5-00F8-F1917F9263D5}"/>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p:sp>
        <p:nvSpPr>
          <p:cNvPr id="9" name="Rectangle 2">
            <a:extLst>
              <a:ext uri="{FF2B5EF4-FFF2-40B4-BE49-F238E27FC236}">
                <a16:creationId xmlns:a16="http://schemas.microsoft.com/office/drawing/2014/main" id="{B07864BC-B165-AF8A-20F7-F075A0FA47BF}"/>
              </a:ext>
            </a:extLst>
          </p:cNvPr>
          <p:cNvSpPr txBox="1">
            <a:spLocks noChangeArrowheads="1"/>
          </p:cNvSpPr>
          <p:nvPr/>
        </p:nvSpPr>
        <p:spPr bwMode="auto">
          <a:xfrm>
            <a:off x="10052050" y="1469710"/>
            <a:ext cx="8305800" cy="403256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fontAlgn="base">
              <a:lnSpc>
                <a:spcPct val="110000"/>
              </a:lnSpc>
              <a:spcAft>
                <a:spcPct val="0"/>
              </a:spcAft>
              <a:buFont typeface="+mj-lt"/>
              <a:buAutoNum type="arabicPeriod"/>
            </a:pPr>
            <a:r>
              <a:rPr lang="en-US" altLang="en-US" sz="2400" b="1" dirty="0">
                <a:solidFill>
                  <a:srgbClr val="163794"/>
                </a:solidFill>
                <a:latin typeface="InputMono Light" panose="02000509020000090004" pitchFamily="49" charset="0"/>
              </a:rPr>
              <a:t>forward pass: </a:t>
            </a:r>
            <a:r>
              <a:rPr lang="en-US" altLang="en-US" sz="2400" dirty="0">
                <a:solidFill>
                  <a:srgbClr val="163794"/>
                </a:solidFill>
                <a:latin typeface="InputMono Light" panose="02000509020000090004" pitchFamily="49" charset="0"/>
              </a:rPr>
              <a:t>feed data through network to get predictions</a:t>
            </a:r>
          </a:p>
          <a:p>
            <a:pPr marL="457200" indent="-457200" fontAlgn="base">
              <a:lnSpc>
                <a:spcPct val="110000"/>
              </a:lnSpc>
              <a:spcAft>
                <a:spcPct val="0"/>
              </a:spcAft>
              <a:buFont typeface="+mj-lt"/>
              <a:buAutoNum type="arabicPeriod"/>
            </a:pPr>
            <a:r>
              <a:rPr lang="en-US" altLang="en-US" sz="2400" b="1" dirty="0">
                <a:solidFill>
                  <a:srgbClr val="163794"/>
                </a:solidFill>
                <a:latin typeface="InputMono Light" panose="02000509020000090004" pitchFamily="49" charset="0"/>
              </a:rPr>
              <a:t>loss calculation: </a:t>
            </a:r>
            <a:r>
              <a:rPr lang="en-US" altLang="en-US" sz="2400" dirty="0">
                <a:solidFill>
                  <a:srgbClr val="163794"/>
                </a:solidFill>
                <a:latin typeface="InputMono Light" panose="02000509020000090004" pitchFamily="49" charset="0"/>
              </a:rPr>
              <a:t>measure error between predictions and targets</a:t>
            </a:r>
          </a:p>
          <a:p>
            <a:pPr marL="457200" indent="-457200" fontAlgn="base">
              <a:lnSpc>
                <a:spcPct val="110000"/>
              </a:lnSpc>
              <a:spcAft>
                <a:spcPct val="0"/>
              </a:spcAft>
              <a:buFont typeface="+mj-lt"/>
              <a:buAutoNum type="arabicPeriod"/>
            </a:pPr>
            <a:r>
              <a:rPr lang="en-US" altLang="en-US" sz="2400" b="1" dirty="0">
                <a:solidFill>
                  <a:srgbClr val="163794"/>
                </a:solidFill>
                <a:latin typeface="InputMono Light" panose="02000509020000090004" pitchFamily="49" charset="0"/>
              </a:rPr>
              <a:t>backward pass: </a:t>
            </a:r>
            <a:r>
              <a:rPr lang="en-US" altLang="en-US" sz="2400" dirty="0">
                <a:solidFill>
                  <a:srgbClr val="163794"/>
                </a:solidFill>
                <a:latin typeface="InputMono Light" panose="02000509020000090004" pitchFamily="49" charset="0"/>
              </a:rPr>
              <a:t>compute gradients      to adjust parameters</a:t>
            </a:r>
          </a:p>
          <a:p>
            <a:pPr marL="457200" indent="-457200" fontAlgn="base">
              <a:lnSpc>
                <a:spcPct val="110000"/>
              </a:lnSpc>
              <a:spcAft>
                <a:spcPct val="0"/>
              </a:spcAft>
              <a:buFont typeface="+mj-lt"/>
              <a:buAutoNum type="arabicPeriod"/>
            </a:pPr>
            <a:r>
              <a:rPr lang="en-US" altLang="en-US" sz="2400" b="1" dirty="0">
                <a:solidFill>
                  <a:srgbClr val="163794"/>
                </a:solidFill>
                <a:latin typeface="InputMono Light" panose="02000509020000090004" pitchFamily="49" charset="0"/>
              </a:rPr>
              <a:t>parameter update: </a:t>
            </a:r>
            <a:r>
              <a:rPr lang="en-US" altLang="en-US" sz="2400" dirty="0">
                <a:solidFill>
                  <a:srgbClr val="163794"/>
                </a:solidFill>
                <a:latin typeface="InputMono Light" panose="02000509020000090004" pitchFamily="49" charset="0"/>
              </a:rPr>
              <a:t>improve model using gradient descent </a:t>
            </a:r>
          </a:p>
          <a:p>
            <a:pPr marL="0" indent="0" fontAlgn="base">
              <a:lnSpc>
                <a:spcPct val="110000"/>
              </a:lnSpc>
              <a:spcAft>
                <a:spcPct val="0"/>
              </a:spcAft>
              <a:buNone/>
            </a:pPr>
            <a:endParaRPr lang="en-US" altLang="en-US" sz="2800" dirty="0">
              <a:solidFill>
                <a:srgbClr val="163794"/>
              </a:solidFill>
              <a:latin typeface="InputMono Light" panose="02000509020000090004" pitchFamily="49" charset="0"/>
            </a:endParaRPr>
          </a:p>
          <a:p>
            <a:pPr marL="0" indent="0" fontAlgn="base">
              <a:lnSpc>
                <a:spcPct val="110000"/>
              </a:lnSpc>
              <a:spcAft>
                <a:spcPct val="0"/>
              </a:spcAft>
              <a:buNone/>
            </a:pPr>
            <a:endParaRPr lang="en-US" altLang="en-US" sz="2800" dirty="0">
              <a:solidFill>
                <a:srgbClr val="163794"/>
              </a:solidFill>
              <a:latin typeface="InputMono Light" panose="02000509020000090004" pitchFamily="49" charset="0"/>
            </a:endParaRPr>
          </a:p>
        </p:txBody>
      </p:sp>
      <p:pic>
        <p:nvPicPr>
          <p:cNvPr id="2" name="Graphic 1">
            <a:extLst>
              <a:ext uri="{FF2B5EF4-FFF2-40B4-BE49-F238E27FC236}">
                <a16:creationId xmlns:a16="http://schemas.microsoft.com/office/drawing/2014/main" id="{54128BFD-9810-D58B-099E-071AF7B1FBC2}"/>
              </a:ext>
            </a:extLst>
          </p:cNvPr>
          <p:cNvPicPr>
            <a:picLocks noChangeAspect="1"/>
          </p:cNvPicPr>
          <p:nvPr/>
        </p:nvPicPr>
        <p:blipFill>
          <a:blip r:embed="rId3">
            <a:extLst>
              <a:ext uri="{96DAC541-7B7A-43D3-8B79-37D633B846F1}">
                <asvg:svgBlip xmlns:asvg="http://schemas.microsoft.com/office/drawing/2016/SVG/main" r:embed="rId4"/>
              </a:ext>
            </a:extLst>
          </a:blip>
          <a:srcRect l="36107"/>
          <a:stretch>
            <a:fillRect/>
          </a:stretch>
        </p:blipFill>
        <p:spPr>
          <a:xfrm>
            <a:off x="7232650" y="5575239"/>
            <a:ext cx="8325395" cy="4880036"/>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02FE1F7-215C-4DB5-FE7D-11254718AB6A}"/>
                  </a:ext>
                </a:extLst>
              </p:cNvPr>
              <p:cNvSpPr txBox="1"/>
              <p:nvPr/>
            </p:nvSpPr>
            <p:spPr>
              <a:xfrm>
                <a:off x="755650" y="7559651"/>
                <a:ext cx="6736674" cy="9112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GB" sz="3600" i="1" smtClean="0">
                              <a:solidFill>
                                <a:srgbClr val="163794"/>
                              </a:solidFill>
                              <a:latin typeface="Cambria Math" panose="02040503050406030204" pitchFamily="18" charset="0"/>
                            </a:rPr>
                          </m:ctrlPr>
                        </m:accPr>
                        <m:e>
                          <m:r>
                            <a:rPr lang="en-GB" sz="3600" i="1" smtClean="0">
                              <a:solidFill>
                                <a:srgbClr val="163794"/>
                              </a:solidFill>
                              <a:latin typeface="Cambria Math" panose="02040503050406030204" pitchFamily="18" charset="0"/>
                            </a:rPr>
                            <m:t>𝑦</m:t>
                          </m:r>
                        </m:e>
                      </m:acc>
                      <m:r>
                        <a:rPr lang="en-GB" sz="3600" i="0">
                          <a:solidFill>
                            <a:srgbClr val="163794"/>
                          </a:solidFill>
                          <a:latin typeface="Cambria Math" panose="02040503050406030204" pitchFamily="18" charset="0"/>
                        </a:rPr>
                        <m:t>=</m:t>
                      </m:r>
                      <m:func>
                        <m:funcPr>
                          <m:ctrlPr>
                            <a:rPr lang="en-GB" sz="3600" b="0" i="1" smtClean="0">
                              <a:solidFill>
                                <a:srgbClr val="163794"/>
                              </a:solidFill>
                              <a:latin typeface="Cambria Math" panose="02040503050406030204" pitchFamily="18" charset="0"/>
                            </a:rPr>
                          </m:ctrlPr>
                        </m:funcPr>
                        <m:fName>
                          <m:limLow>
                            <m:limLowPr>
                              <m:ctrlPr>
                                <a:rPr lang="en-GB" sz="3600" b="0" i="1" smtClean="0">
                                  <a:solidFill>
                                    <a:srgbClr val="163794"/>
                                  </a:solidFill>
                                  <a:latin typeface="Cambria Math" panose="02040503050406030204" pitchFamily="18" charset="0"/>
                                </a:rPr>
                              </m:ctrlPr>
                            </m:limLowPr>
                            <m:e>
                              <m:r>
                                <m:rPr>
                                  <m:sty m:val="p"/>
                                </m:rPr>
                                <a:rPr lang="en-GB" sz="3600" b="0" i="1" smtClean="0">
                                  <a:solidFill>
                                    <a:srgbClr val="163794"/>
                                  </a:solidFill>
                                  <a:latin typeface="Cambria Math" panose="02040503050406030204" pitchFamily="18" charset="0"/>
                                </a:rPr>
                                <m:t>argmin</m:t>
                              </m:r>
                            </m:e>
                            <m:lim>
                              <m:r>
                                <m:rPr>
                                  <m:sty m:val="p"/>
                                </m:rPr>
                                <a:rPr lang="en-GB" sz="3600" b="0" i="1" smtClean="0">
                                  <a:solidFill>
                                    <a:srgbClr val="163794"/>
                                  </a:solidFill>
                                  <a:latin typeface="Cambria Math" panose="02040503050406030204" pitchFamily="18" charset="0"/>
                                </a:rPr>
                                <m:t>x</m:t>
                              </m:r>
                            </m:lim>
                          </m:limLow>
                        </m:fName>
                        <m:e>
                          <m:r>
                            <a:rPr lang="en-GB" sz="3600" b="0" i="1" smtClean="0">
                              <a:solidFill>
                                <a:srgbClr val="163794"/>
                              </a:solidFill>
                              <a:latin typeface="Cambria Math" panose="02040503050406030204" pitchFamily="18" charset="0"/>
                            </a:rPr>
                            <m:t>||</m:t>
                          </m:r>
                          <m:r>
                            <m:rPr>
                              <m:sty m:val="p"/>
                            </m:rPr>
                            <a:rPr lang="en-GB" sz="3600" b="0" i="1" smtClean="0">
                              <a:solidFill>
                                <a:srgbClr val="163794"/>
                              </a:solidFill>
                              <a:latin typeface="Cambria Math" panose="02040503050406030204" pitchFamily="18" charset="0"/>
                            </a:rPr>
                            <m:t>W</m:t>
                          </m:r>
                          <m:r>
                            <a:rPr lang="en-GB" sz="3600" b="0" i="1" smtClean="0">
                              <a:solidFill>
                                <a:srgbClr val="163794"/>
                              </a:solidFill>
                              <a:latin typeface="Cambria Math" panose="02040503050406030204" pitchFamily="18" charset="0"/>
                            </a:rPr>
                            <m:t> </m:t>
                          </m:r>
                          <m:r>
                            <m:rPr>
                              <m:sty m:val="p"/>
                            </m:rPr>
                            <a:rPr lang="en-GB" sz="3600" b="0" i="1" smtClean="0">
                              <a:solidFill>
                                <a:srgbClr val="163794"/>
                              </a:solidFill>
                              <a:latin typeface="Cambria Math" panose="02040503050406030204" pitchFamily="18" charset="0"/>
                            </a:rPr>
                            <m:t>x</m:t>
                          </m:r>
                          <m:r>
                            <a:rPr lang="en-GB" sz="3600" b="0" i="1" smtClean="0">
                              <a:solidFill>
                                <a:srgbClr val="163794"/>
                              </a:solidFill>
                              <a:latin typeface="Cambria Math" panose="02040503050406030204" pitchFamily="18" charset="0"/>
                            </a:rPr>
                            <m:t> - </m:t>
                          </m:r>
                          <m:r>
                            <m:rPr>
                              <m:sty m:val="p"/>
                            </m:rPr>
                            <a:rPr lang="en-GB" sz="3600" b="0" i="1" smtClean="0">
                              <a:solidFill>
                                <a:srgbClr val="163794"/>
                              </a:solidFill>
                              <a:latin typeface="Cambria Math" panose="02040503050406030204" pitchFamily="18" charset="0"/>
                            </a:rPr>
                            <m:t>b</m:t>
                          </m:r>
                          <m:r>
                            <a:rPr lang="en-GB" sz="3600" b="0" i="1" smtClean="0">
                              <a:solidFill>
                                <a:srgbClr val="163794"/>
                              </a:solidFill>
                              <a:latin typeface="Cambria Math" panose="02040503050406030204" pitchFamily="18" charset="0"/>
                            </a:rPr>
                            <m:t>|</m:t>
                          </m:r>
                          <m:sSub>
                            <m:sSubPr>
                              <m:ctrlPr>
                                <a:rPr lang="en-GB" sz="3600" b="0" i="1" smtClean="0">
                                  <a:solidFill>
                                    <a:srgbClr val="163794"/>
                                  </a:solidFill>
                                  <a:latin typeface="Cambria Math" panose="02040503050406030204" pitchFamily="18" charset="0"/>
                                </a:rPr>
                              </m:ctrlPr>
                            </m:sSubPr>
                            <m:e>
                              <m:r>
                                <a:rPr lang="en-GB" sz="3600" b="0" i="1" smtClean="0">
                                  <a:solidFill>
                                    <a:srgbClr val="163794"/>
                                  </a:solidFill>
                                  <a:latin typeface="Cambria Math" panose="02040503050406030204" pitchFamily="18" charset="0"/>
                                </a:rPr>
                                <m:t>|</m:t>
                              </m:r>
                            </m:e>
                            <m:sub>
                              <m:r>
                                <a:rPr lang="en-GB" sz="3600" b="0" i="1" smtClean="0">
                                  <a:solidFill>
                                    <a:srgbClr val="163794"/>
                                  </a:solidFill>
                                  <a:latin typeface="Cambria Math" panose="02040503050406030204" pitchFamily="18" charset="0"/>
                                </a:rPr>
                                <m:t>2</m:t>
                              </m:r>
                            </m:sub>
                          </m:sSub>
                        </m:e>
                      </m:func>
                    </m:oMath>
                  </m:oMathPara>
                </a14:m>
                <a:endParaRPr lang="en-GB" sz="3600" dirty="0">
                  <a:solidFill>
                    <a:srgbClr val="163794"/>
                  </a:solidFill>
                  <a:latin typeface="IBM Plex Sans" panose="020B0503050203000203" pitchFamily="34" charset="0"/>
                </a:endParaRPr>
              </a:p>
            </p:txBody>
          </p:sp>
        </mc:Choice>
        <mc:Fallback>
          <p:sp>
            <p:nvSpPr>
              <p:cNvPr id="3" name="TextBox 2">
                <a:extLst>
                  <a:ext uri="{FF2B5EF4-FFF2-40B4-BE49-F238E27FC236}">
                    <a16:creationId xmlns:a16="http://schemas.microsoft.com/office/drawing/2014/main" id="{D02FE1F7-215C-4DB5-FE7D-11254718AB6A}"/>
                  </a:ext>
                </a:extLst>
              </p:cNvPr>
              <p:cNvSpPr txBox="1">
                <a:spLocks noRot="1" noChangeAspect="1" noMove="1" noResize="1" noEditPoints="1" noAdjustHandles="1" noChangeArrowheads="1" noChangeShapeType="1" noTextEdit="1"/>
              </p:cNvSpPr>
              <p:nvPr/>
            </p:nvSpPr>
            <p:spPr>
              <a:xfrm>
                <a:off x="755650" y="7559651"/>
                <a:ext cx="6736674" cy="911211"/>
              </a:xfrm>
              <a:prstGeom prst="rect">
                <a:avLst/>
              </a:prstGeom>
              <a:blipFill>
                <a:blip r:embed="rId5"/>
                <a:stretch>
                  <a:fillRect t="-6849" b="-1370"/>
                </a:stretch>
              </a:blipFill>
            </p:spPr>
            <p:txBody>
              <a:bodyPr/>
              <a:lstStyle/>
              <a:p>
                <a:r>
                  <a:rPr lang="en-US">
                    <a:noFill/>
                  </a:rPr>
                  <a:t> </a:t>
                </a:r>
              </a:p>
            </p:txBody>
          </p:sp>
        </mc:Fallback>
      </mc:AlternateContent>
    </p:spTree>
    <p:extLst>
      <p:ext uri="{BB962C8B-B14F-4D97-AF65-F5344CB8AC3E}">
        <p14:creationId xmlns:p14="http://schemas.microsoft.com/office/powerpoint/2010/main" val="1844246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E8466-2C48-925E-8ADD-7AF3DC1E562F}"/>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FE08484A-75D0-362D-CC90-9377A96258A8}"/>
              </a:ext>
            </a:extLst>
          </p:cNvPr>
          <p:cNvSpPr txBox="1">
            <a:spLocks noGrp="1"/>
          </p:cNvSpPr>
          <p:nvPr>
            <p:ph type="body" idx="1"/>
          </p:nvPr>
        </p:nvSpPr>
        <p:spPr>
          <a:xfrm>
            <a:off x="755650" y="1118242"/>
            <a:ext cx="6477000" cy="3011725"/>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FORWARD PASS</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3C4C83E8-EE02-84B0-B55C-3B9F03446620}"/>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97DCF7FE-E9DF-C18D-6BB2-00DE1C94C694}"/>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3DDABC31-8D23-2CA6-227F-46AC07AF741C}"/>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sz="4250" spc="-25" dirty="0">
                <a:solidFill>
                  <a:srgbClr val="163794"/>
                </a:solidFill>
                <a:latin typeface="InputMono Light" panose="02000509020000090004" pitchFamily="49" charset="0"/>
                <a:cs typeface="InputMono"/>
              </a:rPr>
              <a:t>0</a:t>
            </a:r>
            <a:r>
              <a:rPr lang="en-GB" sz="4250" spc="-25" dirty="0">
                <a:solidFill>
                  <a:srgbClr val="163794"/>
                </a:solidFill>
                <a:latin typeface="InputMono Light" panose="02000509020000090004" pitchFamily="49" charset="0"/>
                <a:cs typeface="InputMono"/>
              </a:rPr>
              <a:t>5</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B569476D-406B-4A05-0689-B48CD4662299}"/>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p:sp>
        <p:nvSpPr>
          <p:cNvPr id="9" name="Rectangle 2">
            <a:extLst>
              <a:ext uri="{FF2B5EF4-FFF2-40B4-BE49-F238E27FC236}">
                <a16:creationId xmlns:a16="http://schemas.microsoft.com/office/drawing/2014/main" id="{9230A0C0-0DB8-B3BC-43A1-24D66BCE478B}"/>
              </a:ext>
            </a:extLst>
          </p:cNvPr>
          <p:cNvSpPr txBox="1">
            <a:spLocks noChangeArrowheads="1"/>
          </p:cNvSpPr>
          <p:nvPr/>
        </p:nvSpPr>
        <p:spPr bwMode="auto">
          <a:xfrm>
            <a:off x="910486" y="4892676"/>
            <a:ext cx="8008729" cy="533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10000"/>
              </a:lnSpc>
              <a:spcAft>
                <a:spcPct val="0"/>
              </a:spcAft>
              <a:buNone/>
            </a:pPr>
            <a:r>
              <a:rPr lang="en-US" altLang="en-US" dirty="0">
                <a:solidFill>
                  <a:srgbClr val="163794"/>
                </a:solidFill>
                <a:latin typeface="InputMono Light" panose="02000509020000090004" pitchFamily="49" charset="0"/>
              </a:rPr>
              <a:t>forward pass formula: </a:t>
            </a:r>
          </a:p>
          <a:p>
            <a:pPr marL="0" indent="0" fontAlgn="base">
              <a:lnSpc>
                <a:spcPct val="110000"/>
              </a:lnSpc>
              <a:spcAft>
                <a:spcPct val="0"/>
              </a:spcAft>
              <a:buNone/>
            </a:pPr>
            <a:endParaRPr lang="en-US" altLang="en-US" dirty="0">
              <a:solidFill>
                <a:srgbClr val="163794"/>
              </a:solidFill>
              <a:latin typeface="InputMono Light" panose="02000509020000090004" pitchFamily="49" charset="0"/>
            </a:endParaRPr>
          </a:p>
          <a:p>
            <a:pPr marL="0" indent="0" fontAlgn="base">
              <a:lnSpc>
                <a:spcPct val="110000"/>
              </a:lnSpc>
              <a:spcAft>
                <a:spcPct val="0"/>
              </a:spcAft>
              <a:buNone/>
            </a:pPr>
            <a:endParaRPr lang="en-GB" altLang="en-US" dirty="0">
              <a:solidFill>
                <a:srgbClr val="163794"/>
              </a:solidFill>
              <a:latin typeface="InputMono Light" panose="02000509020000090004" pitchFamily="49" charset="0"/>
            </a:endParaRPr>
          </a:p>
          <a:p>
            <a:pPr marL="0" indent="0" fontAlgn="base">
              <a:lnSpc>
                <a:spcPct val="110000"/>
              </a:lnSpc>
              <a:spcAft>
                <a:spcPct val="0"/>
              </a:spcAft>
              <a:buNone/>
            </a:pPr>
            <a:endParaRPr lang="en-US" altLang="en-US" dirty="0">
              <a:solidFill>
                <a:srgbClr val="163794"/>
              </a:solidFill>
              <a:latin typeface="InputMono Light" panose="02000509020000090004" pitchFamily="49" charset="0"/>
            </a:endParaRPr>
          </a:p>
        </p:txBody>
      </p:sp>
      <p:pic>
        <p:nvPicPr>
          <p:cNvPr id="2" name="Picture 1">
            <a:extLst>
              <a:ext uri="{FF2B5EF4-FFF2-40B4-BE49-F238E27FC236}">
                <a16:creationId xmlns:a16="http://schemas.microsoft.com/office/drawing/2014/main" id="{7E7DD0EA-EF38-8866-134A-073917C15936}"/>
              </a:ext>
            </a:extLst>
          </p:cNvPr>
          <p:cNvPicPr>
            <a:picLocks noChangeAspect="1"/>
          </p:cNvPicPr>
          <p:nvPr/>
        </p:nvPicPr>
        <p:blipFill>
          <a:blip r:embed="rId3"/>
          <a:srcRect t="11966"/>
          <a:stretch>
            <a:fillRect/>
          </a:stretch>
        </p:blipFill>
        <p:spPr>
          <a:xfrm>
            <a:off x="10060625" y="2722567"/>
            <a:ext cx="10045752" cy="7580308"/>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6C67D1F-20CF-46D5-8934-168F9E9C91F3}"/>
                  </a:ext>
                </a:extLst>
              </p:cNvPr>
              <p:cNvSpPr txBox="1"/>
              <p:nvPr/>
            </p:nvSpPr>
            <p:spPr>
              <a:xfrm>
                <a:off x="23194" y="6495528"/>
                <a:ext cx="1004977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163794"/>
                          </a:solidFill>
                          <a:latin typeface="Cambria Math" panose="02040503050406030204" pitchFamily="18" charset="0"/>
                        </a:rPr>
                        <m:t>𝑍</m:t>
                      </m:r>
                      <m:r>
                        <a:rPr lang="en-US" sz="2400" i="0">
                          <a:solidFill>
                            <a:srgbClr val="163794"/>
                          </a:solidFill>
                          <a:latin typeface="Cambria Math" panose="02040503050406030204" pitchFamily="18" charset="0"/>
                        </a:rPr>
                        <m:t> = </m:t>
                      </m:r>
                      <m:r>
                        <a:rPr lang="en-US" sz="2400" i="1">
                          <a:solidFill>
                            <a:srgbClr val="163794"/>
                          </a:solidFill>
                          <a:latin typeface="Cambria Math" panose="02040503050406030204" pitchFamily="18" charset="0"/>
                        </a:rPr>
                        <m:t>𝑋</m:t>
                      </m:r>
                      <m:sSup>
                        <m:sSupPr>
                          <m:ctrlPr>
                            <a:rPr lang="en-US" sz="2400" i="1">
                              <a:solidFill>
                                <a:srgbClr val="163794"/>
                              </a:solidFill>
                              <a:latin typeface="Cambria Math" panose="02040503050406030204" pitchFamily="18" charset="0"/>
                            </a:rPr>
                          </m:ctrlPr>
                        </m:sSupPr>
                        <m:e>
                          <m:r>
                            <a:rPr lang="en-US" sz="2400" i="1">
                              <a:solidFill>
                                <a:srgbClr val="163794"/>
                              </a:solidFill>
                              <a:latin typeface="Cambria Math" panose="02040503050406030204" pitchFamily="18" charset="0"/>
                            </a:rPr>
                            <m:t>𝑊</m:t>
                          </m:r>
                        </m:e>
                        <m:sup>
                          <m:r>
                            <a:rPr lang="en-US" sz="2400" i="1">
                              <a:solidFill>
                                <a:srgbClr val="163794"/>
                              </a:solidFill>
                              <a:latin typeface="Cambria Math" panose="02040503050406030204" pitchFamily="18" charset="0"/>
                            </a:rPr>
                            <m:t>𝑇</m:t>
                          </m:r>
                        </m:sup>
                      </m:sSup>
                      <m:r>
                        <a:rPr lang="en-US" sz="2400" i="0">
                          <a:solidFill>
                            <a:srgbClr val="163794"/>
                          </a:solidFill>
                          <a:latin typeface="Cambria Math" panose="02040503050406030204" pitchFamily="18" charset="0"/>
                        </a:rPr>
                        <m:t> + </m:t>
                      </m:r>
                      <m:r>
                        <a:rPr lang="en-US" sz="2400" i="1">
                          <a:solidFill>
                            <a:srgbClr val="163794"/>
                          </a:solidFill>
                          <a:latin typeface="Cambria Math" panose="02040503050406030204" pitchFamily="18" charset="0"/>
                        </a:rPr>
                        <m:t>𝑏</m:t>
                      </m:r>
                      <m:r>
                        <a:rPr lang="en-US" sz="2400" i="0">
                          <a:solidFill>
                            <a:srgbClr val="163794"/>
                          </a:solidFill>
                          <a:latin typeface="Cambria Math" panose="02040503050406030204" pitchFamily="18" charset="0"/>
                        </a:rPr>
                        <m:t> = </m:t>
                      </m:r>
                      <m:r>
                        <m:rPr>
                          <m:nor/>
                        </m:rPr>
                        <a:rPr lang="en-US" sz="2400" b="0" i="1">
                          <a:solidFill>
                            <a:srgbClr val="163794"/>
                          </a:solidFill>
                          <a:latin typeface="Cambria Math" panose="02040503050406030204" pitchFamily="18" charset="0"/>
                        </a:rPr>
                        <m:t>Logits</m:t>
                      </m:r>
                      <m:r>
                        <a:rPr lang="en-US" sz="2400" b="0" i="0">
                          <a:solidFill>
                            <a:srgbClr val="163794"/>
                          </a:solidFill>
                          <a:latin typeface="Cambria Math" panose="02040503050406030204" pitchFamily="18" charset="0"/>
                        </a:rPr>
                        <m:t> →</m:t>
                      </m:r>
                      <m:r>
                        <a:rPr lang="en-US" sz="2400" b="0" i="1">
                          <a:solidFill>
                            <a:srgbClr val="163794"/>
                          </a:solidFill>
                          <a:latin typeface="Cambria Math" panose="02040503050406030204" pitchFamily="18" charset="0"/>
                        </a:rPr>
                        <m:t>𝐴</m:t>
                      </m:r>
                      <m:r>
                        <a:rPr lang="en-US" sz="2400" b="0" i="0">
                          <a:solidFill>
                            <a:srgbClr val="163794"/>
                          </a:solidFill>
                          <a:latin typeface="Cambria Math" panose="02040503050406030204" pitchFamily="18" charset="0"/>
                        </a:rPr>
                        <m:t> = </m:t>
                      </m:r>
                      <m:r>
                        <m:rPr>
                          <m:sty m:val="p"/>
                        </m:rPr>
                        <a:rPr lang="en-US" sz="2400" b="0" i="0">
                          <a:solidFill>
                            <a:srgbClr val="163794"/>
                          </a:solidFill>
                          <a:latin typeface="Cambria Math" panose="02040503050406030204" pitchFamily="18" charset="0"/>
                        </a:rPr>
                        <m:t>σ</m:t>
                      </m:r>
                      <m:d>
                        <m:dPr>
                          <m:ctrlPr>
                            <a:rPr lang="en-US" sz="2400" b="0" i="1">
                              <a:solidFill>
                                <a:srgbClr val="163794"/>
                              </a:solidFill>
                              <a:latin typeface="Cambria Math" panose="02040503050406030204" pitchFamily="18" charset="0"/>
                            </a:rPr>
                          </m:ctrlPr>
                        </m:dPr>
                        <m:e>
                          <m:r>
                            <a:rPr lang="en-US" sz="2400" b="0" i="1">
                              <a:solidFill>
                                <a:srgbClr val="163794"/>
                              </a:solidFill>
                              <a:latin typeface="Cambria Math" panose="02040503050406030204" pitchFamily="18" charset="0"/>
                            </a:rPr>
                            <m:t>𝑍</m:t>
                          </m:r>
                        </m:e>
                      </m:d>
                      <m:r>
                        <a:rPr lang="en-GB" sz="2400" b="0" i="0" smtClean="0">
                          <a:solidFill>
                            <a:srgbClr val="163794"/>
                          </a:solidFill>
                          <a:latin typeface="Cambria Math" panose="02040503050406030204" pitchFamily="18" charset="0"/>
                        </a:rPr>
                        <m:t>=</m:t>
                      </m:r>
                      <m:r>
                        <m:rPr>
                          <m:sty m:val="p"/>
                        </m:rPr>
                        <a:rPr lang="en-GB" sz="2400" b="0" i="0" smtClean="0">
                          <a:solidFill>
                            <a:srgbClr val="163794"/>
                          </a:solidFill>
                          <a:latin typeface="Cambria Math" panose="02040503050406030204" pitchFamily="18" charset="0"/>
                        </a:rPr>
                        <m:t>y</m:t>
                      </m:r>
                      <m:r>
                        <a:rPr lang="en-US" sz="2400" b="0" i="0">
                          <a:solidFill>
                            <a:srgbClr val="163794"/>
                          </a:solidFill>
                          <a:latin typeface="Cambria Math" panose="02040503050406030204" pitchFamily="18" charset="0"/>
                        </a:rPr>
                        <m:t> →</m:t>
                      </m:r>
                      <m:r>
                        <m:rPr>
                          <m:nor/>
                        </m:rPr>
                        <a:rPr lang="en-US" sz="2400" b="0" i="1">
                          <a:solidFill>
                            <a:srgbClr val="163794"/>
                          </a:solidFill>
                          <a:latin typeface="Cambria Math" panose="02040503050406030204" pitchFamily="18" charset="0"/>
                        </a:rPr>
                        <m:t>Probabilities</m:t>
                      </m:r>
                    </m:oMath>
                  </m:oMathPara>
                </a14:m>
                <a:endParaRPr lang="en-US" sz="2400" dirty="0">
                  <a:solidFill>
                    <a:srgbClr val="163794"/>
                  </a:solidFill>
                </a:endParaRPr>
              </a:p>
            </p:txBody>
          </p:sp>
        </mc:Choice>
        <mc:Fallback>
          <p:sp>
            <p:nvSpPr>
              <p:cNvPr id="7" name="TextBox 6">
                <a:extLst>
                  <a:ext uri="{FF2B5EF4-FFF2-40B4-BE49-F238E27FC236}">
                    <a16:creationId xmlns:a16="http://schemas.microsoft.com/office/drawing/2014/main" id="{06C67D1F-20CF-46D5-8934-168F9E9C91F3}"/>
                  </a:ext>
                </a:extLst>
              </p:cNvPr>
              <p:cNvSpPr txBox="1">
                <a:spLocks noRot="1" noChangeAspect="1" noMove="1" noResize="1" noEditPoints="1" noAdjustHandles="1" noChangeArrowheads="1" noChangeShapeType="1" noTextEdit="1"/>
              </p:cNvSpPr>
              <p:nvPr/>
            </p:nvSpPr>
            <p:spPr>
              <a:xfrm>
                <a:off x="23194" y="6495528"/>
                <a:ext cx="10049772" cy="461665"/>
              </a:xfrm>
              <a:prstGeom prst="rect">
                <a:avLst/>
              </a:prstGeom>
              <a:blipFill>
                <a:blip r:embed="rId4"/>
                <a:stretch>
                  <a:fillRect b="-21622"/>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4BF6BD8F-620E-C7CF-E524-365D6E3B7746}"/>
              </a:ext>
            </a:extLst>
          </p:cNvPr>
          <p:cNvPicPr>
            <a:picLocks noChangeAspect="1"/>
          </p:cNvPicPr>
          <p:nvPr/>
        </p:nvPicPr>
        <p:blipFill>
          <a:blip r:embed="rId5"/>
          <a:srcRect b="25035"/>
          <a:stretch>
            <a:fillRect/>
          </a:stretch>
        </p:blipFill>
        <p:spPr>
          <a:xfrm>
            <a:off x="23194" y="6168718"/>
            <a:ext cx="10297508" cy="3295958"/>
          </a:xfrm>
          <a:prstGeom prst="rect">
            <a:avLst/>
          </a:prstGeom>
        </p:spPr>
      </p:pic>
    </p:spTree>
    <p:extLst>
      <p:ext uri="{BB962C8B-B14F-4D97-AF65-F5344CB8AC3E}">
        <p14:creationId xmlns:p14="http://schemas.microsoft.com/office/powerpoint/2010/main" val="2584542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084ED-E490-B972-EB1A-1F1E480B6896}"/>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CFF6B8EB-C923-7438-0A2D-1B686219A00A}"/>
              </a:ext>
            </a:extLst>
          </p:cNvPr>
          <p:cNvSpPr txBox="1">
            <a:spLocks noGrp="1"/>
          </p:cNvSpPr>
          <p:nvPr>
            <p:ph type="body" idx="1"/>
          </p:nvPr>
        </p:nvSpPr>
        <p:spPr>
          <a:xfrm>
            <a:off x="755650" y="1118242"/>
            <a:ext cx="6477000" cy="3011725"/>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LOSS FUNCTION</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B56AF8B7-7DFB-18E8-8305-C2A506EA07ED}"/>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5E1478C7-7BD1-6D1E-BD9E-BFDABAC9AC4A}"/>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4BAFE71B-9385-D35D-9090-66F678C7ED49}"/>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sz="4250" spc="-25" dirty="0">
                <a:solidFill>
                  <a:srgbClr val="163794"/>
                </a:solidFill>
                <a:latin typeface="InputMono Light" panose="02000509020000090004" pitchFamily="49" charset="0"/>
                <a:cs typeface="InputMono"/>
              </a:rPr>
              <a:t>0</a:t>
            </a:r>
            <a:r>
              <a:rPr lang="en-GB" sz="4250" spc="-25" dirty="0">
                <a:solidFill>
                  <a:srgbClr val="163794"/>
                </a:solidFill>
                <a:latin typeface="InputMono Light" panose="02000509020000090004" pitchFamily="49" charset="0"/>
                <a:cs typeface="InputMono"/>
              </a:rPr>
              <a:t>6</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E1AD9FD7-1FB3-9785-2801-FA023FD392D9}"/>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mc:AlternateContent xmlns:mc="http://schemas.openxmlformats.org/markup-compatibility/2006">
        <mc:Choice xmlns:a14="http://schemas.microsoft.com/office/drawing/2010/main" Requires="a14">
          <p:sp>
            <p:nvSpPr>
              <p:cNvPr id="9" name="Rectangle 2">
                <a:extLst>
                  <a:ext uri="{FF2B5EF4-FFF2-40B4-BE49-F238E27FC236}">
                    <a16:creationId xmlns:a16="http://schemas.microsoft.com/office/drawing/2014/main" id="{A53392A0-CE8F-0CB7-DA73-53CCEDCC5CFE}"/>
                  </a:ext>
                </a:extLst>
              </p:cNvPr>
              <p:cNvSpPr txBox="1">
                <a:spLocks noChangeArrowheads="1"/>
              </p:cNvSpPr>
              <p:nvPr/>
            </p:nvSpPr>
            <p:spPr bwMode="auto">
              <a:xfrm>
                <a:off x="1017272" y="4223983"/>
                <a:ext cx="8008729" cy="3945291"/>
              </a:xfrm>
              <a:prstGeom prst="rect">
                <a:avLst/>
              </a:prstGeom>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base">
                  <a:lnSpc>
                    <a:spcPct val="150000"/>
                  </a:lnSpc>
                  <a:spcAft>
                    <a:spcPct val="0"/>
                  </a:spcAft>
                  <a:buNone/>
                </a:pPr>
                <a:r>
                  <a:rPr lang="en-US" altLang="en-US" b="1" dirty="0">
                    <a:solidFill>
                      <a:srgbClr val="163794"/>
                    </a:solidFill>
                    <a:latin typeface="InputMono Light" panose="02000509020000090004" pitchFamily="49" charset="0"/>
                  </a:rPr>
                  <a:t>the goal: </a:t>
                </a:r>
              </a:p>
              <a:p>
                <a:pPr marL="0" lvl="0" indent="0" fontAlgn="base">
                  <a:lnSpc>
                    <a:spcPct val="110000"/>
                  </a:lnSpc>
                  <a:spcAft>
                    <a:spcPct val="0"/>
                  </a:spcAft>
                  <a:buNone/>
                </a:pPr>
                <a:r>
                  <a:rPr lang="en-US" altLang="en-US" dirty="0">
                    <a:solidFill>
                      <a:srgbClr val="163794"/>
                    </a:solidFill>
                    <a:latin typeface="InputMono Light" panose="02000509020000090004" pitchFamily="49" charset="0"/>
                  </a:rPr>
                  <a:t>iteratively update random initial parameters to draw an accurate decision boundary.</a:t>
                </a:r>
              </a:p>
              <a:p>
                <a:pPr marL="0" lvl="0" indent="0" fontAlgn="base">
                  <a:lnSpc>
                    <a:spcPct val="110000"/>
                  </a:lnSpc>
                  <a:spcAft>
                    <a:spcPct val="0"/>
                  </a:spcAft>
                  <a:buNone/>
                </a:pPr>
                <a:endParaRPr lang="en-US" altLang="en-US" dirty="0">
                  <a:solidFill>
                    <a:srgbClr val="163794"/>
                  </a:solidFill>
                  <a:latin typeface="InputMono Light" panose="02000509020000090004" pitchFamily="49" charset="0"/>
                </a:endParaRPr>
              </a:p>
              <a:p>
                <a:pPr marL="0" lvl="0" indent="0" fontAlgn="base">
                  <a:lnSpc>
                    <a:spcPct val="150000"/>
                  </a:lnSpc>
                  <a:spcAft>
                    <a:spcPct val="0"/>
                  </a:spcAft>
                  <a:buNone/>
                </a:pPr>
                <a:r>
                  <a:rPr lang="en-US" altLang="en-US" b="1" dirty="0">
                    <a:solidFill>
                      <a:srgbClr val="163794"/>
                    </a:solidFill>
                    <a:latin typeface="InputMono Light" panose="02000509020000090004" pitchFamily="49" charset="0"/>
                  </a:rPr>
                  <a:t>the loss function (binary cross-entropy):</a:t>
                </a:r>
              </a:p>
              <a:p>
                <a:pPr marL="0" lvl="0" indent="0" fontAlgn="base">
                  <a:lnSpc>
                    <a:spcPct val="110000"/>
                  </a:lnSpc>
                  <a:spcAft>
                    <a:spcPct val="0"/>
                  </a:spcAft>
                  <a:buNone/>
                </a:pPr>
                <a:r>
                  <a:rPr lang="en-US" altLang="en-US" dirty="0">
                    <a:solidFill>
                      <a:srgbClr val="163794"/>
                    </a:solidFill>
                    <a:latin typeface="InputMono Light" panose="02000509020000090004" pitchFamily="49" charset="0"/>
                  </a:rPr>
                  <a:t>instead of mean squared error (MSE), binary classification uses BCE. </a:t>
                </a:r>
              </a:p>
              <a:p>
                <a:pPr marL="0" lvl="0" indent="0" fontAlgn="base">
                  <a:lnSpc>
                    <a:spcPct val="110000"/>
                  </a:lnSpc>
                  <a:spcAft>
                    <a:spcPct val="0"/>
                  </a:spcAft>
                  <a:buNone/>
                </a:pPr>
                <a:r>
                  <a:rPr lang="en-US" altLang="en-US" dirty="0">
                    <a:solidFill>
                      <a:srgbClr val="163794"/>
                    </a:solidFill>
                    <a:latin typeface="InputMono Light" panose="02000509020000090004" pitchFamily="49" charset="0"/>
                  </a:rPr>
                  <a:t>it measures the "distance" between predicted probabilities (</a:t>
                </a:r>
                <a14:m>
                  <m:oMath xmlns:m="http://schemas.openxmlformats.org/officeDocument/2006/math">
                    <m:acc>
                      <m:accPr>
                        <m:chr m:val="̂"/>
                        <m:ctrlPr>
                          <a:rPr lang="en-GB" altLang="en-US" b="0" i="1" smtClean="0">
                            <a:solidFill>
                              <a:srgbClr val="163794"/>
                            </a:solidFill>
                            <a:latin typeface="Cambria Math" panose="02040503050406030204" pitchFamily="18" charset="0"/>
                          </a:rPr>
                        </m:ctrlPr>
                      </m:accPr>
                      <m:e>
                        <m:r>
                          <a:rPr lang="en-GB" altLang="en-US" b="1" i="1" smtClean="0">
                            <a:solidFill>
                              <a:srgbClr val="163794"/>
                            </a:solidFill>
                            <a:latin typeface="Cambria Math" panose="02040503050406030204" pitchFamily="18" charset="0"/>
                          </a:rPr>
                          <m:t>𝒚</m:t>
                        </m:r>
                      </m:e>
                    </m:acc>
                  </m:oMath>
                </a14:m>
                <a:r>
                  <a:rPr lang="en-US" altLang="en-US" dirty="0">
                    <a:solidFill>
                      <a:srgbClr val="163794"/>
                    </a:solidFill>
                    <a:latin typeface="InputMono Light" panose="02000509020000090004" pitchFamily="49" charset="0"/>
                  </a:rPr>
                  <a:t>) and true labels (</a:t>
                </a:r>
                <a14:m>
                  <m:oMath xmlns:m="http://schemas.openxmlformats.org/officeDocument/2006/math">
                    <m:r>
                      <a:rPr lang="en-GB" altLang="en-US" b="0" i="1" smtClean="0">
                        <a:solidFill>
                          <a:srgbClr val="163794"/>
                        </a:solidFill>
                        <a:latin typeface="Cambria Math" panose="02040503050406030204" pitchFamily="18" charset="0"/>
                      </a:rPr>
                      <m:t>𝑦</m:t>
                    </m:r>
                  </m:oMath>
                </a14:m>
                <a:r>
                  <a:rPr lang="en-US" altLang="en-US" dirty="0">
                    <a:solidFill>
                      <a:srgbClr val="163794"/>
                    </a:solidFill>
                    <a:latin typeface="InputMono Light" panose="02000509020000090004" pitchFamily="49" charset="0"/>
                  </a:rPr>
                  <a:t>).</a:t>
                </a:r>
              </a:p>
              <a:p>
                <a:pPr marL="0" lvl="0" indent="0" fontAlgn="base">
                  <a:lnSpc>
                    <a:spcPct val="110000"/>
                  </a:lnSpc>
                  <a:spcAft>
                    <a:spcPct val="0"/>
                  </a:spcAft>
                  <a:buNone/>
                </a:pPr>
                <a:endParaRPr lang="en-US" altLang="en-US" dirty="0">
                  <a:solidFill>
                    <a:srgbClr val="163794"/>
                  </a:solidFill>
                  <a:latin typeface="InputMono Light" panose="02000509020000090004" pitchFamily="49" charset="0"/>
                </a:endParaRPr>
              </a:p>
              <a:p>
                <a:pPr marL="0" indent="0" fontAlgn="base">
                  <a:lnSpc>
                    <a:spcPct val="110000"/>
                  </a:lnSpc>
                  <a:spcAft>
                    <a:spcPct val="0"/>
                  </a:spcAft>
                  <a:buNone/>
                </a:pPr>
                <a:endParaRPr lang="en-US" altLang="en-US" dirty="0">
                  <a:solidFill>
                    <a:srgbClr val="163794"/>
                  </a:solidFill>
                  <a:latin typeface="InputMono Light" panose="02000509020000090004" pitchFamily="49" charset="0"/>
                </a:endParaRPr>
              </a:p>
              <a:p>
                <a:pPr marL="0" indent="0" fontAlgn="base">
                  <a:lnSpc>
                    <a:spcPct val="110000"/>
                  </a:lnSpc>
                  <a:spcAft>
                    <a:spcPct val="0"/>
                  </a:spcAft>
                  <a:buNone/>
                </a:pPr>
                <a:endParaRPr lang="en-GB" altLang="en-US" dirty="0">
                  <a:solidFill>
                    <a:srgbClr val="163794"/>
                  </a:solidFill>
                  <a:latin typeface="InputMono Light" panose="02000509020000090004" pitchFamily="49" charset="0"/>
                </a:endParaRPr>
              </a:p>
              <a:p>
                <a:pPr marL="0" indent="0" fontAlgn="base">
                  <a:lnSpc>
                    <a:spcPct val="110000"/>
                  </a:lnSpc>
                  <a:spcAft>
                    <a:spcPct val="0"/>
                  </a:spcAft>
                  <a:buNone/>
                </a:pPr>
                <a:endParaRPr lang="en-US" altLang="en-US" dirty="0">
                  <a:solidFill>
                    <a:srgbClr val="163794"/>
                  </a:solidFill>
                  <a:latin typeface="InputMono Light" panose="02000509020000090004" pitchFamily="49" charset="0"/>
                </a:endParaRPr>
              </a:p>
            </p:txBody>
          </p:sp>
        </mc:Choice>
        <mc:Fallback>
          <p:sp>
            <p:nvSpPr>
              <p:cNvPr id="9" name="Rectangle 2">
                <a:extLst>
                  <a:ext uri="{FF2B5EF4-FFF2-40B4-BE49-F238E27FC236}">
                    <a16:creationId xmlns:a16="http://schemas.microsoft.com/office/drawing/2014/main" id="{A53392A0-CE8F-0CB7-DA73-53CCEDCC5CFE}"/>
                  </a:ext>
                </a:extLst>
              </p:cNvPr>
              <p:cNvSpPr txBox="1">
                <a:spLocks noRot="1" noChangeAspect="1" noMove="1" noResize="1" noEditPoints="1" noAdjustHandles="1" noChangeArrowheads="1" noChangeShapeType="1" noTextEdit="1"/>
              </p:cNvSpPr>
              <p:nvPr/>
            </p:nvSpPr>
            <p:spPr bwMode="auto">
              <a:xfrm>
                <a:off x="1017272" y="4223983"/>
                <a:ext cx="8008729" cy="3945291"/>
              </a:xfrm>
              <a:prstGeom prst="rect">
                <a:avLst/>
              </a:prstGeom>
              <a:blipFill>
                <a:blip r:embed="rId3"/>
                <a:stretch>
                  <a:fillRect l="-951" r="-158" b="-3205"/>
                </a:stretch>
              </a:blip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2053" name="Picture 5" descr="Logistic Regression - Exponent">
            <a:extLst>
              <a:ext uri="{FF2B5EF4-FFF2-40B4-BE49-F238E27FC236}">
                <a16:creationId xmlns:a16="http://schemas.microsoft.com/office/drawing/2014/main" id="{4C278272-6089-3B43-3B06-8398BF49F198}"/>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saturation sat="400000"/>
                    </a14:imgEffect>
                    <a14:imgEffect>
                      <a14:brightnessContrast bright="20000" contrast="-40000"/>
                    </a14:imgEffect>
                  </a14:imgLayer>
                </a14:imgProps>
              </a:ext>
              <a:ext uri="{28A0092B-C50C-407E-A947-70E740481C1C}">
                <a14:useLocalDpi xmlns:a14="http://schemas.microsoft.com/office/drawing/2010/main" val="0"/>
              </a:ext>
            </a:extLst>
          </a:blip>
          <a:srcRect l="7527" r="14464" b="5118"/>
          <a:stretch>
            <a:fillRect/>
          </a:stretch>
        </p:blipFill>
        <p:spPr bwMode="auto">
          <a:xfrm>
            <a:off x="10052050" y="2682875"/>
            <a:ext cx="8686801" cy="59436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66E5BFF-6EAB-1DB4-6429-29EDA1B98541}"/>
                  </a:ext>
                </a:extLst>
              </p:cNvPr>
              <p:cNvSpPr txBox="1"/>
              <p:nvPr/>
            </p:nvSpPr>
            <p:spPr>
              <a:xfrm>
                <a:off x="-158750" y="8931275"/>
                <a:ext cx="10049772" cy="986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163794"/>
                          </a:solidFill>
                          <a:latin typeface="Cambria Math" panose="02040503050406030204" pitchFamily="18" charset="0"/>
                        </a:rPr>
                        <m:t>𝐿</m:t>
                      </m:r>
                      <m:r>
                        <a:rPr lang="en-US" sz="2400" i="1" smtClean="0">
                          <a:solidFill>
                            <a:srgbClr val="163794"/>
                          </a:solidFill>
                          <a:latin typeface="Cambria Math" panose="02040503050406030204" pitchFamily="18" charset="0"/>
                        </a:rPr>
                        <m:t>=−</m:t>
                      </m:r>
                      <m:f>
                        <m:fPr>
                          <m:ctrlPr>
                            <a:rPr lang="en-US" sz="2400" i="1">
                              <a:solidFill>
                                <a:srgbClr val="163794"/>
                              </a:solidFill>
                              <a:latin typeface="Cambria Math" panose="02040503050406030204" pitchFamily="18" charset="0"/>
                            </a:rPr>
                          </m:ctrlPr>
                        </m:fPr>
                        <m:num>
                          <m:r>
                            <a:rPr lang="en-US" sz="2400" i="1">
                              <a:solidFill>
                                <a:srgbClr val="163794"/>
                              </a:solidFill>
                              <a:latin typeface="Cambria Math" panose="02040503050406030204" pitchFamily="18" charset="0"/>
                            </a:rPr>
                            <m:t>1</m:t>
                          </m:r>
                        </m:num>
                        <m:den>
                          <m:r>
                            <a:rPr lang="en-US" sz="2400" i="1">
                              <a:solidFill>
                                <a:srgbClr val="163794"/>
                              </a:solidFill>
                              <a:latin typeface="Cambria Math" panose="02040503050406030204" pitchFamily="18" charset="0"/>
                            </a:rPr>
                            <m:t>𝑁</m:t>
                          </m:r>
                        </m:den>
                      </m:f>
                      <m:nary>
                        <m:naryPr>
                          <m:chr m:val="∑"/>
                          <m:subHide m:val="on"/>
                          <m:supHide m:val="on"/>
                          <m:ctrlPr>
                            <a:rPr lang="en-US" sz="2400" i="1">
                              <a:solidFill>
                                <a:srgbClr val="163794"/>
                              </a:solidFill>
                              <a:latin typeface="Cambria Math" panose="02040503050406030204" pitchFamily="18" charset="0"/>
                            </a:rPr>
                          </m:ctrlPr>
                        </m:naryPr>
                        <m:sub/>
                        <m:sup/>
                        <m:e>
                          <m:d>
                            <m:dPr>
                              <m:begChr m:val="["/>
                              <m:endChr m:val="]"/>
                              <m:ctrlPr>
                                <a:rPr lang="en-US" sz="2400" i="1">
                                  <a:solidFill>
                                    <a:srgbClr val="163794"/>
                                  </a:solidFill>
                                  <a:latin typeface="Cambria Math" panose="02040503050406030204" pitchFamily="18" charset="0"/>
                                </a:rPr>
                              </m:ctrlPr>
                            </m:dPr>
                            <m:e>
                              <m:sSub>
                                <m:sSubPr>
                                  <m:ctrlPr>
                                    <a:rPr lang="en-US" sz="2400" i="1">
                                      <a:solidFill>
                                        <a:srgbClr val="163794"/>
                                      </a:solidFill>
                                      <a:latin typeface="Cambria Math" panose="02040503050406030204" pitchFamily="18" charset="0"/>
                                    </a:rPr>
                                  </m:ctrlPr>
                                </m:sSubPr>
                                <m:e>
                                  <m:r>
                                    <a:rPr lang="en-US" sz="2400" i="1">
                                      <a:solidFill>
                                        <a:srgbClr val="163794"/>
                                      </a:solidFill>
                                      <a:latin typeface="Cambria Math" panose="02040503050406030204" pitchFamily="18" charset="0"/>
                                    </a:rPr>
                                    <m:t>𝑦</m:t>
                                  </m:r>
                                </m:e>
                                <m:sub>
                                  <m:r>
                                    <a:rPr lang="en-US" sz="2400" i="1">
                                      <a:solidFill>
                                        <a:srgbClr val="163794"/>
                                      </a:solidFill>
                                      <a:latin typeface="Cambria Math" panose="02040503050406030204" pitchFamily="18" charset="0"/>
                                    </a:rPr>
                                    <m:t>𝑖</m:t>
                                  </m:r>
                                </m:sub>
                              </m:sSub>
                              <m:func>
                                <m:funcPr>
                                  <m:ctrlPr>
                                    <a:rPr lang="en-US" sz="2400" i="1">
                                      <a:solidFill>
                                        <a:srgbClr val="163794"/>
                                      </a:solidFill>
                                      <a:latin typeface="Cambria Math" panose="02040503050406030204" pitchFamily="18" charset="0"/>
                                    </a:rPr>
                                  </m:ctrlPr>
                                </m:funcPr>
                                <m:fName>
                                  <m:r>
                                    <m:rPr>
                                      <m:sty m:val="p"/>
                                    </m:rPr>
                                    <a:rPr lang="en-US" sz="2400" i="0">
                                      <a:solidFill>
                                        <a:srgbClr val="163794"/>
                                      </a:solidFill>
                                      <a:latin typeface="Cambria Math" panose="02040503050406030204" pitchFamily="18" charset="0"/>
                                    </a:rPr>
                                    <m:t>log</m:t>
                                  </m:r>
                                </m:fName>
                                <m:e>
                                  <m:d>
                                    <m:dPr>
                                      <m:ctrlPr>
                                        <a:rPr lang="en-US" sz="2400" i="1">
                                          <a:solidFill>
                                            <a:srgbClr val="163794"/>
                                          </a:solidFill>
                                          <a:latin typeface="Cambria Math" panose="02040503050406030204" pitchFamily="18" charset="0"/>
                                        </a:rPr>
                                      </m:ctrlPr>
                                    </m:dPr>
                                    <m:e>
                                      <m:acc>
                                        <m:accPr>
                                          <m:chr m:val="̂"/>
                                          <m:ctrlPr>
                                            <a:rPr lang="en-US" sz="2400" i="1">
                                              <a:solidFill>
                                                <a:srgbClr val="163794"/>
                                              </a:solidFill>
                                              <a:latin typeface="Cambria Math" panose="02040503050406030204" pitchFamily="18" charset="0"/>
                                            </a:rPr>
                                          </m:ctrlPr>
                                        </m:accPr>
                                        <m:e>
                                          <m:sSub>
                                            <m:sSubPr>
                                              <m:ctrlPr>
                                                <a:rPr lang="en-US" sz="2400" i="1">
                                                  <a:solidFill>
                                                    <a:srgbClr val="163794"/>
                                                  </a:solidFill>
                                                  <a:latin typeface="Cambria Math" panose="02040503050406030204" pitchFamily="18" charset="0"/>
                                                </a:rPr>
                                              </m:ctrlPr>
                                            </m:sSubPr>
                                            <m:e>
                                              <m:r>
                                                <a:rPr lang="en-US" sz="2400" i="1">
                                                  <a:solidFill>
                                                    <a:srgbClr val="163794"/>
                                                  </a:solidFill>
                                                  <a:latin typeface="Cambria Math" panose="02040503050406030204" pitchFamily="18" charset="0"/>
                                                </a:rPr>
                                                <m:t>𝑦</m:t>
                                              </m:r>
                                            </m:e>
                                            <m:sub>
                                              <m:r>
                                                <a:rPr lang="en-US" sz="2400" i="1">
                                                  <a:solidFill>
                                                    <a:srgbClr val="163794"/>
                                                  </a:solidFill>
                                                  <a:latin typeface="Cambria Math" panose="02040503050406030204" pitchFamily="18" charset="0"/>
                                                </a:rPr>
                                                <m:t>𝑖</m:t>
                                              </m:r>
                                            </m:sub>
                                          </m:sSub>
                                        </m:e>
                                      </m:acc>
                                    </m:e>
                                  </m:d>
                                </m:e>
                              </m:func>
                              <m:r>
                                <a:rPr lang="en-US" sz="2400" i="1">
                                  <a:solidFill>
                                    <a:srgbClr val="163794"/>
                                  </a:solidFill>
                                  <a:latin typeface="Cambria Math" panose="02040503050406030204" pitchFamily="18" charset="0"/>
                                </a:rPr>
                                <m:t>+</m:t>
                              </m:r>
                              <m:d>
                                <m:dPr>
                                  <m:ctrlPr>
                                    <a:rPr lang="en-US" sz="2400" i="1">
                                      <a:solidFill>
                                        <a:srgbClr val="163794"/>
                                      </a:solidFill>
                                      <a:latin typeface="Cambria Math" panose="02040503050406030204" pitchFamily="18" charset="0"/>
                                    </a:rPr>
                                  </m:ctrlPr>
                                </m:dPr>
                                <m:e>
                                  <m:r>
                                    <a:rPr lang="en-US" sz="2400" i="1">
                                      <a:solidFill>
                                        <a:srgbClr val="163794"/>
                                      </a:solidFill>
                                      <a:latin typeface="Cambria Math" panose="02040503050406030204" pitchFamily="18" charset="0"/>
                                    </a:rPr>
                                    <m:t>1−</m:t>
                                  </m:r>
                                  <m:sSub>
                                    <m:sSubPr>
                                      <m:ctrlPr>
                                        <a:rPr lang="en-US" sz="2400" i="1">
                                          <a:solidFill>
                                            <a:srgbClr val="163794"/>
                                          </a:solidFill>
                                          <a:latin typeface="Cambria Math" panose="02040503050406030204" pitchFamily="18" charset="0"/>
                                        </a:rPr>
                                      </m:ctrlPr>
                                    </m:sSubPr>
                                    <m:e>
                                      <m:r>
                                        <a:rPr lang="en-US" sz="2400" i="1">
                                          <a:solidFill>
                                            <a:srgbClr val="163794"/>
                                          </a:solidFill>
                                          <a:latin typeface="Cambria Math" panose="02040503050406030204" pitchFamily="18" charset="0"/>
                                        </a:rPr>
                                        <m:t>𝑦</m:t>
                                      </m:r>
                                    </m:e>
                                    <m:sub>
                                      <m:r>
                                        <a:rPr lang="en-US" sz="2400" i="1">
                                          <a:solidFill>
                                            <a:srgbClr val="163794"/>
                                          </a:solidFill>
                                          <a:latin typeface="Cambria Math" panose="02040503050406030204" pitchFamily="18" charset="0"/>
                                        </a:rPr>
                                        <m:t>𝑖</m:t>
                                      </m:r>
                                    </m:sub>
                                  </m:sSub>
                                </m:e>
                              </m:d>
                              <m:func>
                                <m:funcPr>
                                  <m:ctrlPr>
                                    <a:rPr lang="en-US" sz="2400" i="1">
                                      <a:solidFill>
                                        <a:srgbClr val="163794"/>
                                      </a:solidFill>
                                      <a:latin typeface="Cambria Math" panose="02040503050406030204" pitchFamily="18" charset="0"/>
                                    </a:rPr>
                                  </m:ctrlPr>
                                </m:funcPr>
                                <m:fName>
                                  <m:r>
                                    <m:rPr>
                                      <m:sty m:val="p"/>
                                    </m:rPr>
                                    <a:rPr lang="en-US" sz="2400" i="0">
                                      <a:solidFill>
                                        <a:srgbClr val="163794"/>
                                      </a:solidFill>
                                      <a:latin typeface="Cambria Math" panose="02040503050406030204" pitchFamily="18" charset="0"/>
                                    </a:rPr>
                                    <m:t>log</m:t>
                                  </m:r>
                                </m:fName>
                                <m:e>
                                  <m:d>
                                    <m:dPr>
                                      <m:ctrlPr>
                                        <a:rPr lang="en-US" sz="2400" i="1">
                                          <a:solidFill>
                                            <a:srgbClr val="163794"/>
                                          </a:solidFill>
                                          <a:latin typeface="Cambria Math" panose="02040503050406030204" pitchFamily="18" charset="0"/>
                                        </a:rPr>
                                      </m:ctrlPr>
                                    </m:dPr>
                                    <m:e>
                                      <m:r>
                                        <a:rPr lang="en-US" sz="2400" i="1">
                                          <a:solidFill>
                                            <a:srgbClr val="163794"/>
                                          </a:solidFill>
                                          <a:latin typeface="Cambria Math" panose="02040503050406030204" pitchFamily="18" charset="0"/>
                                        </a:rPr>
                                        <m:t>1−</m:t>
                                      </m:r>
                                      <m:acc>
                                        <m:accPr>
                                          <m:chr m:val="̂"/>
                                          <m:ctrlPr>
                                            <a:rPr lang="en-US" sz="2400" i="1">
                                              <a:solidFill>
                                                <a:srgbClr val="163794"/>
                                              </a:solidFill>
                                              <a:latin typeface="Cambria Math" panose="02040503050406030204" pitchFamily="18" charset="0"/>
                                            </a:rPr>
                                          </m:ctrlPr>
                                        </m:accPr>
                                        <m:e>
                                          <m:sSub>
                                            <m:sSubPr>
                                              <m:ctrlPr>
                                                <a:rPr lang="en-US" sz="2400" i="1">
                                                  <a:solidFill>
                                                    <a:srgbClr val="163794"/>
                                                  </a:solidFill>
                                                  <a:latin typeface="Cambria Math" panose="02040503050406030204" pitchFamily="18" charset="0"/>
                                                </a:rPr>
                                              </m:ctrlPr>
                                            </m:sSubPr>
                                            <m:e>
                                              <m:r>
                                                <a:rPr lang="en-US" sz="2400" i="1">
                                                  <a:solidFill>
                                                    <a:srgbClr val="163794"/>
                                                  </a:solidFill>
                                                  <a:latin typeface="Cambria Math" panose="02040503050406030204" pitchFamily="18" charset="0"/>
                                                </a:rPr>
                                                <m:t>𝑦</m:t>
                                              </m:r>
                                            </m:e>
                                            <m:sub>
                                              <m:r>
                                                <a:rPr lang="en-US" sz="2400" i="1">
                                                  <a:solidFill>
                                                    <a:srgbClr val="163794"/>
                                                  </a:solidFill>
                                                  <a:latin typeface="Cambria Math" panose="02040503050406030204" pitchFamily="18" charset="0"/>
                                                </a:rPr>
                                                <m:t>𝑖</m:t>
                                              </m:r>
                                            </m:sub>
                                          </m:sSub>
                                        </m:e>
                                      </m:acc>
                                    </m:e>
                                  </m:d>
                                </m:e>
                              </m:func>
                            </m:e>
                          </m:d>
                        </m:e>
                      </m:nary>
                    </m:oMath>
                  </m:oMathPara>
                </a14:m>
                <a:endParaRPr lang="en-US" sz="2400" dirty="0">
                  <a:solidFill>
                    <a:srgbClr val="163794"/>
                  </a:solidFill>
                </a:endParaRPr>
              </a:p>
            </p:txBody>
          </p:sp>
        </mc:Choice>
        <mc:Fallback>
          <p:sp>
            <p:nvSpPr>
              <p:cNvPr id="6" name="TextBox 5">
                <a:extLst>
                  <a:ext uri="{FF2B5EF4-FFF2-40B4-BE49-F238E27FC236}">
                    <a16:creationId xmlns:a16="http://schemas.microsoft.com/office/drawing/2014/main" id="{F66E5BFF-6EAB-1DB4-6429-29EDA1B98541}"/>
                  </a:ext>
                </a:extLst>
              </p:cNvPr>
              <p:cNvSpPr txBox="1">
                <a:spLocks noRot="1" noChangeAspect="1" noMove="1" noResize="1" noEditPoints="1" noAdjustHandles="1" noChangeArrowheads="1" noChangeShapeType="1" noTextEdit="1"/>
              </p:cNvSpPr>
              <p:nvPr/>
            </p:nvSpPr>
            <p:spPr>
              <a:xfrm>
                <a:off x="-158750" y="8931275"/>
                <a:ext cx="10049772" cy="986552"/>
              </a:xfrm>
              <a:prstGeom prst="rect">
                <a:avLst/>
              </a:prstGeom>
              <a:blipFill>
                <a:blip r:embed="rId6"/>
                <a:stretch>
                  <a:fillRect t="-132051" b="-183333"/>
                </a:stretch>
              </a:blipFill>
            </p:spPr>
            <p:txBody>
              <a:bodyPr/>
              <a:lstStyle/>
              <a:p>
                <a:r>
                  <a:rPr lang="en-US">
                    <a:noFill/>
                  </a:rPr>
                  <a:t> </a:t>
                </a:r>
              </a:p>
            </p:txBody>
          </p:sp>
        </mc:Fallback>
      </mc:AlternateContent>
    </p:spTree>
    <p:extLst>
      <p:ext uri="{BB962C8B-B14F-4D97-AF65-F5344CB8AC3E}">
        <p14:creationId xmlns:p14="http://schemas.microsoft.com/office/powerpoint/2010/main" val="1153349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8E09D-8C65-63EC-356A-E76D4E8F50B3}"/>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F0BC2803-A912-D6D8-0D3D-88EFD9C2B4C9}"/>
              </a:ext>
            </a:extLst>
          </p:cNvPr>
          <p:cNvSpPr txBox="1">
            <a:spLocks noGrp="1"/>
          </p:cNvSpPr>
          <p:nvPr>
            <p:ph type="body" idx="1"/>
          </p:nvPr>
        </p:nvSpPr>
        <p:spPr>
          <a:xfrm>
            <a:off x="755650" y="1118242"/>
            <a:ext cx="8008728" cy="3024549"/>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LEARNING</a:t>
            </a:r>
          </a:p>
          <a:p>
            <a:pPr marL="224154" algn="l">
              <a:lnSpc>
                <a:spcPct val="100000"/>
              </a:lnSpc>
              <a:spcBef>
                <a:spcPts val="125"/>
              </a:spcBef>
            </a:pPr>
            <a:r>
              <a:rPr lang="en-GB" spc="680" dirty="0">
                <a:latin typeface="InputMono Light" panose="02000509020000090004" pitchFamily="49" charset="0"/>
              </a:rPr>
              <a:t>ALGORITHM</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3B4E9369-0E0A-9A26-6A0E-A5AB5979CFB4}"/>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CB0C87F7-1828-8351-12CF-C66BF05C2D51}"/>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A2244364-FFA7-6251-37A8-29582D2BB436}"/>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sz="4250" spc="-25" dirty="0">
                <a:solidFill>
                  <a:srgbClr val="163794"/>
                </a:solidFill>
                <a:latin typeface="InputMono Light" panose="02000509020000090004" pitchFamily="49" charset="0"/>
                <a:cs typeface="InputMono"/>
              </a:rPr>
              <a:t>0</a:t>
            </a:r>
            <a:r>
              <a:rPr lang="en-GB" sz="4250" spc="-25" dirty="0">
                <a:solidFill>
                  <a:srgbClr val="163794"/>
                </a:solidFill>
                <a:latin typeface="InputMono Light" panose="02000509020000090004" pitchFamily="49" charset="0"/>
                <a:cs typeface="InputMono"/>
              </a:rPr>
              <a:t>7</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7CAA0DB4-8069-5B8E-5232-EE961601D846}"/>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mc:AlternateContent xmlns:mc="http://schemas.openxmlformats.org/markup-compatibility/2006">
        <mc:Choice xmlns:a14="http://schemas.microsoft.com/office/drawing/2010/main" Requires="a14">
          <p:sp>
            <p:nvSpPr>
              <p:cNvPr id="9" name="Rectangle 2">
                <a:extLst>
                  <a:ext uri="{FF2B5EF4-FFF2-40B4-BE49-F238E27FC236}">
                    <a16:creationId xmlns:a16="http://schemas.microsoft.com/office/drawing/2014/main" id="{46BFA919-704B-B64D-9152-8D809085436C}"/>
                  </a:ext>
                </a:extLst>
              </p:cNvPr>
              <p:cNvSpPr txBox="1">
                <a:spLocks noChangeArrowheads="1"/>
              </p:cNvSpPr>
              <p:nvPr/>
            </p:nvSpPr>
            <p:spPr bwMode="auto">
              <a:xfrm>
                <a:off x="910485" y="4399200"/>
                <a:ext cx="8008729" cy="4300712"/>
              </a:xfrm>
              <a:prstGeom prst="rect">
                <a:avLst/>
              </a:prstGeom>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None/>
                </a:pPr>
                <a:r>
                  <a:rPr lang="en-US" altLang="en-US" sz="2400" b="1" dirty="0">
                    <a:solidFill>
                      <a:srgbClr val="163794"/>
                    </a:solidFill>
                    <a:latin typeface="InputMono Light" panose="02000509020000090004" pitchFamily="49" charset="0"/>
                  </a:rPr>
                  <a:t>gradient descent:</a:t>
                </a:r>
              </a:p>
              <a:p>
                <a:pPr marL="0" indent="0" eaLnBrk="0" fontAlgn="base" hangingPunct="0">
                  <a:spcBef>
                    <a:spcPct val="0"/>
                  </a:spcBef>
                  <a:spcAft>
                    <a:spcPts val="600"/>
                  </a:spcAft>
                  <a:buNone/>
                </a:pPr>
                <a:r>
                  <a:rPr lang="en-US" altLang="en-US" sz="2400" dirty="0">
                    <a:solidFill>
                      <a:srgbClr val="163794"/>
                    </a:solidFill>
                    <a:latin typeface="InputMono Light" panose="02000509020000090004" pitchFamily="49" charset="0"/>
                  </a:rPr>
                  <a:t>basically a form of sensitivity analysis. we are asking the math: </a:t>
                </a:r>
              </a:p>
              <a:p>
                <a:pPr marL="0" indent="0" eaLnBrk="0" fontAlgn="base" hangingPunct="0">
                  <a:spcBef>
                    <a:spcPct val="0"/>
                  </a:spcBef>
                  <a:spcAft>
                    <a:spcPts val="600"/>
                  </a:spcAft>
                  <a:buNone/>
                </a:pPr>
                <a:r>
                  <a:rPr lang="en-US" altLang="en-US" sz="2400" i="1" dirty="0">
                    <a:solidFill>
                      <a:srgbClr val="163794"/>
                    </a:solidFill>
                    <a:latin typeface="InputMono Light" panose="02000509020000090004" pitchFamily="49" charset="0"/>
                  </a:rPr>
                  <a:t>how much does the output change if </a:t>
                </a:r>
                <a:r>
                  <a:rPr lang="en-US" altLang="en-US" sz="2400" i="1" dirty="0" err="1">
                    <a:solidFill>
                      <a:srgbClr val="163794"/>
                    </a:solidFill>
                    <a:latin typeface="InputMono Light" panose="02000509020000090004" pitchFamily="49" charset="0"/>
                  </a:rPr>
                  <a:t>i</a:t>
                </a:r>
                <a:r>
                  <a:rPr lang="en-US" altLang="en-US" sz="2400" i="1" dirty="0">
                    <a:solidFill>
                      <a:srgbClr val="163794"/>
                    </a:solidFill>
                    <a:latin typeface="InputMono Light" panose="02000509020000090004" pitchFamily="49" charset="0"/>
                  </a:rPr>
                  <a:t> nudge this parameter?</a:t>
                </a:r>
              </a:p>
              <a:p>
                <a:pPr marL="0" indent="0" eaLnBrk="0" fontAlgn="base" hangingPunct="0">
                  <a:spcBef>
                    <a:spcPct val="0"/>
                  </a:spcBef>
                  <a:spcAft>
                    <a:spcPts val="600"/>
                  </a:spcAft>
                  <a:buNone/>
                </a:pPr>
                <a:endParaRPr lang="en-US" altLang="en-US" sz="2400" dirty="0">
                  <a:solidFill>
                    <a:srgbClr val="163794"/>
                  </a:solidFill>
                  <a:latin typeface="InputMono Light" panose="02000509020000090004" pitchFamily="49" charset="0"/>
                </a:endParaRPr>
              </a:p>
              <a:p>
                <a:pPr marL="0" indent="0" eaLnBrk="0" fontAlgn="base" hangingPunct="0">
                  <a:spcBef>
                    <a:spcPct val="0"/>
                  </a:spcBef>
                  <a:spcAft>
                    <a:spcPts val="600"/>
                  </a:spcAft>
                  <a:buNone/>
                </a:pPr>
                <a:r>
                  <a:rPr lang="en-US" altLang="en-US" sz="2400" dirty="0">
                    <a:solidFill>
                      <a:srgbClr val="163794"/>
                    </a:solidFill>
                    <a:latin typeface="InputMono Light" panose="02000509020000090004" pitchFamily="49" charset="0"/>
                  </a:rPr>
                  <a:t>updates parameters in the direction that most reduces the loss function </a:t>
                </a:r>
              </a:p>
              <a:p>
                <a:pPr marL="0" indent="0" eaLnBrk="0" fontAlgn="base" hangingPunct="0">
                  <a:spcBef>
                    <a:spcPct val="0"/>
                  </a:spcBef>
                  <a:spcAft>
                    <a:spcPts val="600"/>
                  </a:spcAft>
                  <a:buNone/>
                </a:pPr>
                <a:r>
                  <a:rPr lang="en-US" altLang="en-US" sz="2400" dirty="0">
                    <a:solidFill>
                      <a:srgbClr val="163794"/>
                    </a:solidFill>
                    <a:latin typeface="InputMono Light" panose="02000509020000090004" pitchFamily="49" charset="0"/>
                  </a:rPr>
                  <a:t>(where </a:t>
                </a:r>
                <a14:m>
                  <m:oMath xmlns:m="http://schemas.openxmlformats.org/officeDocument/2006/math">
                    <m:r>
                      <a:rPr lang="en-US" altLang="en-US" sz="2400" i="1" dirty="0" smtClean="0">
                        <a:solidFill>
                          <a:srgbClr val="163794"/>
                        </a:solidFill>
                        <a:latin typeface="Cambria Math" panose="02040503050406030204" pitchFamily="18" charset="0"/>
                      </a:rPr>
                      <m:t>𝜂</m:t>
                    </m:r>
                    <m:r>
                      <a:rPr lang="en-US" altLang="en-US" sz="2400" i="1" dirty="0" smtClean="0">
                        <a:solidFill>
                          <a:srgbClr val="163794"/>
                        </a:solidFill>
                        <a:latin typeface="Cambria Math" panose="02040503050406030204" pitchFamily="18" charset="0"/>
                      </a:rPr>
                      <m:t> </m:t>
                    </m:r>
                  </m:oMath>
                </a14:m>
                <a:r>
                  <a:rPr lang="en-US" altLang="en-US" sz="2400" dirty="0">
                    <a:solidFill>
                      <a:srgbClr val="163794"/>
                    </a:solidFill>
                    <a:latin typeface="InputMono Light" panose="02000509020000090004" pitchFamily="49" charset="0"/>
                  </a:rPr>
                  <a:t> is the learning rate).</a:t>
                </a:r>
              </a:p>
            </p:txBody>
          </p:sp>
        </mc:Choice>
        <mc:Fallback>
          <p:sp>
            <p:nvSpPr>
              <p:cNvPr id="9" name="Rectangle 2">
                <a:extLst>
                  <a:ext uri="{FF2B5EF4-FFF2-40B4-BE49-F238E27FC236}">
                    <a16:creationId xmlns:a16="http://schemas.microsoft.com/office/drawing/2014/main" id="{46BFA919-704B-B64D-9152-8D809085436C}"/>
                  </a:ext>
                </a:extLst>
              </p:cNvPr>
              <p:cNvSpPr txBox="1">
                <a:spLocks noRot="1" noChangeAspect="1" noMove="1" noResize="1" noEditPoints="1" noAdjustHandles="1" noChangeArrowheads="1" noChangeShapeType="1" noTextEdit="1"/>
              </p:cNvSpPr>
              <p:nvPr/>
            </p:nvSpPr>
            <p:spPr bwMode="auto">
              <a:xfrm>
                <a:off x="910485" y="4399200"/>
                <a:ext cx="8008729" cy="4300712"/>
              </a:xfrm>
              <a:prstGeom prst="rect">
                <a:avLst/>
              </a:prstGeom>
              <a:blipFill>
                <a:blip r:embed="rId3"/>
                <a:stretch>
                  <a:fillRect l="-1108" r="-2690" b="-5605"/>
                </a:stretch>
              </a:blip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3074" name="Picture 2" descr="cross entropy loss">
            <a:extLst>
              <a:ext uri="{FF2B5EF4-FFF2-40B4-BE49-F238E27FC236}">
                <a16:creationId xmlns:a16="http://schemas.microsoft.com/office/drawing/2014/main" id="{4A911BB8-4BF1-FD6D-B52F-806A25C07D35}"/>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t="10934" r="14844"/>
          <a:stretch>
            <a:fillRect/>
          </a:stretch>
        </p:blipFill>
        <p:spPr bwMode="auto">
          <a:xfrm>
            <a:off x="11008983" y="2023743"/>
            <a:ext cx="8305800" cy="726186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5BC26AA-10A4-F95F-477B-188A9A4E9A39}"/>
                  </a:ext>
                </a:extLst>
              </p:cNvPr>
              <p:cNvSpPr txBox="1"/>
              <p:nvPr/>
            </p:nvSpPr>
            <p:spPr>
              <a:xfrm>
                <a:off x="-1987550" y="8969332"/>
                <a:ext cx="10049772" cy="1028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163794"/>
                              </a:solidFill>
                              <a:latin typeface="Cambria Math" panose="02040503050406030204" pitchFamily="18" charset="0"/>
                            </a:rPr>
                          </m:ctrlPr>
                        </m:sSubPr>
                        <m:e>
                          <m:r>
                            <a:rPr lang="en-US" sz="3200" i="1">
                              <a:solidFill>
                                <a:srgbClr val="163794"/>
                              </a:solidFill>
                              <a:latin typeface="Cambria Math" panose="02040503050406030204" pitchFamily="18" charset="0"/>
                            </a:rPr>
                            <m:t>𝑤</m:t>
                          </m:r>
                        </m:e>
                        <m:sub>
                          <m:r>
                            <a:rPr lang="en-US" sz="3200" i="1">
                              <a:solidFill>
                                <a:srgbClr val="163794"/>
                              </a:solidFill>
                              <a:latin typeface="Cambria Math" panose="02040503050406030204" pitchFamily="18" charset="0"/>
                            </a:rPr>
                            <m:t>𝑛𝑒𝑤</m:t>
                          </m:r>
                        </m:sub>
                      </m:sSub>
                      <m:r>
                        <a:rPr lang="en-US" sz="3200" i="1">
                          <a:solidFill>
                            <a:srgbClr val="163794"/>
                          </a:solidFill>
                          <a:latin typeface="Cambria Math" panose="02040503050406030204" pitchFamily="18" charset="0"/>
                        </a:rPr>
                        <m:t>=</m:t>
                      </m:r>
                      <m:sSub>
                        <m:sSubPr>
                          <m:ctrlPr>
                            <a:rPr lang="en-US" sz="3200" i="1">
                              <a:solidFill>
                                <a:srgbClr val="163794"/>
                              </a:solidFill>
                              <a:latin typeface="Cambria Math" panose="02040503050406030204" pitchFamily="18" charset="0"/>
                            </a:rPr>
                          </m:ctrlPr>
                        </m:sSubPr>
                        <m:e>
                          <m:r>
                            <a:rPr lang="en-US" sz="3200" i="1">
                              <a:solidFill>
                                <a:srgbClr val="163794"/>
                              </a:solidFill>
                              <a:latin typeface="Cambria Math" panose="02040503050406030204" pitchFamily="18" charset="0"/>
                            </a:rPr>
                            <m:t>𝑤</m:t>
                          </m:r>
                        </m:e>
                        <m:sub>
                          <m:r>
                            <a:rPr lang="en-US" sz="3200" i="1">
                              <a:solidFill>
                                <a:srgbClr val="163794"/>
                              </a:solidFill>
                              <a:latin typeface="Cambria Math" panose="02040503050406030204" pitchFamily="18" charset="0"/>
                            </a:rPr>
                            <m:t>𝑜𝑙𝑑</m:t>
                          </m:r>
                        </m:sub>
                      </m:sSub>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𝜂</m:t>
                      </m:r>
                      <m:f>
                        <m:fPr>
                          <m:ctrlPr>
                            <a:rPr lang="en-US" sz="3200" i="1">
                              <a:solidFill>
                                <a:srgbClr val="163794"/>
                              </a:solidFill>
                              <a:latin typeface="Cambria Math" panose="02040503050406030204" pitchFamily="18" charset="0"/>
                            </a:rPr>
                          </m:ctrlPr>
                        </m:fPr>
                        <m:num>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𝐿</m:t>
                          </m:r>
                        </m:num>
                        <m:den>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𝑤</m:t>
                          </m:r>
                        </m:den>
                      </m:f>
                    </m:oMath>
                  </m:oMathPara>
                </a14:m>
                <a:endParaRPr lang="en-US" sz="3200" dirty="0">
                  <a:solidFill>
                    <a:srgbClr val="163794"/>
                  </a:solidFill>
                </a:endParaRPr>
              </a:p>
            </p:txBody>
          </p:sp>
        </mc:Choice>
        <mc:Fallback>
          <p:sp>
            <p:nvSpPr>
              <p:cNvPr id="6" name="TextBox 5">
                <a:extLst>
                  <a:ext uri="{FF2B5EF4-FFF2-40B4-BE49-F238E27FC236}">
                    <a16:creationId xmlns:a16="http://schemas.microsoft.com/office/drawing/2014/main" id="{95BC26AA-10A4-F95F-477B-188A9A4E9A39}"/>
                  </a:ext>
                </a:extLst>
              </p:cNvPr>
              <p:cNvSpPr txBox="1">
                <a:spLocks noRot="1" noChangeAspect="1" noMove="1" noResize="1" noEditPoints="1" noAdjustHandles="1" noChangeArrowheads="1" noChangeShapeType="1" noTextEdit="1"/>
              </p:cNvSpPr>
              <p:nvPr/>
            </p:nvSpPr>
            <p:spPr>
              <a:xfrm>
                <a:off x="-1987550" y="8969332"/>
                <a:ext cx="10049772" cy="1028743"/>
              </a:xfrm>
              <a:prstGeom prst="rect">
                <a:avLst/>
              </a:prstGeom>
              <a:blipFill>
                <a:blip r:embed="rId6"/>
                <a:stretch>
                  <a:fillRect b="-73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70CAA97-7F68-DB22-D208-6A081FA18791}"/>
                  </a:ext>
                </a:extLst>
              </p:cNvPr>
              <p:cNvSpPr txBox="1"/>
              <p:nvPr/>
            </p:nvSpPr>
            <p:spPr>
              <a:xfrm>
                <a:off x="2177099" y="8969267"/>
                <a:ext cx="10817524" cy="1028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163794"/>
                              </a:solidFill>
                              <a:latin typeface="Cambria Math" panose="02040503050406030204" pitchFamily="18" charset="0"/>
                            </a:rPr>
                          </m:ctrlPr>
                        </m:sSubPr>
                        <m:e>
                          <m:r>
                            <a:rPr lang="en-US" sz="3200" i="1">
                              <a:solidFill>
                                <a:srgbClr val="163794"/>
                              </a:solidFill>
                              <a:latin typeface="Cambria Math" panose="02040503050406030204" pitchFamily="18" charset="0"/>
                            </a:rPr>
                            <m:t>𝑏</m:t>
                          </m:r>
                        </m:e>
                        <m:sub>
                          <m:r>
                            <a:rPr lang="en-US" sz="3200" i="1">
                              <a:solidFill>
                                <a:srgbClr val="163794"/>
                              </a:solidFill>
                              <a:latin typeface="Cambria Math" panose="02040503050406030204" pitchFamily="18" charset="0"/>
                            </a:rPr>
                            <m:t>𝑛𝑒𝑤</m:t>
                          </m:r>
                        </m:sub>
                      </m:sSub>
                      <m:r>
                        <a:rPr lang="en-US" sz="3200" i="1">
                          <a:solidFill>
                            <a:srgbClr val="163794"/>
                          </a:solidFill>
                          <a:latin typeface="Cambria Math" panose="02040503050406030204" pitchFamily="18" charset="0"/>
                        </a:rPr>
                        <m:t>=</m:t>
                      </m:r>
                      <m:sSub>
                        <m:sSubPr>
                          <m:ctrlPr>
                            <a:rPr lang="en-US" sz="3200" i="1">
                              <a:solidFill>
                                <a:srgbClr val="163794"/>
                              </a:solidFill>
                              <a:latin typeface="Cambria Math" panose="02040503050406030204" pitchFamily="18" charset="0"/>
                            </a:rPr>
                          </m:ctrlPr>
                        </m:sSubPr>
                        <m:e>
                          <m:r>
                            <a:rPr lang="en-US" sz="3200" i="1">
                              <a:solidFill>
                                <a:srgbClr val="163794"/>
                              </a:solidFill>
                              <a:latin typeface="Cambria Math" panose="02040503050406030204" pitchFamily="18" charset="0"/>
                            </a:rPr>
                            <m:t>𝑏</m:t>
                          </m:r>
                        </m:e>
                        <m:sub>
                          <m:r>
                            <a:rPr lang="en-US" sz="3200" i="1">
                              <a:solidFill>
                                <a:srgbClr val="163794"/>
                              </a:solidFill>
                              <a:latin typeface="Cambria Math" panose="02040503050406030204" pitchFamily="18" charset="0"/>
                            </a:rPr>
                            <m:t>𝑜𝑙𝑑</m:t>
                          </m:r>
                        </m:sub>
                      </m:sSub>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𝜂</m:t>
                      </m:r>
                      <m:f>
                        <m:fPr>
                          <m:ctrlPr>
                            <a:rPr lang="en-US" sz="3200" i="1">
                              <a:solidFill>
                                <a:srgbClr val="163794"/>
                              </a:solidFill>
                              <a:latin typeface="Cambria Math" panose="02040503050406030204" pitchFamily="18" charset="0"/>
                            </a:rPr>
                          </m:ctrlPr>
                        </m:fPr>
                        <m:num>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𝐿</m:t>
                          </m:r>
                        </m:num>
                        <m:den>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𝑏</m:t>
                          </m:r>
                        </m:den>
                      </m:f>
                    </m:oMath>
                  </m:oMathPara>
                </a14:m>
                <a:endParaRPr lang="en-US" sz="3200" dirty="0">
                  <a:solidFill>
                    <a:srgbClr val="163794"/>
                  </a:solidFill>
                </a:endParaRPr>
              </a:p>
            </p:txBody>
          </p:sp>
        </mc:Choice>
        <mc:Fallback>
          <p:sp>
            <p:nvSpPr>
              <p:cNvPr id="10" name="TextBox 9">
                <a:extLst>
                  <a:ext uri="{FF2B5EF4-FFF2-40B4-BE49-F238E27FC236}">
                    <a16:creationId xmlns:a16="http://schemas.microsoft.com/office/drawing/2014/main" id="{A70CAA97-7F68-DB22-D208-6A081FA18791}"/>
                  </a:ext>
                </a:extLst>
              </p:cNvPr>
              <p:cNvSpPr txBox="1">
                <a:spLocks noRot="1" noChangeAspect="1" noMove="1" noResize="1" noEditPoints="1" noAdjustHandles="1" noChangeArrowheads="1" noChangeShapeType="1" noTextEdit="1"/>
              </p:cNvSpPr>
              <p:nvPr/>
            </p:nvSpPr>
            <p:spPr>
              <a:xfrm>
                <a:off x="2177099" y="8969267"/>
                <a:ext cx="10817524" cy="1028743"/>
              </a:xfrm>
              <a:prstGeom prst="rect">
                <a:avLst/>
              </a:prstGeom>
              <a:blipFill>
                <a:blip r:embed="rId7"/>
                <a:stretch>
                  <a:fillRect b="-7317"/>
                </a:stretch>
              </a:blipFill>
            </p:spPr>
            <p:txBody>
              <a:bodyPr/>
              <a:lstStyle/>
              <a:p>
                <a:r>
                  <a:rPr lang="en-US">
                    <a:noFill/>
                  </a:rPr>
                  <a:t> </a:t>
                </a:r>
              </a:p>
            </p:txBody>
          </p:sp>
        </mc:Fallback>
      </mc:AlternateContent>
    </p:spTree>
    <p:extLst>
      <p:ext uri="{BB962C8B-B14F-4D97-AF65-F5344CB8AC3E}">
        <p14:creationId xmlns:p14="http://schemas.microsoft.com/office/powerpoint/2010/main" val="71656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805BF-09F1-B80D-3E77-C037F4154680}"/>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D9E9D714-EE0A-09E7-5CF9-1C8E356D9FC0}"/>
              </a:ext>
            </a:extLst>
          </p:cNvPr>
          <p:cNvSpPr txBox="1">
            <a:spLocks noGrp="1"/>
          </p:cNvSpPr>
          <p:nvPr>
            <p:ph type="body" idx="1"/>
          </p:nvPr>
        </p:nvSpPr>
        <p:spPr>
          <a:xfrm>
            <a:off x="755650" y="1118242"/>
            <a:ext cx="8008728" cy="3024549"/>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LEARNING</a:t>
            </a:r>
          </a:p>
          <a:p>
            <a:pPr marL="224154" algn="l">
              <a:lnSpc>
                <a:spcPct val="100000"/>
              </a:lnSpc>
              <a:spcBef>
                <a:spcPts val="125"/>
              </a:spcBef>
            </a:pPr>
            <a:r>
              <a:rPr lang="en-GB" spc="680" dirty="0">
                <a:latin typeface="InputMono Light" panose="02000509020000090004" pitchFamily="49" charset="0"/>
              </a:rPr>
              <a:t>ALGORITHM</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177AF0FF-F51E-E79D-9B9F-012D947B4292}"/>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0EF2C310-C80C-007E-1F5F-2951BEA083FD}"/>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57D7DD7C-7B02-EAED-3720-9E4CBB98258D}"/>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sz="4250" spc="-25" dirty="0">
                <a:solidFill>
                  <a:srgbClr val="163794"/>
                </a:solidFill>
                <a:latin typeface="InputMono Light" panose="02000509020000090004" pitchFamily="49" charset="0"/>
                <a:cs typeface="InputMono"/>
              </a:rPr>
              <a:t>0</a:t>
            </a:r>
            <a:r>
              <a:rPr lang="en-GB" sz="4250" spc="-25" dirty="0">
                <a:solidFill>
                  <a:srgbClr val="163794"/>
                </a:solidFill>
                <a:latin typeface="InputMono Light" panose="02000509020000090004" pitchFamily="49" charset="0"/>
                <a:cs typeface="InputMono"/>
              </a:rPr>
              <a:t>8</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4C9A25C2-D83C-17BE-DF56-F47A6CD51396}"/>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mc:AlternateContent xmlns:mc="http://schemas.openxmlformats.org/markup-compatibility/2006">
        <mc:Choice xmlns:a14="http://schemas.microsoft.com/office/drawing/2010/main" Requires="a14">
          <p:sp>
            <p:nvSpPr>
              <p:cNvPr id="9" name="Rectangle 2">
                <a:extLst>
                  <a:ext uri="{FF2B5EF4-FFF2-40B4-BE49-F238E27FC236}">
                    <a16:creationId xmlns:a16="http://schemas.microsoft.com/office/drawing/2014/main" id="{E03D3649-E1DA-1BD1-AE56-5C6DF8F72299}"/>
                  </a:ext>
                </a:extLst>
              </p:cNvPr>
              <p:cNvSpPr txBox="1">
                <a:spLocks noChangeArrowheads="1"/>
              </p:cNvSpPr>
              <p:nvPr/>
            </p:nvSpPr>
            <p:spPr bwMode="auto">
              <a:xfrm>
                <a:off x="910485" y="4399200"/>
                <a:ext cx="8008729" cy="4300712"/>
              </a:xfrm>
              <a:prstGeom prst="rect">
                <a:avLst/>
              </a:prstGeom>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None/>
                </a:pPr>
                <a:r>
                  <a:rPr lang="en-US" altLang="en-US" sz="2400" b="1" dirty="0">
                    <a:solidFill>
                      <a:srgbClr val="163794"/>
                    </a:solidFill>
                    <a:latin typeface="InputMono Light" panose="02000509020000090004" pitchFamily="49" charset="0"/>
                  </a:rPr>
                  <a:t>gradient descent:</a:t>
                </a:r>
              </a:p>
              <a:p>
                <a:pPr marL="0" indent="0" eaLnBrk="0" fontAlgn="base" hangingPunct="0">
                  <a:spcBef>
                    <a:spcPct val="0"/>
                  </a:spcBef>
                  <a:spcAft>
                    <a:spcPts val="600"/>
                  </a:spcAft>
                  <a:buNone/>
                </a:pPr>
                <a:r>
                  <a:rPr lang="en-US" altLang="en-US" sz="2400" dirty="0">
                    <a:solidFill>
                      <a:srgbClr val="163794"/>
                    </a:solidFill>
                    <a:latin typeface="InputMono Light" panose="02000509020000090004" pitchFamily="49" charset="0"/>
                  </a:rPr>
                  <a:t>basically a form of sensitivity analysis. we are asking the math: </a:t>
                </a:r>
              </a:p>
              <a:p>
                <a:pPr marL="0" indent="0" eaLnBrk="0" fontAlgn="base" hangingPunct="0">
                  <a:spcBef>
                    <a:spcPct val="0"/>
                  </a:spcBef>
                  <a:spcAft>
                    <a:spcPts val="600"/>
                  </a:spcAft>
                  <a:buNone/>
                </a:pPr>
                <a:r>
                  <a:rPr lang="en-US" altLang="en-US" sz="2400" i="1" dirty="0">
                    <a:solidFill>
                      <a:srgbClr val="163794"/>
                    </a:solidFill>
                    <a:latin typeface="InputMono Light" panose="02000509020000090004" pitchFamily="49" charset="0"/>
                  </a:rPr>
                  <a:t>how much does the output change if </a:t>
                </a:r>
                <a:r>
                  <a:rPr lang="en-US" altLang="en-US" sz="2400" i="1" dirty="0" err="1">
                    <a:solidFill>
                      <a:srgbClr val="163794"/>
                    </a:solidFill>
                    <a:latin typeface="InputMono Light" panose="02000509020000090004" pitchFamily="49" charset="0"/>
                  </a:rPr>
                  <a:t>i</a:t>
                </a:r>
                <a:r>
                  <a:rPr lang="en-US" altLang="en-US" sz="2400" i="1" dirty="0">
                    <a:solidFill>
                      <a:srgbClr val="163794"/>
                    </a:solidFill>
                    <a:latin typeface="InputMono Light" panose="02000509020000090004" pitchFamily="49" charset="0"/>
                  </a:rPr>
                  <a:t> nudge this parameter?</a:t>
                </a:r>
              </a:p>
              <a:p>
                <a:pPr marL="0" indent="0" eaLnBrk="0" fontAlgn="base" hangingPunct="0">
                  <a:spcBef>
                    <a:spcPct val="0"/>
                  </a:spcBef>
                  <a:spcAft>
                    <a:spcPts val="600"/>
                  </a:spcAft>
                  <a:buNone/>
                </a:pPr>
                <a:endParaRPr lang="en-US" altLang="en-US" sz="2400" dirty="0">
                  <a:solidFill>
                    <a:srgbClr val="163794"/>
                  </a:solidFill>
                  <a:latin typeface="InputMono Light" panose="02000509020000090004" pitchFamily="49" charset="0"/>
                </a:endParaRPr>
              </a:p>
              <a:p>
                <a:pPr marL="0" indent="0" eaLnBrk="0" fontAlgn="base" hangingPunct="0">
                  <a:spcBef>
                    <a:spcPct val="0"/>
                  </a:spcBef>
                  <a:spcAft>
                    <a:spcPts val="600"/>
                  </a:spcAft>
                  <a:buNone/>
                </a:pPr>
                <a:r>
                  <a:rPr lang="en-US" altLang="en-US" sz="2400" dirty="0">
                    <a:solidFill>
                      <a:srgbClr val="163794"/>
                    </a:solidFill>
                    <a:latin typeface="InputMono Light" panose="02000509020000090004" pitchFamily="49" charset="0"/>
                  </a:rPr>
                  <a:t>updates parameters in the direction that most reduces the loss function </a:t>
                </a:r>
              </a:p>
              <a:p>
                <a:pPr marL="0" indent="0" eaLnBrk="0" fontAlgn="base" hangingPunct="0">
                  <a:spcBef>
                    <a:spcPct val="0"/>
                  </a:spcBef>
                  <a:spcAft>
                    <a:spcPts val="600"/>
                  </a:spcAft>
                  <a:buNone/>
                </a:pPr>
                <a:r>
                  <a:rPr lang="en-US" altLang="en-US" sz="2400" dirty="0">
                    <a:solidFill>
                      <a:srgbClr val="163794"/>
                    </a:solidFill>
                    <a:latin typeface="InputMono Light" panose="02000509020000090004" pitchFamily="49" charset="0"/>
                  </a:rPr>
                  <a:t>(where </a:t>
                </a:r>
                <a14:m>
                  <m:oMath xmlns:m="http://schemas.openxmlformats.org/officeDocument/2006/math">
                    <m:r>
                      <a:rPr lang="en-US" altLang="en-US" sz="2400" i="1" dirty="0" smtClean="0">
                        <a:solidFill>
                          <a:srgbClr val="163794"/>
                        </a:solidFill>
                        <a:latin typeface="Cambria Math" panose="02040503050406030204" pitchFamily="18" charset="0"/>
                      </a:rPr>
                      <m:t>𝜂</m:t>
                    </m:r>
                    <m:r>
                      <a:rPr lang="en-US" altLang="en-US" sz="2400" i="1" dirty="0" smtClean="0">
                        <a:solidFill>
                          <a:srgbClr val="163794"/>
                        </a:solidFill>
                        <a:latin typeface="Cambria Math" panose="02040503050406030204" pitchFamily="18" charset="0"/>
                      </a:rPr>
                      <m:t> </m:t>
                    </m:r>
                  </m:oMath>
                </a14:m>
                <a:r>
                  <a:rPr lang="en-US" altLang="en-US" sz="2400" dirty="0">
                    <a:solidFill>
                      <a:srgbClr val="163794"/>
                    </a:solidFill>
                    <a:latin typeface="InputMono Light" panose="02000509020000090004" pitchFamily="49" charset="0"/>
                  </a:rPr>
                  <a:t> is the learning rate).</a:t>
                </a:r>
              </a:p>
            </p:txBody>
          </p:sp>
        </mc:Choice>
        <mc:Fallback>
          <p:sp>
            <p:nvSpPr>
              <p:cNvPr id="9" name="Rectangle 2">
                <a:extLst>
                  <a:ext uri="{FF2B5EF4-FFF2-40B4-BE49-F238E27FC236}">
                    <a16:creationId xmlns:a16="http://schemas.microsoft.com/office/drawing/2014/main" id="{E03D3649-E1DA-1BD1-AE56-5C6DF8F72299}"/>
                  </a:ext>
                </a:extLst>
              </p:cNvPr>
              <p:cNvSpPr txBox="1">
                <a:spLocks noRot="1" noChangeAspect="1" noMove="1" noResize="1" noEditPoints="1" noAdjustHandles="1" noChangeArrowheads="1" noChangeShapeType="1" noTextEdit="1"/>
              </p:cNvSpPr>
              <p:nvPr/>
            </p:nvSpPr>
            <p:spPr bwMode="auto">
              <a:xfrm>
                <a:off x="910485" y="4399200"/>
                <a:ext cx="8008729" cy="4300712"/>
              </a:xfrm>
              <a:prstGeom prst="rect">
                <a:avLst/>
              </a:prstGeom>
              <a:blipFill>
                <a:blip r:embed="rId3"/>
                <a:stretch>
                  <a:fillRect l="-1108" r="-2690" b="-5605"/>
                </a:stretch>
              </a:blip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3CC7EC7-22FF-E51D-6196-07248C2B887F}"/>
                  </a:ext>
                </a:extLst>
              </p:cNvPr>
              <p:cNvSpPr txBox="1"/>
              <p:nvPr/>
            </p:nvSpPr>
            <p:spPr>
              <a:xfrm>
                <a:off x="-1987550" y="8969332"/>
                <a:ext cx="10049772" cy="1028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163794"/>
                              </a:solidFill>
                              <a:latin typeface="Cambria Math" panose="02040503050406030204" pitchFamily="18" charset="0"/>
                            </a:rPr>
                          </m:ctrlPr>
                        </m:sSubPr>
                        <m:e>
                          <m:r>
                            <a:rPr lang="en-US" sz="3200" i="1">
                              <a:solidFill>
                                <a:srgbClr val="163794"/>
                              </a:solidFill>
                              <a:latin typeface="Cambria Math" panose="02040503050406030204" pitchFamily="18" charset="0"/>
                            </a:rPr>
                            <m:t>𝑤</m:t>
                          </m:r>
                        </m:e>
                        <m:sub>
                          <m:r>
                            <a:rPr lang="en-US" sz="3200" i="1">
                              <a:solidFill>
                                <a:srgbClr val="163794"/>
                              </a:solidFill>
                              <a:latin typeface="Cambria Math" panose="02040503050406030204" pitchFamily="18" charset="0"/>
                            </a:rPr>
                            <m:t>𝑛𝑒𝑤</m:t>
                          </m:r>
                        </m:sub>
                      </m:sSub>
                      <m:r>
                        <a:rPr lang="en-US" sz="3200" i="1">
                          <a:solidFill>
                            <a:srgbClr val="163794"/>
                          </a:solidFill>
                          <a:latin typeface="Cambria Math" panose="02040503050406030204" pitchFamily="18" charset="0"/>
                        </a:rPr>
                        <m:t>=</m:t>
                      </m:r>
                      <m:sSub>
                        <m:sSubPr>
                          <m:ctrlPr>
                            <a:rPr lang="en-US" sz="3200" i="1">
                              <a:solidFill>
                                <a:srgbClr val="163794"/>
                              </a:solidFill>
                              <a:latin typeface="Cambria Math" panose="02040503050406030204" pitchFamily="18" charset="0"/>
                            </a:rPr>
                          </m:ctrlPr>
                        </m:sSubPr>
                        <m:e>
                          <m:r>
                            <a:rPr lang="en-US" sz="3200" i="1">
                              <a:solidFill>
                                <a:srgbClr val="163794"/>
                              </a:solidFill>
                              <a:latin typeface="Cambria Math" panose="02040503050406030204" pitchFamily="18" charset="0"/>
                            </a:rPr>
                            <m:t>𝑤</m:t>
                          </m:r>
                        </m:e>
                        <m:sub>
                          <m:r>
                            <a:rPr lang="en-US" sz="3200" i="1">
                              <a:solidFill>
                                <a:srgbClr val="163794"/>
                              </a:solidFill>
                              <a:latin typeface="Cambria Math" panose="02040503050406030204" pitchFamily="18" charset="0"/>
                            </a:rPr>
                            <m:t>𝑜𝑙𝑑</m:t>
                          </m:r>
                        </m:sub>
                      </m:sSub>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𝜂</m:t>
                      </m:r>
                      <m:f>
                        <m:fPr>
                          <m:ctrlPr>
                            <a:rPr lang="en-US" sz="3200" i="1">
                              <a:solidFill>
                                <a:srgbClr val="163794"/>
                              </a:solidFill>
                              <a:latin typeface="Cambria Math" panose="02040503050406030204" pitchFamily="18" charset="0"/>
                            </a:rPr>
                          </m:ctrlPr>
                        </m:fPr>
                        <m:num>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𝐿</m:t>
                          </m:r>
                        </m:num>
                        <m:den>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𝑤</m:t>
                          </m:r>
                        </m:den>
                      </m:f>
                    </m:oMath>
                  </m:oMathPara>
                </a14:m>
                <a:endParaRPr lang="en-US" sz="3200" dirty="0">
                  <a:solidFill>
                    <a:srgbClr val="163794"/>
                  </a:solidFill>
                </a:endParaRPr>
              </a:p>
            </p:txBody>
          </p:sp>
        </mc:Choice>
        <mc:Fallback>
          <p:sp>
            <p:nvSpPr>
              <p:cNvPr id="6" name="TextBox 5">
                <a:extLst>
                  <a:ext uri="{FF2B5EF4-FFF2-40B4-BE49-F238E27FC236}">
                    <a16:creationId xmlns:a16="http://schemas.microsoft.com/office/drawing/2014/main" id="{33CC7EC7-22FF-E51D-6196-07248C2B887F}"/>
                  </a:ext>
                </a:extLst>
              </p:cNvPr>
              <p:cNvSpPr txBox="1">
                <a:spLocks noRot="1" noChangeAspect="1" noMove="1" noResize="1" noEditPoints="1" noAdjustHandles="1" noChangeArrowheads="1" noChangeShapeType="1" noTextEdit="1"/>
              </p:cNvSpPr>
              <p:nvPr/>
            </p:nvSpPr>
            <p:spPr>
              <a:xfrm>
                <a:off x="-1987550" y="8969332"/>
                <a:ext cx="10049772" cy="1028743"/>
              </a:xfrm>
              <a:prstGeom prst="rect">
                <a:avLst/>
              </a:prstGeom>
              <a:blipFill>
                <a:blip r:embed="rId4"/>
                <a:stretch>
                  <a:fillRect b="-73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112E10F-9311-4399-71B8-54816E5E2CC0}"/>
                  </a:ext>
                </a:extLst>
              </p:cNvPr>
              <p:cNvSpPr txBox="1"/>
              <p:nvPr/>
            </p:nvSpPr>
            <p:spPr>
              <a:xfrm>
                <a:off x="2177099" y="8969267"/>
                <a:ext cx="10817524" cy="10287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163794"/>
                              </a:solidFill>
                              <a:latin typeface="Cambria Math" panose="02040503050406030204" pitchFamily="18" charset="0"/>
                            </a:rPr>
                          </m:ctrlPr>
                        </m:sSubPr>
                        <m:e>
                          <m:r>
                            <a:rPr lang="en-US" sz="3200" i="1">
                              <a:solidFill>
                                <a:srgbClr val="163794"/>
                              </a:solidFill>
                              <a:latin typeface="Cambria Math" panose="02040503050406030204" pitchFamily="18" charset="0"/>
                            </a:rPr>
                            <m:t>𝑏</m:t>
                          </m:r>
                        </m:e>
                        <m:sub>
                          <m:r>
                            <a:rPr lang="en-US" sz="3200" i="1">
                              <a:solidFill>
                                <a:srgbClr val="163794"/>
                              </a:solidFill>
                              <a:latin typeface="Cambria Math" panose="02040503050406030204" pitchFamily="18" charset="0"/>
                            </a:rPr>
                            <m:t>𝑛𝑒𝑤</m:t>
                          </m:r>
                        </m:sub>
                      </m:sSub>
                      <m:r>
                        <a:rPr lang="en-US" sz="3200" i="1">
                          <a:solidFill>
                            <a:srgbClr val="163794"/>
                          </a:solidFill>
                          <a:latin typeface="Cambria Math" panose="02040503050406030204" pitchFamily="18" charset="0"/>
                        </a:rPr>
                        <m:t>=</m:t>
                      </m:r>
                      <m:sSub>
                        <m:sSubPr>
                          <m:ctrlPr>
                            <a:rPr lang="en-US" sz="3200" i="1">
                              <a:solidFill>
                                <a:srgbClr val="163794"/>
                              </a:solidFill>
                              <a:latin typeface="Cambria Math" panose="02040503050406030204" pitchFamily="18" charset="0"/>
                            </a:rPr>
                          </m:ctrlPr>
                        </m:sSubPr>
                        <m:e>
                          <m:r>
                            <a:rPr lang="en-US" sz="3200" i="1">
                              <a:solidFill>
                                <a:srgbClr val="163794"/>
                              </a:solidFill>
                              <a:latin typeface="Cambria Math" panose="02040503050406030204" pitchFamily="18" charset="0"/>
                            </a:rPr>
                            <m:t>𝑏</m:t>
                          </m:r>
                        </m:e>
                        <m:sub>
                          <m:r>
                            <a:rPr lang="en-US" sz="3200" i="1">
                              <a:solidFill>
                                <a:srgbClr val="163794"/>
                              </a:solidFill>
                              <a:latin typeface="Cambria Math" panose="02040503050406030204" pitchFamily="18" charset="0"/>
                            </a:rPr>
                            <m:t>𝑜𝑙𝑑</m:t>
                          </m:r>
                        </m:sub>
                      </m:sSub>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𝜂</m:t>
                      </m:r>
                      <m:f>
                        <m:fPr>
                          <m:ctrlPr>
                            <a:rPr lang="en-US" sz="3200" i="1">
                              <a:solidFill>
                                <a:srgbClr val="163794"/>
                              </a:solidFill>
                              <a:latin typeface="Cambria Math" panose="02040503050406030204" pitchFamily="18" charset="0"/>
                            </a:rPr>
                          </m:ctrlPr>
                        </m:fPr>
                        <m:num>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𝐿</m:t>
                          </m:r>
                        </m:num>
                        <m:den>
                          <m:r>
                            <a:rPr lang="en-US" sz="3200" i="1">
                              <a:solidFill>
                                <a:srgbClr val="163794"/>
                              </a:solidFill>
                              <a:latin typeface="Cambria Math" panose="02040503050406030204" pitchFamily="18" charset="0"/>
                            </a:rPr>
                            <m:t>𝜕</m:t>
                          </m:r>
                          <m:r>
                            <a:rPr lang="en-US" sz="3200" i="1">
                              <a:solidFill>
                                <a:srgbClr val="163794"/>
                              </a:solidFill>
                              <a:latin typeface="Cambria Math" panose="02040503050406030204" pitchFamily="18" charset="0"/>
                            </a:rPr>
                            <m:t>𝑏</m:t>
                          </m:r>
                        </m:den>
                      </m:f>
                    </m:oMath>
                  </m:oMathPara>
                </a14:m>
                <a:endParaRPr lang="en-US" sz="3200" dirty="0">
                  <a:solidFill>
                    <a:srgbClr val="163794"/>
                  </a:solidFill>
                </a:endParaRPr>
              </a:p>
            </p:txBody>
          </p:sp>
        </mc:Choice>
        <mc:Fallback>
          <p:sp>
            <p:nvSpPr>
              <p:cNvPr id="10" name="TextBox 9">
                <a:extLst>
                  <a:ext uri="{FF2B5EF4-FFF2-40B4-BE49-F238E27FC236}">
                    <a16:creationId xmlns:a16="http://schemas.microsoft.com/office/drawing/2014/main" id="{A112E10F-9311-4399-71B8-54816E5E2CC0}"/>
                  </a:ext>
                </a:extLst>
              </p:cNvPr>
              <p:cNvSpPr txBox="1">
                <a:spLocks noRot="1" noChangeAspect="1" noMove="1" noResize="1" noEditPoints="1" noAdjustHandles="1" noChangeArrowheads="1" noChangeShapeType="1" noTextEdit="1"/>
              </p:cNvSpPr>
              <p:nvPr/>
            </p:nvSpPr>
            <p:spPr>
              <a:xfrm>
                <a:off x="2177099" y="8969267"/>
                <a:ext cx="10817524" cy="1028743"/>
              </a:xfrm>
              <a:prstGeom prst="rect">
                <a:avLst/>
              </a:prstGeom>
              <a:blipFill>
                <a:blip r:embed="rId5"/>
                <a:stretch>
                  <a:fillRect b="-7317"/>
                </a:stretch>
              </a:blipFill>
            </p:spPr>
            <p:txBody>
              <a:bodyPr/>
              <a:lstStyle/>
              <a:p>
                <a:r>
                  <a:rPr lang="en-US">
                    <a:noFill/>
                  </a:rPr>
                  <a:t> </a:t>
                </a:r>
              </a:p>
            </p:txBody>
          </p:sp>
        </mc:Fallback>
      </mc:AlternateContent>
      <p:pic>
        <p:nvPicPr>
          <p:cNvPr id="2" name="Picture 1" descr="A screenshot of a computer program&#10;&#10;AI-generated content may be incorrect.">
            <a:extLst>
              <a:ext uri="{FF2B5EF4-FFF2-40B4-BE49-F238E27FC236}">
                <a16:creationId xmlns:a16="http://schemas.microsoft.com/office/drawing/2014/main" id="{AB70BEA9-FB69-4EA6-20BB-E262FA3495EA}"/>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974" b="89898" l="8931" r="90000">
                        <a14:foregroundMark x1="43359" y1="52046" x2="56489" y2="34655"/>
                        <a14:foregroundMark x1="56489" y1="34655" x2="44198" y2="48849"/>
                        <a14:foregroundMark x1="44198" y1="48849" x2="59313" y2="41944"/>
                        <a14:foregroundMark x1="59313" y1="41944" x2="51679" y2="49744"/>
                        <a14:foregroundMark x1="51679" y1="49744" x2="86794" y2="71228"/>
                        <a14:foregroundMark x1="86794" y1="71228" x2="83817" y2="24552"/>
                        <a14:foregroundMark x1="83817" y1="24552" x2="16718" y2="21228"/>
                        <a14:foregroundMark x1="16718" y1="21228" x2="13282" y2="26598"/>
                        <a14:foregroundMark x1="13282" y1="26598" x2="15344" y2="62276"/>
                        <a14:foregroundMark x1="15344" y1="62276" x2="16489" y2="70972"/>
                        <a14:foregroundMark x1="16489" y1="70972" x2="24427" y2="78645"/>
                        <a14:foregroundMark x1="24427" y1="78645" x2="67023" y2="83504"/>
                        <a14:foregroundMark x1="67023" y1="83504" x2="81527" y2="82353"/>
                        <a14:foregroundMark x1="81527" y1="82353" x2="84504" y2="76343"/>
                        <a14:foregroundMark x1="84504" y1="76343" x2="84733" y2="74552"/>
                        <a14:foregroundMark x1="10687" y1="20205" x2="12595" y2="68031"/>
                        <a14:foregroundMark x1="12595" y1="68031" x2="14885" y2="76471"/>
                        <a14:foregroundMark x1="14885" y1="76471" x2="24122" y2="80563"/>
                        <a14:foregroundMark x1="24122" y1="80563" x2="24809" y2="81330"/>
                        <a14:foregroundMark x1="32061" y1="67903" x2="36489" y2="46036"/>
                        <a14:foregroundMark x1="36489" y1="46036" x2="45267" y2="32864"/>
                        <a14:foregroundMark x1="45267" y1="32864" x2="65954" y2="27238"/>
                        <a14:foregroundMark x1="65954" y1="27238" x2="70534" y2="27749"/>
                        <a14:foregroundMark x1="70534" y1="27749" x2="77939" y2="39770"/>
                        <a14:foregroundMark x1="77939" y1="39770" x2="81679" y2="49488"/>
                        <a14:foregroundMark x1="81679" y1="49488" x2="87099" y2="79284"/>
                        <a14:foregroundMark x1="88092" y1="76854" x2="83588" y2="24169"/>
                        <a14:foregroundMark x1="83588" y1="24169" x2="21527" y2="22123"/>
                        <a14:foregroundMark x1="21527" y1="22123" x2="14809" y2="27494"/>
                        <a14:foregroundMark x1="14809" y1="27494" x2="12672" y2="38747"/>
                        <a14:foregroundMark x1="12672" y1="38747" x2="13969" y2="47315"/>
                        <a14:foregroundMark x1="17634" y1="53197" x2="39618" y2="32609"/>
                        <a14:foregroundMark x1="39618" y1="32609" x2="53282" y2="29412"/>
                        <a14:foregroundMark x1="53282" y1="29412" x2="53282" y2="29412"/>
                        <a14:foregroundMark x1="17939" y1="20205" x2="16031" y2="17903"/>
                        <a14:foregroundMark x1="89924" y1="24425" x2="89924" y2="60997"/>
                        <a14:backgroundMark x1="8473" y1="20205" x2="8473" y2="20205"/>
                      </a14:backgroundRemoval>
                    </a14:imgEffect>
                  </a14:imgLayer>
                </a14:imgProps>
              </a:ext>
            </a:extLst>
          </a:blip>
          <a:srcRect l="8484"/>
          <a:stretch>
            <a:fillRect/>
          </a:stretch>
        </p:blipFill>
        <p:spPr>
          <a:xfrm>
            <a:off x="10509250" y="3191600"/>
            <a:ext cx="10295992" cy="6715912"/>
          </a:xfrm>
          <a:prstGeom prst="rect">
            <a:avLst/>
          </a:prstGeom>
        </p:spPr>
      </p:pic>
    </p:spTree>
    <p:extLst>
      <p:ext uri="{BB962C8B-B14F-4D97-AF65-F5344CB8AC3E}">
        <p14:creationId xmlns:p14="http://schemas.microsoft.com/office/powerpoint/2010/main" val="127512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F7794-3B21-9623-3ABC-11E4CAB5F680}"/>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DA36CC2D-EC57-2CDC-6397-EE9D6B3D3193}"/>
              </a:ext>
            </a:extLst>
          </p:cNvPr>
          <p:cNvSpPr txBox="1">
            <a:spLocks noGrp="1"/>
          </p:cNvSpPr>
          <p:nvPr>
            <p:ph type="body" idx="1"/>
          </p:nvPr>
        </p:nvSpPr>
        <p:spPr>
          <a:xfrm>
            <a:off x="755650" y="1118242"/>
            <a:ext cx="8008728" cy="3011725"/>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PYTORCH RECIPE</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C393C4E6-5CB5-B73C-4F5C-65260F46FB4D}"/>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013CAE9F-C13D-88C2-29E2-EF863E040880}"/>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8D148778-41EB-8935-F1F0-3B9766FE33C0}"/>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lang="en-GB" sz="4250" spc="-25" dirty="0">
                <a:solidFill>
                  <a:srgbClr val="163794"/>
                </a:solidFill>
                <a:latin typeface="InputMono Light" panose="02000509020000090004" pitchFamily="49" charset="0"/>
                <a:cs typeface="InputMono"/>
              </a:rPr>
              <a:t>09</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1D3B168C-65D4-09FB-F6C9-F9D1A1CFBB23}"/>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mc:AlternateContent xmlns:mc="http://schemas.openxmlformats.org/markup-compatibility/2006">
        <mc:Choice xmlns:a14="http://schemas.microsoft.com/office/drawing/2010/main" Requires="a14">
          <p:sp>
            <p:nvSpPr>
              <p:cNvPr id="9" name="Rectangle 2">
                <a:extLst>
                  <a:ext uri="{FF2B5EF4-FFF2-40B4-BE49-F238E27FC236}">
                    <a16:creationId xmlns:a16="http://schemas.microsoft.com/office/drawing/2014/main" id="{0A41E75A-A152-906B-C00F-D3B956D35F53}"/>
                  </a:ext>
                </a:extLst>
              </p:cNvPr>
              <p:cNvSpPr txBox="1">
                <a:spLocks noChangeArrowheads="1"/>
              </p:cNvSpPr>
              <p:nvPr/>
            </p:nvSpPr>
            <p:spPr bwMode="auto">
              <a:xfrm>
                <a:off x="7004050" y="1302250"/>
                <a:ext cx="12721584" cy="5791908"/>
              </a:xfrm>
              <a:prstGeom prst="rect">
                <a:avLst/>
              </a:prstGeom>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moving beyond manual math: </a:t>
                </a:r>
              </a:p>
              <a:p>
                <a:pPr marL="0" indent="0" eaLnBrk="0" fontAlgn="base" hangingPunct="0">
                  <a:spcBef>
                    <a:spcPct val="0"/>
                  </a:spcBef>
                  <a:spcAft>
                    <a:spcPts val="600"/>
                  </a:spcAft>
                  <a:buNone/>
                </a:pPr>
                <a:r>
                  <a:rPr lang="en-US" altLang="en-US" dirty="0" err="1">
                    <a:solidFill>
                      <a:srgbClr val="EE4C2C"/>
                    </a:solidFill>
                    <a:latin typeface="InputMono Light" panose="02000509020000090004" pitchFamily="49" charset="0"/>
                  </a:rPr>
                  <a:t>torch.nn.Linear</a:t>
                </a:r>
                <a:r>
                  <a:rPr lang="en-US" altLang="en-US" dirty="0">
                    <a:solidFill>
                      <a:srgbClr val="EE4C2C"/>
                    </a:solidFill>
                    <a:latin typeface="InputMono Light" panose="02000509020000090004" pitchFamily="49" charset="0"/>
                  </a:rPr>
                  <a:t>(</a:t>
                </a:r>
                <a:r>
                  <a:rPr lang="en-US" altLang="en-US" dirty="0" err="1">
                    <a:solidFill>
                      <a:srgbClr val="EE4C2C"/>
                    </a:solidFill>
                    <a:latin typeface="InputMono Light" panose="02000509020000090004" pitchFamily="49" charset="0"/>
                  </a:rPr>
                  <a:t>in_features</a:t>
                </a:r>
                <a:r>
                  <a:rPr lang="en-US" altLang="en-US" dirty="0">
                    <a:solidFill>
                      <a:srgbClr val="EE4C2C"/>
                    </a:solidFill>
                    <a:latin typeface="InputMono Light" panose="02000509020000090004" pitchFamily="49" charset="0"/>
                  </a:rPr>
                  <a:t>, </a:t>
                </a:r>
                <a:r>
                  <a:rPr lang="en-US" altLang="en-US" dirty="0" err="1">
                    <a:solidFill>
                      <a:srgbClr val="EE4C2C"/>
                    </a:solidFill>
                    <a:latin typeface="InputMono Light" panose="02000509020000090004" pitchFamily="49" charset="0"/>
                  </a:rPr>
                  <a:t>out_features</a:t>
                </a:r>
                <a:r>
                  <a:rPr lang="en-US" altLang="en-US" dirty="0">
                    <a:solidFill>
                      <a:srgbClr val="EE4C2C"/>
                    </a:solidFill>
                    <a:latin typeface="InputMono Light" panose="02000509020000090004" pitchFamily="49" charset="0"/>
                  </a:rPr>
                  <a:t>)</a:t>
                </a:r>
                <a:r>
                  <a:rPr lang="en-US" altLang="en-US" dirty="0">
                    <a:solidFill>
                      <a:srgbClr val="163794"/>
                    </a:solidFill>
                    <a:latin typeface="InputMono Light" panose="02000509020000090004" pitchFamily="49" charset="0"/>
                  </a:rPr>
                  <a:t> replaces manual matrix multiplication. it implements the linear transformation</a:t>
                </a:r>
                <a14:m>
                  <m:oMath xmlns:m="http://schemas.openxmlformats.org/officeDocument/2006/math">
                    <m:r>
                      <a:rPr lang="en-GB" altLang="en-US" b="0" i="1" dirty="0" smtClean="0">
                        <a:solidFill>
                          <a:srgbClr val="163794"/>
                        </a:solidFill>
                        <a:latin typeface="Cambria Math" panose="02040503050406030204" pitchFamily="18" charset="0"/>
                      </a:rPr>
                      <m:t> </m:t>
                    </m:r>
                  </m:oMath>
                </a14:m>
                <a:r>
                  <a:rPr lang="en-US" altLang="en-US" dirty="0">
                    <a:solidFill>
                      <a:srgbClr val="163794"/>
                    </a:solidFill>
                    <a:latin typeface="InputMono Light" panose="02000509020000090004" pitchFamily="49" charset="0"/>
                  </a:rPr>
                  <a:t>and manages the learnable weights and biases automatically.</a:t>
                </a:r>
              </a:p>
              <a:p>
                <a:pPr mar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benefits of using </a:t>
                </a:r>
                <a:r>
                  <a:rPr lang="en-US" altLang="en-US" b="1" dirty="0" err="1">
                    <a:solidFill>
                      <a:srgbClr val="163794"/>
                    </a:solidFill>
                    <a:latin typeface="InputMono Light" panose="02000509020000090004" pitchFamily="49" charset="0"/>
                  </a:rPr>
                  <a:t>pytorch</a:t>
                </a:r>
                <a:r>
                  <a:rPr lang="en-US" altLang="en-US" b="1" dirty="0">
                    <a:solidFill>
                      <a:srgbClr val="163794"/>
                    </a:solidFill>
                    <a:latin typeface="InputMono Light" panose="02000509020000090004" pitchFamily="49" charset="0"/>
                  </a:rPr>
                  <a:t> modules:</a:t>
                </a:r>
              </a:p>
              <a:p>
                <a:pPr marL="457200" indent="-457200" eaLnBrk="0" fontAlgn="base" hangingPunct="0">
                  <a:spcBef>
                    <a:spcPct val="0"/>
                  </a:spcBef>
                  <a:spcAft>
                    <a:spcPts val="600"/>
                  </a:spcAft>
                  <a:buFont typeface="+mj-lt"/>
                  <a:buAutoNum type="arabicPeriod"/>
                </a:pPr>
                <a:r>
                  <a:rPr lang="en-US" altLang="en-US" b="1" dirty="0">
                    <a:solidFill>
                      <a:srgbClr val="163794"/>
                    </a:solidFill>
                    <a:latin typeface="InputMono Light" panose="02000509020000090004" pitchFamily="49" charset="0"/>
                  </a:rPr>
                  <a:t>automatic parameter management </a:t>
                </a:r>
                <a:r>
                  <a:rPr lang="en-US" altLang="en-US" dirty="0">
                    <a:solidFill>
                      <a:srgbClr val="163794"/>
                    </a:solidFill>
                    <a:latin typeface="InputMono Light" panose="02000509020000090004" pitchFamily="49" charset="0"/>
                  </a:rPr>
                  <a:t>(no need to manually initialize matrices)</a:t>
                </a:r>
              </a:p>
              <a:p>
                <a:pPr marL="457200" indent="-457200" eaLnBrk="0" fontAlgn="base" hangingPunct="0">
                  <a:spcBef>
                    <a:spcPct val="0"/>
                  </a:spcBef>
                  <a:spcAft>
                    <a:spcPts val="600"/>
                  </a:spcAft>
                  <a:buFont typeface="+mj-lt"/>
                  <a:buAutoNum type="arabicPeriod"/>
                </a:pPr>
                <a:r>
                  <a:rPr lang="en-US" altLang="en-US" b="1" dirty="0">
                    <a:solidFill>
                      <a:srgbClr val="163794"/>
                    </a:solidFill>
                    <a:latin typeface="InputMono Light" panose="02000509020000090004" pitchFamily="49" charset="0"/>
                  </a:rPr>
                  <a:t>gpu compatibility (seamlessly </a:t>
                </a:r>
                <a:r>
                  <a:rPr lang="en-US" altLang="en-US" dirty="0">
                    <a:solidFill>
                      <a:srgbClr val="163794"/>
                    </a:solidFill>
                    <a:latin typeface="InputMono Light" panose="02000509020000090004" pitchFamily="49" charset="0"/>
                  </a:rPr>
                  <a:t>move data to gpu with </a:t>
                </a:r>
                <a:r>
                  <a:rPr lang="en-US" altLang="en-US" dirty="0">
                    <a:solidFill>
                      <a:srgbClr val="EE4C2C"/>
                    </a:solidFill>
                    <a:latin typeface="InputMono Light" panose="02000509020000090004" pitchFamily="49" charset="0"/>
                  </a:rPr>
                  <a:t>.to('</a:t>
                </a:r>
                <a:r>
                  <a:rPr lang="en-US" altLang="en-US" dirty="0" err="1">
                    <a:solidFill>
                      <a:srgbClr val="EE4C2C"/>
                    </a:solidFill>
                    <a:latin typeface="InputMono Light" panose="02000509020000090004" pitchFamily="49" charset="0"/>
                  </a:rPr>
                  <a:t>cuda</a:t>
                </a:r>
                <a:r>
                  <a:rPr lang="en-US" altLang="en-US" dirty="0">
                    <a:solidFill>
                      <a:srgbClr val="EE4C2C"/>
                    </a:solidFill>
                    <a:latin typeface="InputMono Light" panose="02000509020000090004" pitchFamily="49" charset="0"/>
                  </a:rPr>
                  <a:t>')</a:t>
                </a:r>
                <a:r>
                  <a:rPr lang="en-US" altLang="en-US" dirty="0">
                    <a:solidFill>
                      <a:srgbClr val="163794"/>
                    </a:solidFill>
                    <a:latin typeface="InputMono Light" panose="02000509020000090004" pitchFamily="49" charset="0"/>
                  </a:rPr>
                  <a:t>)</a:t>
                </a:r>
              </a:p>
              <a:p>
                <a:pPr marL="457200" indent="-457200" eaLnBrk="0" fontAlgn="base" hangingPunct="0">
                  <a:spcBef>
                    <a:spcPct val="0"/>
                  </a:spcBef>
                  <a:spcAft>
                    <a:spcPts val="600"/>
                  </a:spcAft>
                  <a:buFont typeface="+mj-lt"/>
                  <a:buAutoNum type="arabicPeriod"/>
                </a:pPr>
                <a:r>
                  <a:rPr lang="en-US" altLang="en-US" b="1" dirty="0">
                    <a:solidFill>
                      <a:srgbClr val="163794"/>
                    </a:solidFill>
                    <a:latin typeface="InputMono Light" panose="02000509020000090004" pitchFamily="49" charset="0"/>
                  </a:rPr>
                  <a:t>integration with optimizers </a:t>
                </a:r>
                <a:r>
                  <a:rPr lang="en-US" altLang="en-US" dirty="0">
                    <a:solidFill>
                      <a:srgbClr val="163794"/>
                    </a:solidFill>
                    <a:latin typeface="InputMono Light" panose="02000509020000090004" pitchFamily="49" charset="0"/>
                  </a:rPr>
                  <a:t>(works perfectly with </a:t>
                </a:r>
                <a:r>
                  <a:rPr lang="en-US" altLang="en-US" dirty="0" err="1">
                    <a:solidFill>
                      <a:srgbClr val="EE4C2C"/>
                    </a:solidFill>
                    <a:latin typeface="InputMono Light" panose="02000509020000090004" pitchFamily="49" charset="0"/>
                  </a:rPr>
                  <a:t>torch.optim</a:t>
                </a:r>
                <a:r>
                  <a:rPr lang="en-US" altLang="en-US" dirty="0">
                    <a:solidFill>
                      <a:srgbClr val="163794"/>
                    </a:solidFill>
                    <a:latin typeface="InputMono Light" panose="02000509020000090004" pitchFamily="49" charset="0"/>
                  </a:rPr>
                  <a:t>)</a:t>
                </a:r>
              </a:p>
              <a:p>
                <a:pPr marL="457200" indent="-457200" eaLnBrk="0" fontAlgn="base" hangingPunct="0">
                  <a:spcBef>
                    <a:spcPct val="0"/>
                  </a:spcBef>
                  <a:spcAft>
                    <a:spcPts val="600"/>
                  </a:spcAft>
                  <a:buFont typeface="+mj-lt"/>
                  <a:buAutoNum type="arabicPeriod"/>
                </a:pPr>
                <a:r>
                  <a:rPr lang="en-US" altLang="en-US" b="1" dirty="0">
                    <a:solidFill>
                      <a:srgbClr val="163794"/>
                    </a:solidFill>
                    <a:latin typeface="InputMono Light" panose="02000509020000090004" pitchFamily="49" charset="0"/>
                  </a:rPr>
                  <a:t>standard interface </a:t>
                </a:r>
                <a:r>
                  <a:rPr lang="en-US" altLang="en-US" dirty="0">
                    <a:solidFill>
                      <a:srgbClr val="163794"/>
                    </a:solidFill>
                    <a:latin typeface="InputMono Light" panose="02000509020000090004" pitchFamily="49" charset="0"/>
                  </a:rPr>
                  <a:t>(follows the </a:t>
                </a:r>
                <a:r>
                  <a:rPr lang="en-US" altLang="en-US" dirty="0" err="1">
                    <a:solidFill>
                      <a:srgbClr val="EE4C2C"/>
                    </a:solidFill>
                    <a:latin typeface="InputMono Light" panose="02000509020000090004" pitchFamily="49" charset="0"/>
                  </a:rPr>
                  <a:t>nn.module</a:t>
                </a:r>
                <a:r>
                  <a:rPr lang="en-US" altLang="en-US" dirty="0">
                    <a:solidFill>
                      <a:srgbClr val="163794"/>
                    </a:solidFill>
                    <a:latin typeface="InputMono Light" panose="02000509020000090004" pitchFamily="49" charset="0"/>
                  </a:rPr>
                  <a:t> pattern used in all ai research)</a:t>
                </a:r>
                <a:endParaRPr lang="en-US" altLang="en-US" dirty="0">
                  <a:solidFill>
                    <a:srgbClr val="EE4C2C"/>
                  </a:solidFill>
                  <a:latin typeface="InputMono Light" panose="02000509020000090004" pitchFamily="49" charset="0"/>
                </a:endParaRPr>
              </a:p>
            </p:txBody>
          </p:sp>
        </mc:Choice>
        <mc:Fallback>
          <p:sp>
            <p:nvSpPr>
              <p:cNvPr id="9" name="Rectangle 2">
                <a:extLst>
                  <a:ext uri="{FF2B5EF4-FFF2-40B4-BE49-F238E27FC236}">
                    <a16:creationId xmlns:a16="http://schemas.microsoft.com/office/drawing/2014/main" id="{0A41E75A-A152-906B-C00F-D3B956D35F53}"/>
                  </a:ext>
                </a:extLst>
              </p:cNvPr>
              <p:cNvSpPr txBox="1">
                <a:spLocks noRot="1" noChangeAspect="1" noMove="1" noResize="1" noEditPoints="1" noAdjustHandles="1" noChangeArrowheads="1" noChangeShapeType="1" noTextEdit="1"/>
              </p:cNvSpPr>
              <p:nvPr/>
            </p:nvSpPr>
            <p:spPr bwMode="auto">
              <a:xfrm>
                <a:off x="7004050" y="1302250"/>
                <a:ext cx="12721584" cy="5791908"/>
              </a:xfrm>
              <a:prstGeom prst="rect">
                <a:avLst/>
              </a:prstGeom>
              <a:blipFill>
                <a:blip r:embed="rId3"/>
                <a:stretch>
                  <a:fillRect l="-499"/>
                </a:stretch>
              </a:blip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7" name="Picture 6">
            <a:extLst>
              <a:ext uri="{FF2B5EF4-FFF2-40B4-BE49-F238E27FC236}">
                <a16:creationId xmlns:a16="http://schemas.microsoft.com/office/drawing/2014/main" id="{B129919D-C84F-97E5-A78A-DF8763CDAE86}"/>
              </a:ext>
            </a:extLst>
          </p:cNvPr>
          <p:cNvPicPr>
            <a:picLocks noChangeAspect="1"/>
          </p:cNvPicPr>
          <p:nvPr/>
        </p:nvPicPr>
        <p:blipFill>
          <a:blip r:embed="rId4"/>
          <a:stretch>
            <a:fillRect/>
          </a:stretch>
        </p:blipFill>
        <p:spPr>
          <a:xfrm>
            <a:off x="3635168" y="4892675"/>
            <a:ext cx="13398286" cy="6738136"/>
          </a:xfrm>
          <a:prstGeom prst="rect">
            <a:avLst/>
          </a:prstGeom>
        </p:spPr>
      </p:pic>
    </p:spTree>
    <p:extLst>
      <p:ext uri="{BB962C8B-B14F-4D97-AF65-F5344CB8AC3E}">
        <p14:creationId xmlns:p14="http://schemas.microsoft.com/office/powerpoint/2010/main" val="1094451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E8F41-091E-D2E5-753E-391DE770EE56}"/>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2475D5FA-DA28-31E8-4B38-81C5EAC72055}"/>
              </a:ext>
            </a:extLst>
          </p:cNvPr>
          <p:cNvSpPr txBox="1">
            <a:spLocks noGrp="1"/>
          </p:cNvSpPr>
          <p:nvPr>
            <p:ph type="body" idx="1"/>
          </p:nvPr>
        </p:nvSpPr>
        <p:spPr>
          <a:xfrm>
            <a:off x="755650" y="1118242"/>
            <a:ext cx="8008728" cy="3024549"/>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NON-LINEAR</a:t>
            </a:r>
          </a:p>
          <a:p>
            <a:pPr marL="224154" algn="l">
              <a:lnSpc>
                <a:spcPct val="100000"/>
              </a:lnSpc>
              <a:spcBef>
                <a:spcPts val="125"/>
              </a:spcBef>
            </a:pPr>
            <a:r>
              <a:rPr lang="en-GB" spc="680" dirty="0">
                <a:latin typeface="InputMono Light" panose="02000509020000090004" pitchFamily="49" charset="0"/>
              </a:rPr>
              <a:t>WALL</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5D2C2DD0-808D-FCCF-E54F-4CBB5786D1BD}"/>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728514EB-2559-EFC8-1C08-2CC11440B306}"/>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EC36385A-0E1B-CD84-7FC9-DA1CE64FDC75}"/>
              </a:ext>
            </a:extLst>
          </p:cNvPr>
          <p:cNvSpPr txBox="1"/>
          <p:nvPr/>
        </p:nvSpPr>
        <p:spPr>
          <a:xfrm>
            <a:off x="911866" y="10058349"/>
            <a:ext cx="718185" cy="678815"/>
          </a:xfrm>
          <a:prstGeom prst="rect">
            <a:avLst/>
          </a:prstGeom>
        </p:spPr>
        <p:txBody>
          <a:bodyPr vert="horz" wrap="square" lIns="0" tIns="17145" rIns="0" bIns="0" rtlCol="0">
            <a:spAutoFit/>
          </a:bodyPr>
          <a:lstStyle/>
          <a:p>
            <a:pPr marL="12700">
              <a:lnSpc>
                <a:spcPct val="100000"/>
              </a:lnSpc>
              <a:spcBef>
                <a:spcPts val="135"/>
              </a:spcBef>
            </a:pPr>
            <a:r>
              <a:rPr lang="en-GB" sz="4250" spc="-25" dirty="0">
                <a:solidFill>
                  <a:srgbClr val="163794"/>
                </a:solidFill>
                <a:latin typeface="InputMono Light" panose="02000509020000090004" pitchFamily="49" charset="0"/>
                <a:cs typeface="InputMono"/>
              </a:rPr>
              <a:t>10</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FCA813B8-C796-0590-41C0-041D59A2A68B}"/>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p:sp>
        <p:nvSpPr>
          <p:cNvPr id="9" name="Rectangle 2">
            <a:extLst>
              <a:ext uri="{FF2B5EF4-FFF2-40B4-BE49-F238E27FC236}">
                <a16:creationId xmlns:a16="http://schemas.microsoft.com/office/drawing/2014/main" id="{DDE91BAF-6512-6AAD-45E9-7CE110C0BE87}"/>
              </a:ext>
            </a:extLst>
          </p:cNvPr>
          <p:cNvSpPr txBox="1">
            <a:spLocks noChangeArrowheads="1"/>
          </p:cNvSpPr>
          <p:nvPr/>
        </p:nvSpPr>
        <p:spPr bwMode="auto">
          <a:xfrm>
            <a:off x="913983" y="4328168"/>
            <a:ext cx="10208365" cy="604116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the limitation of linear models: </a:t>
            </a:r>
            <a:r>
              <a:rPr lang="en-US" altLang="en-US" dirty="0">
                <a:solidFill>
                  <a:srgbClr val="163794"/>
                </a:solidFill>
                <a:latin typeface="InputMono Light" panose="02000509020000090004" pitchFamily="49" charset="0"/>
              </a:rPr>
              <a:t>a single neuron (or standard logistic regression) can only ever draw a single, straight hyperplane to separate data.</a:t>
            </a:r>
          </a:p>
          <a:p>
            <a:pPr mar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the circles problem: </a:t>
            </a:r>
            <a:r>
              <a:rPr lang="en-US" altLang="en-US" dirty="0">
                <a:solidFill>
                  <a:srgbClr val="163794"/>
                </a:solidFill>
                <a:latin typeface="InputMono Light" panose="02000509020000090004" pitchFamily="49" charset="0"/>
              </a:rPr>
              <a:t>what happens when our data represents a complex, non-linear relationship?</a:t>
            </a:r>
          </a:p>
          <a:p>
            <a:pPr mar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example: </a:t>
            </a:r>
            <a:r>
              <a:rPr lang="en-US" altLang="en-US" dirty="0">
                <a:solidFill>
                  <a:srgbClr val="163794"/>
                </a:solidFill>
                <a:latin typeface="InputMono Light" panose="02000509020000090004" pitchFamily="49" charset="0"/>
              </a:rPr>
              <a:t>a core system state (inner circle) surrounded by an failure state (outer ring).</a:t>
            </a:r>
          </a:p>
          <a:p>
            <a:pPr mar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the result: </a:t>
            </a:r>
            <a:r>
              <a:rPr lang="en-US" altLang="en-US" dirty="0">
                <a:solidFill>
                  <a:srgbClr val="163794"/>
                </a:solidFill>
                <a:latin typeface="InputMono Light" panose="02000509020000090004" pitchFamily="49" charset="0"/>
              </a:rPr>
              <a:t>if we train our previous linear model on this dataset, it completely fails. it tries to draw a straight line through a circle, resulting in approximately 50% accuracy (no better than a random coin flip).</a:t>
            </a:r>
          </a:p>
        </p:txBody>
      </p:sp>
      <p:pic>
        <p:nvPicPr>
          <p:cNvPr id="2" name="Picture 1">
            <a:extLst>
              <a:ext uri="{FF2B5EF4-FFF2-40B4-BE49-F238E27FC236}">
                <a16:creationId xmlns:a16="http://schemas.microsoft.com/office/drawing/2014/main" id="{41669889-D4A5-BB84-403C-C9681B2790DE}"/>
              </a:ext>
            </a:extLst>
          </p:cNvPr>
          <p:cNvPicPr>
            <a:picLocks noChangeAspect="1"/>
          </p:cNvPicPr>
          <p:nvPr/>
        </p:nvPicPr>
        <p:blipFill>
          <a:blip r:embed="rId3"/>
          <a:srcRect t="11818"/>
          <a:stretch>
            <a:fillRect/>
          </a:stretch>
        </p:blipFill>
        <p:spPr>
          <a:xfrm>
            <a:off x="11132931" y="3425848"/>
            <a:ext cx="8774959" cy="6632501"/>
          </a:xfrm>
          <a:prstGeom prst="rect">
            <a:avLst/>
          </a:prstGeom>
        </p:spPr>
      </p:pic>
    </p:spTree>
    <p:extLst>
      <p:ext uri="{BB962C8B-B14F-4D97-AF65-F5344CB8AC3E}">
        <p14:creationId xmlns:p14="http://schemas.microsoft.com/office/powerpoint/2010/main" val="1948305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18D65-3AF5-6ECF-D30A-6366A5F27ED2}"/>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1C48D370-6C17-31CC-35DF-02B5B96AB9D3}"/>
              </a:ext>
            </a:extLst>
          </p:cNvPr>
          <p:cNvSpPr txBox="1">
            <a:spLocks noGrp="1"/>
          </p:cNvSpPr>
          <p:nvPr>
            <p:ph type="body" idx="1"/>
          </p:nvPr>
        </p:nvSpPr>
        <p:spPr>
          <a:xfrm>
            <a:off x="755650" y="1118242"/>
            <a:ext cx="9296400" cy="3024549"/>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OOP </a:t>
            </a:r>
          </a:p>
          <a:p>
            <a:pPr marL="224154" algn="l">
              <a:lnSpc>
                <a:spcPct val="100000"/>
              </a:lnSpc>
              <a:spcBef>
                <a:spcPts val="125"/>
              </a:spcBef>
            </a:pPr>
            <a:r>
              <a:rPr lang="en-GB" spc="680" dirty="0">
                <a:latin typeface="InputMono Light" panose="02000509020000090004" pitchFamily="49" charset="0"/>
              </a:rPr>
              <a:t>PYTORCH</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49E49859-8B44-1E94-BB2D-A85519B73148}"/>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90F61EEF-4A61-C827-5BE5-0B0C4658C307}"/>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435262AF-C7B8-22A7-A42F-7F981C8459A2}"/>
              </a:ext>
            </a:extLst>
          </p:cNvPr>
          <p:cNvSpPr txBox="1"/>
          <p:nvPr/>
        </p:nvSpPr>
        <p:spPr>
          <a:xfrm>
            <a:off x="911866" y="10058349"/>
            <a:ext cx="718185" cy="671338"/>
          </a:xfrm>
          <a:prstGeom prst="rect">
            <a:avLst/>
          </a:prstGeom>
        </p:spPr>
        <p:txBody>
          <a:bodyPr vert="horz" wrap="square" lIns="0" tIns="17145" rIns="0" bIns="0" rtlCol="0">
            <a:spAutoFit/>
          </a:bodyPr>
          <a:lstStyle/>
          <a:p>
            <a:pPr marL="12700">
              <a:lnSpc>
                <a:spcPct val="100000"/>
              </a:lnSpc>
              <a:spcBef>
                <a:spcPts val="135"/>
              </a:spcBef>
            </a:pPr>
            <a:r>
              <a:rPr lang="en-GB" sz="4250" spc="-25" dirty="0">
                <a:solidFill>
                  <a:srgbClr val="163794"/>
                </a:solidFill>
                <a:latin typeface="InputMono Light" panose="02000509020000090004" pitchFamily="49" charset="0"/>
                <a:cs typeface="InputMono"/>
              </a:rPr>
              <a:t>11</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46A083D9-E6AB-C4C5-03B2-84067A46DD51}"/>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p:sp>
        <p:nvSpPr>
          <p:cNvPr id="9" name="Rectangle 2">
            <a:extLst>
              <a:ext uri="{FF2B5EF4-FFF2-40B4-BE49-F238E27FC236}">
                <a16:creationId xmlns:a16="http://schemas.microsoft.com/office/drawing/2014/main" id="{9764067A-4E24-4006-22C3-DA235D09BA3A}"/>
              </a:ext>
            </a:extLst>
          </p:cNvPr>
          <p:cNvSpPr txBox="1">
            <a:spLocks noChangeArrowheads="1"/>
          </p:cNvSpPr>
          <p:nvPr/>
        </p:nvSpPr>
        <p:spPr bwMode="auto">
          <a:xfrm>
            <a:off x="10280650" y="1433194"/>
            <a:ext cx="9519067" cy="807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spcBef>
                <a:spcPct val="0"/>
              </a:spcBef>
              <a:spcAft>
                <a:spcPts val="600"/>
              </a:spcAft>
              <a:buNone/>
            </a:pPr>
            <a:r>
              <a:rPr lang="en-US" altLang="en-US" b="1" dirty="0" err="1">
                <a:solidFill>
                  <a:srgbClr val="EE4C2C"/>
                </a:solidFill>
                <a:latin typeface="InputMono Light" panose="02000509020000090004" pitchFamily="49" charset="0"/>
              </a:rPr>
              <a:t>nn.Module</a:t>
            </a:r>
            <a:r>
              <a:rPr lang="en-US" altLang="en-US" b="1" dirty="0">
                <a:solidFill>
                  <a:srgbClr val="EE4C2C"/>
                </a:solidFill>
                <a:latin typeface="InputMono Light" panose="02000509020000090004" pitchFamily="49" charset="0"/>
              </a:rPr>
              <a:t> </a:t>
            </a:r>
            <a:r>
              <a:rPr lang="en-US" altLang="en-US" b="1" dirty="0">
                <a:solidFill>
                  <a:srgbClr val="163794"/>
                </a:solidFill>
                <a:latin typeface="InputMono Light" panose="02000509020000090004" pitchFamily="49" charset="0"/>
              </a:rPr>
              <a:t>pattern: </a:t>
            </a:r>
            <a:r>
              <a:rPr lang="en-US" altLang="en-US" dirty="0">
                <a:solidFill>
                  <a:srgbClr val="163794"/>
                </a:solidFill>
                <a:latin typeface="InputMono Light" panose="02000509020000090004" pitchFamily="49" charset="0"/>
              </a:rPr>
              <a:t>we build neural networks by creating a class that inherits from </a:t>
            </a:r>
            <a:r>
              <a:rPr lang="en-US" altLang="en-US" dirty="0" err="1">
                <a:solidFill>
                  <a:srgbClr val="EE4C2C"/>
                </a:solidFill>
                <a:latin typeface="InputMono Light" panose="02000509020000090004" pitchFamily="49" charset="0"/>
              </a:rPr>
              <a:t>torch.nn.Module</a:t>
            </a:r>
            <a:r>
              <a:rPr lang="en-US" altLang="en-US" dirty="0">
                <a:solidFill>
                  <a:srgbClr val="163794"/>
                </a:solidFill>
                <a:latin typeface="InputMono Light" panose="02000509020000090004" pitchFamily="49" charset="0"/>
              </a:rPr>
              <a:t>.</a:t>
            </a: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two essential methods:</a:t>
            </a:r>
          </a:p>
          <a:p>
            <a:pPr eaLnBrk="0" fontAlgn="base" hangingPunct="0">
              <a:spcBef>
                <a:spcPct val="0"/>
              </a:spcBef>
              <a:spcAft>
                <a:spcPts val="600"/>
              </a:spcAft>
            </a:pPr>
            <a:r>
              <a:rPr lang="en-US" altLang="en-US" dirty="0">
                <a:solidFill>
                  <a:srgbClr val="EE4C2C"/>
                </a:solidFill>
                <a:latin typeface="InputMono Light" panose="02000509020000090004" pitchFamily="49" charset="0"/>
              </a:rPr>
              <a:t>__</a:t>
            </a:r>
            <a:r>
              <a:rPr lang="en-US" altLang="en-US" dirty="0" err="1">
                <a:solidFill>
                  <a:srgbClr val="EE4C2C"/>
                </a:solidFill>
                <a:latin typeface="InputMono Light" panose="02000509020000090004" pitchFamily="49" charset="0"/>
              </a:rPr>
              <a:t>init</a:t>
            </a:r>
            <a:r>
              <a:rPr lang="en-US" altLang="en-US" dirty="0">
                <a:solidFill>
                  <a:srgbClr val="EE4C2C"/>
                </a:solidFill>
                <a:latin typeface="InputMono Light" panose="02000509020000090004" pitchFamily="49" charset="0"/>
              </a:rPr>
              <a:t>__(self): </a:t>
            </a:r>
            <a:r>
              <a:rPr lang="en-US" altLang="en-US" dirty="0">
                <a:solidFill>
                  <a:srgbClr val="163794"/>
                </a:solidFill>
                <a:latin typeface="InputMono Light" panose="02000509020000090004" pitchFamily="49" charset="0"/>
              </a:rPr>
              <a:t>this is where we define the architectural building blocks (our layers).</a:t>
            </a:r>
          </a:p>
          <a:p>
            <a:pPr eaLnBrk="0" fontAlgn="base" hangingPunct="0">
              <a:spcBef>
                <a:spcPct val="0"/>
              </a:spcBef>
              <a:spcAft>
                <a:spcPts val="600"/>
              </a:spcAft>
            </a:pPr>
            <a:r>
              <a:rPr lang="en-US" altLang="en-US" dirty="0">
                <a:solidFill>
                  <a:srgbClr val="EE4C2C"/>
                </a:solidFill>
                <a:latin typeface="InputMono Light" panose="02000509020000090004" pitchFamily="49" charset="0"/>
              </a:rPr>
              <a:t>forward(self, x): </a:t>
            </a:r>
            <a:r>
              <a:rPr lang="en-US" altLang="en-US" dirty="0">
                <a:solidFill>
                  <a:srgbClr val="163794"/>
                </a:solidFill>
                <a:latin typeface="InputMono Light" panose="02000509020000090004" pitchFamily="49" charset="0"/>
              </a:rPr>
              <a:t>this is where we define the "flow" of data. we explicitly apply our </a:t>
            </a:r>
            <a:r>
              <a:rPr lang="en-US" altLang="en-US" dirty="0" err="1">
                <a:solidFill>
                  <a:srgbClr val="EE4C2C"/>
                </a:solidFill>
                <a:latin typeface="InputMono Light" panose="02000509020000090004" pitchFamily="49" charset="0"/>
              </a:rPr>
              <a:t>relu</a:t>
            </a:r>
            <a:r>
              <a:rPr lang="en-US" altLang="en-US" dirty="0">
                <a:solidFill>
                  <a:srgbClr val="163794"/>
                </a:solidFill>
                <a:latin typeface="InputMono Light" panose="02000509020000090004" pitchFamily="49" charset="0"/>
              </a:rPr>
              <a:t> activation functions between the linear layers here.</a:t>
            </a: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r>
              <a:rPr lang="en-US" altLang="en-US" i="1" dirty="0">
                <a:solidFill>
                  <a:srgbClr val="163794"/>
                </a:solidFill>
                <a:latin typeface="InputMono Light" panose="02000509020000090004" pitchFamily="49" charset="0"/>
              </a:rPr>
              <a:t>notice how we don't apply </a:t>
            </a:r>
            <a:r>
              <a:rPr lang="en-US" altLang="en-US" i="1" dirty="0" err="1">
                <a:solidFill>
                  <a:srgbClr val="163794"/>
                </a:solidFill>
                <a:latin typeface="InputMono Light" panose="02000509020000090004" pitchFamily="49" charset="0"/>
              </a:rPr>
              <a:t>relu</a:t>
            </a:r>
            <a:r>
              <a:rPr lang="en-US" altLang="en-US" i="1" dirty="0">
                <a:solidFill>
                  <a:srgbClr val="163794"/>
                </a:solidFill>
                <a:latin typeface="InputMono Light" panose="02000509020000090004" pitchFamily="49" charset="0"/>
              </a:rPr>
              <a:t> after the final layer. we use sigmoid there because we specifically want our final output to be a probability between 0 and 1.</a:t>
            </a: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p:txBody>
      </p:sp>
      <p:pic>
        <p:nvPicPr>
          <p:cNvPr id="10" name="Picture 9">
            <a:extLst>
              <a:ext uri="{FF2B5EF4-FFF2-40B4-BE49-F238E27FC236}">
                <a16:creationId xmlns:a16="http://schemas.microsoft.com/office/drawing/2014/main" id="{4BEA852C-FD50-EA84-9E3C-E3DC36012A30}"/>
              </a:ext>
            </a:extLst>
          </p:cNvPr>
          <p:cNvPicPr>
            <a:picLocks noChangeAspect="1"/>
          </p:cNvPicPr>
          <p:nvPr/>
        </p:nvPicPr>
        <p:blipFill>
          <a:blip r:embed="rId3"/>
          <a:stretch>
            <a:fillRect/>
          </a:stretch>
        </p:blipFill>
        <p:spPr>
          <a:xfrm>
            <a:off x="304383" y="3497618"/>
            <a:ext cx="10045387" cy="7030380"/>
          </a:xfrm>
          <a:prstGeom prst="rect">
            <a:avLst/>
          </a:prstGeom>
        </p:spPr>
      </p:pic>
    </p:spTree>
    <p:extLst>
      <p:ext uri="{BB962C8B-B14F-4D97-AF65-F5344CB8AC3E}">
        <p14:creationId xmlns:p14="http://schemas.microsoft.com/office/powerpoint/2010/main" val="1950845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95D63-1D45-10AF-121C-2E8E047F8404}"/>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9DA199DC-9A61-64EE-8B06-BFC63A3CF90D}"/>
              </a:ext>
            </a:extLst>
          </p:cNvPr>
          <p:cNvSpPr txBox="1">
            <a:spLocks noGrp="1"/>
          </p:cNvSpPr>
          <p:nvPr>
            <p:ph type="body" idx="1"/>
          </p:nvPr>
        </p:nvSpPr>
        <p:spPr>
          <a:xfrm>
            <a:off x="755650" y="1118242"/>
            <a:ext cx="9296400" cy="1695980"/>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TRAINING</a:t>
            </a:r>
          </a:p>
        </p:txBody>
      </p:sp>
      <p:sp>
        <p:nvSpPr>
          <p:cNvPr id="129" name="object 129">
            <a:extLst>
              <a:ext uri="{FF2B5EF4-FFF2-40B4-BE49-F238E27FC236}">
                <a16:creationId xmlns:a16="http://schemas.microsoft.com/office/drawing/2014/main" id="{AB04D63D-7D1E-DEFC-8F88-9A0B5585BD2D}"/>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628BB1BC-7633-22F6-B648-33EC3772F5FA}"/>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D5AADC16-5B41-449F-B833-3C2A58E1D0FE}"/>
              </a:ext>
            </a:extLst>
          </p:cNvPr>
          <p:cNvSpPr txBox="1"/>
          <p:nvPr/>
        </p:nvSpPr>
        <p:spPr>
          <a:xfrm>
            <a:off x="911866" y="10058349"/>
            <a:ext cx="718185" cy="671338"/>
          </a:xfrm>
          <a:prstGeom prst="rect">
            <a:avLst/>
          </a:prstGeom>
        </p:spPr>
        <p:txBody>
          <a:bodyPr vert="horz" wrap="square" lIns="0" tIns="17145" rIns="0" bIns="0" rtlCol="0">
            <a:spAutoFit/>
          </a:bodyPr>
          <a:lstStyle/>
          <a:p>
            <a:pPr marL="12700">
              <a:lnSpc>
                <a:spcPct val="100000"/>
              </a:lnSpc>
              <a:spcBef>
                <a:spcPts val="135"/>
              </a:spcBef>
            </a:pPr>
            <a:r>
              <a:rPr lang="en-GB" sz="4250" spc="-25" dirty="0">
                <a:solidFill>
                  <a:srgbClr val="163794"/>
                </a:solidFill>
                <a:latin typeface="InputMono Light" panose="02000509020000090004" pitchFamily="49" charset="0"/>
                <a:cs typeface="InputMono"/>
              </a:rPr>
              <a:t>12</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B9FE3E0A-D073-1B79-1814-DEFC439C8D02}"/>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p:sp>
        <p:nvSpPr>
          <p:cNvPr id="9" name="Rectangle 2">
            <a:extLst>
              <a:ext uri="{FF2B5EF4-FFF2-40B4-BE49-F238E27FC236}">
                <a16:creationId xmlns:a16="http://schemas.microsoft.com/office/drawing/2014/main" id="{669C9282-2548-5737-C74C-4EF84F35F61E}"/>
              </a:ext>
            </a:extLst>
          </p:cNvPr>
          <p:cNvSpPr txBox="1">
            <a:spLocks noChangeArrowheads="1"/>
          </p:cNvSpPr>
          <p:nvPr/>
        </p:nvSpPr>
        <p:spPr bwMode="auto">
          <a:xfrm>
            <a:off x="1052721" y="2942619"/>
            <a:ext cx="8542129" cy="59886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upgrading the optimizer: </a:t>
            </a:r>
          </a:p>
          <a:p>
            <a:pPr marL="0" lvl="0" indent="0" eaLnBrk="0" fontAlgn="base" hangingPunct="0">
              <a:spcBef>
                <a:spcPct val="0"/>
              </a:spcBef>
              <a:spcAft>
                <a:spcPts val="600"/>
              </a:spcAft>
              <a:buNone/>
            </a:pPr>
            <a:r>
              <a:rPr lang="en-US" altLang="en-US" dirty="0">
                <a:solidFill>
                  <a:srgbClr val="163794"/>
                </a:solidFill>
                <a:latin typeface="InputMono Light" panose="02000509020000090004" pitchFamily="49" charset="0"/>
              </a:rPr>
              <a:t>while stochastic gradient descent (</a:t>
            </a:r>
            <a:r>
              <a:rPr lang="en-US" altLang="en-US" dirty="0" err="1">
                <a:solidFill>
                  <a:srgbClr val="163794"/>
                </a:solidFill>
                <a:latin typeface="InputMono Light" panose="02000509020000090004" pitchFamily="49" charset="0"/>
              </a:rPr>
              <a:t>sgd</a:t>
            </a:r>
            <a:r>
              <a:rPr lang="en-US" altLang="en-US" dirty="0">
                <a:solidFill>
                  <a:srgbClr val="163794"/>
                </a:solidFill>
                <a:latin typeface="InputMono Light" panose="02000509020000090004" pitchFamily="49" charset="0"/>
              </a:rPr>
              <a:t>) works fine for single-neuron linear models, deep networks with hidden layers often require more sophisticated navigation of the loss landscape.</a:t>
            </a:r>
          </a:p>
          <a:p>
            <a:pPr mar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indent="0" eaLnBrk="0" fontAlgn="base" hangingPunct="0">
              <a:spcBef>
                <a:spcPct val="0"/>
              </a:spcBef>
              <a:spcAft>
                <a:spcPts val="600"/>
              </a:spcAft>
              <a:buNone/>
            </a:pPr>
            <a:r>
              <a:rPr lang="en-US" altLang="en-US" b="1" dirty="0" err="1">
                <a:solidFill>
                  <a:srgbClr val="163794"/>
                </a:solidFill>
                <a:latin typeface="InputMono Light" panose="02000509020000090004" pitchFamily="49" charset="0"/>
              </a:rPr>
              <a:t>adam</a:t>
            </a:r>
            <a:r>
              <a:rPr lang="en-US" altLang="en-US" b="1" dirty="0">
                <a:solidFill>
                  <a:srgbClr val="163794"/>
                </a:solidFill>
                <a:latin typeface="InputMono Light" panose="02000509020000090004" pitchFamily="49" charset="0"/>
              </a:rPr>
              <a:t> (</a:t>
            </a:r>
            <a:r>
              <a:rPr lang="en-US" altLang="en-US" b="1" dirty="0" err="1">
                <a:solidFill>
                  <a:srgbClr val="EE4C2C"/>
                </a:solidFill>
                <a:latin typeface="InputMono Light" panose="02000509020000090004" pitchFamily="49" charset="0"/>
              </a:rPr>
              <a:t>optim.Adam</a:t>
            </a:r>
            <a:r>
              <a:rPr lang="en-US" altLang="en-US" b="1" dirty="0">
                <a:solidFill>
                  <a:srgbClr val="163794"/>
                </a:solidFill>
                <a:latin typeface="InputMono Light" panose="02000509020000090004" pitchFamily="49" charset="0"/>
              </a:rPr>
              <a:t>): </a:t>
            </a:r>
          </a:p>
          <a:p>
            <a:pPr marL="0" indent="0" eaLnBrk="0" fontAlgn="base" hangingPunct="0">
              <a:spcBef>
                <a:spcPct val="0"/>
              </a:spcBef>
              <a:spcAft>
                <a:spcPts val="600"/>
              </a:spcAft>
              <a:buNone/>
            </a:pPr>
            <a:r>
              <a:rPr lang="en-US" altLang="en-US" dirty="0" err="1">
                <a:solidFill>
                  <a:srgbClr val="163794"/>
                </a:solidFill>
                <a:latin typeface="InputMono Light" panose="02000509020000090004" pitchFamily="49" charset="0"/>
              </a:rPr>
              <a:t>adam</a:t>
            </a:r>
            <a:r>
              <a:rPr lang="en-US" altLang="en-US" dirty="0">
                <a:solidFill>
                  <a:srgbClr val="163794"/>
                </a:solidFill>
                <a:latin typeface="InputMono Light" panose="02000509020000090004" pitchFamily="49" charset="0"/>
              </a:rPr>
              <a:t> dynamically adjusts the learning rate for each individual parameter. it's the industry-standard default for training deep neural networks.</a:t>
            </a:r>
          </a:p>
          <a:p>
            <a:pPr mar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indent="0" eaLnBrk="0" fontAlgn="base" hangingPunct="0">
              <a:spcBef>
                <a:spcPct val="0"/>
              </a:spcBef>
              <a:spcAft>
                <a:spcPts val="600"/>
              </a:spcAft>
              <a:buNone/>
            </a:pPr>
            <a:r>
              <a:rPr lang="en-US" altLang="en-US" b="1" dirty="0">
                <a:solidFill>
                  <a:srgbClr val="163794"/>
                </a:solidFill>
                <a:latin typeface="InputMono Light" panose="02000509020000090004" pitchFamily="49" charset="0"/>
              </a:rPr>
              <a:t>the results: </a:t>
            </a:r>
          </a:p>
          <a:p>
            <a:pPr marL="0" indent="0" eaLnBrk="0" fontAlgn="base" hangingPunct="0">
              <a:spcBef>
                <a:spcPct val="0"/>
              </a:spcBef>
              <a:spcAft>
                <a:spcPts val="600"/>
              </a:spcAft>
              <a:buNone/>
            </a:pPr>
            <a:r>
              <a:rPr lang="en-US" altLang="en-US" dirty="0">
                <a:solidFill>
                  <a:srgbClr val="163794"/>
                </a:solidFill>
                <a:latin typeface="InputMono Light" panose="02000509020000090004" pitchFamily="49" charset="0"/>
              </a:rPr>
              <a:t>by combining our </a:t>
            </a:r>
            <a:r>
              <a:rPr lang="en-US" altLang="en-US" dirty="0" err="1">
                <a:solidFill>
                  <a:srgbClr val="163794"/>
                </a:solidFill>
                <a:latin typeface="InputMono Light" panose="02000509020000090004" pitchFamily="49" charset="0"/>
              </a:rPr>
              <a:t>mlp</a:t>
            </a:r>
            <a:r>
              <a:rPr lang="en-US" altLang="en-US" dirty="0">
                <a:solidFill>
                  <a:srgbClr val="163794"/>
                </a:solidFill>
                <a:latin typeface="InputMono Light" panose="02000509020000090004" pitchFamily="49" charset="0"/>
              </a:rPr>
              <a:t> architecture with the </a:t>
            </a:r>
            <a:r>
              <a:rPr lang="en-US" altLang="en-US" dirty="0" err="1">
                <a:solidFill>
                  <a:srgbClr val="163794"/>
                </a:solidFill>
                <a:latin typeface="InputMono Light" panose="02000509020000090004" pitchFamily="49" charset="0"/>
              </a:rPr>
              <a:t>adam</a:t>
            </a:r>
            <a:r>
              <a:rPr lang="en-US" altLang="en-US" dirty="0">
                <a:solidFill>
                  <a:srgbClr val="163794"/>
                </a:solidFill>
                <a:latin typeface="InputMono Light" panose="02000509020000090004" pitchFamily="49" charset="0"/>
              </a:rPr>
              <a:t> optimizer, the model successfully learns the complex circular decision boundary.</a:t>
            </a:r>
          </a:p>
          <a:p>
            <a:pPr marL="0" indent="0" eaLnBrk="0" fontAlgn="base" hangingPunct="0">
              <a:spcBef>
                <a:spcPct val="0"/>
              </a:spcBef>
              <a:spcAft>
                <a:spcPts val="600"/>
              </a:spcAft>
              <a:buNone/>
            </a:pPr>
            <a:endParaRPr lang="en-US" altLang="en-US" i="1"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a:p>
            <a:pPr marL="0" lvl="0" indent="0" eaLnBrk="0" fontAlgn="base" hangingPunct="0">
              <a:spcBef>
                <a:spcPct val="0"/>
              </a:spcBef>
              <a:spcAft>
                <a:spcPts val="600"/>
              </a:spcAft>
              <a:buNone/>
            </a:pPr>
            <a:endParaRPr lang="en-US" altLang="en-US" dirty="0">
              <a:solidFill>
                <a:srgbClr val="163794"/>
              </a:solidFill>
              <a:latin typeface="InputMono Light" panose="02000509020000090004" pitchFamily="49" charset="0"/>
            </a:endParaRPr>
          </a:p>
        </p:txBody>
      </p:sp>
      <p:pic>
        <p:nvPicPr>
          <p:cNvPr id="3" name="Picture 2">
            <a:extLst>
              <a:ext uri="{FF2B5EF4-FFF2-40B4-BE49-F238E27FC236}">
                <a16:creationId xmlns:a16="http://schemas.microsoft.com/office/drawing/2014/main" id="{D8629598-344A-4201-A976-3319FAD28468}"/>
              </a:ext>
            </a:extLst>
          </p:cNvPr>
          <p:cNvPicPr>
            <a:picLocks noChangeAspect="1"/>
          </p:cNvPicPr>
          <p:nvPr/>
        </p:nvPicPr>
        <p:blipFill>
          <a:blip r:embed="rId3"/>
          <a:stretch>
            <a:fillRect/>
          </a:stretch>
        </p:blipFill>
        <p:spPr>
          <a:xfrm>
            <a:off x="9213850" y="3444875"/>
            <a:ext cx="11125200" cy="4924016"/>
          </a:xfrm>
          <a:prstGeom prst="rect">
            <a:avLst/>
          </a:prstGeom>
        </p:spPr>
      </p:pic>
    </p:spTree>
    <p:extLst>
      <p:ext uri="{BB962C8B-B14F-4D97-AF65-F5344CB8AC3E}">
        <p14:creationId xmlns:p14="http://schemas.microsoft.com/office/powerpoint/2010/main" val="3821057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3CB0-F817-40FA-CE02-1ABDB8BF4324}"/>
            </a:ext>
          </a:extLst>
        </p:cNvPr>
        <p:cNvGrpSpPr/>
        <p:nvPr/>
      </p:nvGrpSpPr>
      <p:grpSpPr>
        <a:xfrm>
          <a:off x="0" y="0"/>
          <a:ext cx="0" cy="0"/>
          <a:chOff x="0" y="0"/>
          <a:chExt cx="0" cy="0"/>
        </a:xfrm>
      </p:grpSpPr>
      <p:sp>
        <p:nvSpPr>
          <p:cNvPr id="117" name="object 117" descr="$PPTXTitle">
            <a:extLst>
              <a:ext uri="{FF2B5EF4-FFF2-40B4-BE49-F238E27FC236}">
                <a16:creationId xmlns:a16="http://schemas.microsoft.com/office/drawing/2014/main" id="{AF920F53-E635-FAB2-2D36-A988913E68FD}"/>
              </a:ext>
            </a:extLst>
          </p:cNvPr>
          <p:cNvSpPr txBox="1">
            <a:spLocks noGrp="1"/>
          </p:cNvSpPr>
          <p:nvPr>
            <p:ph type="body" idx="1"/>
          </p:nvPr>
        </p:nvSpPr>
        <p:spPr>
          <a:xfrm>
            <a:off x="911866" y="1176301"/>
            <a:ext cx="9808772" cy="3011725"/>
          </a:xfrm>
          <a:prstGeom prst="rect">
            <a:avLst/>
          </a:prstGeom>
        </p:spPr>
        <p:txBody>
          <a:bodyPr vert="horz" wrap="square" lIns="0" tIns="376558" rIns="0" bIns="0" rtlCol="0">
            <a:spAutoFit/>
          </a:bodyPr>
          <a:lstStyle/>
          <a:p>
            <a:pPr marL="224154" algn="l">
              <a:lnSpc>
                <a:spcPct val="100000"/>
              </a:lnSpc>
              <a:spcBef>
                <a:spcPts val="125"/>
              </a:spcBef>
            </a:pPr>
            <a:r>
              <a:rPr lang="en-GB" spc="680" dirty="0">
                <a:latin typeface="InputMono Light" panose="02000509020000090004" pitchFamily="49" charset="0"/>
              </a:rPr>
              <a:t>DECISION BOUNDARY</a:t>
            </a:r>
            <a:endParaRPr spc="-25" dirty="0">
              <a:latin typeface="InputMono Light" panose="02000509020000090004" pitchFamily="49" charset="0"/>
            </a:endParaRPr>
          </a:p>
        </p:txBody>
      </p:sp>
      <p:sp>
        <p:nvSpPr>
          <p:cNvPr id="129" name="object 129">
            <a:extLst>
              <a:ext uri="{FF2B5EF4-FFF2-40B4-BE49-F238E27FC236}">
                <a16:creationId xmlns:a16="http://schemas.microsoft.com/office/drawing/2014/main" id="{103D25A3-EC18-FAB2-8A14-1B6142DDAFAF}"/>
              </a:ext>
            </a:extLst>
          </p:cNvPr>
          <p:cNvSpPr txBox="1"/>
          <p:nvPr/>
        </p:nvSpPr>
        <p:spPr>
          <a:xfrm>
            <a:off x="17033454" y="868982"/>
            <a:ext cx="2065020" cy="228268"/>
          </a:xfrm>
          <a:prstGeom prst="rect">
            <a:avLst/>
          </a:prstGeom>
        </p:spPr>
        <p:txBody>
          <a:bodyPr vert="horz" wrap="square" lIns="0" tIns="12700" rIns="0" bIns="0" rtlCol="0">
            <a:spAutoFit/>
          </a:bodyPr>
          <a:lstStyle/>
          <a:p>
            <a:pPr marL="12700">
              <a:lnSpc>
                <a:spcPct val="100000"/>
              </a:lnSpc>
              <a:spcBef>
                <a:spcPts val="100"/>
              </a:spcBef>
            </a:pPr>
            <a:r>
              <a:rPr sz="1400" spc="95" dirty="0">
                <a:solidFill>
                  <a:srgbClr val="163794"/>
                </a:solidFill>
                <a:latin typeface="InputMono Light" panose="02000509020000090004" pitchFamily="49" charset="0"/>
                <a:cs typeface="InputMono"/>
              </a:rPr>
              <a:t>FEBRUARY</a:t>
            </a:r>
            <a:r>
              <a:rPr sz="1400" spc="225" dirty="0">
                <a:solidFill>
                  <a:srgbClr val="163794"/>
                </a:solidFill>
                <a:latin typeface="InputMono Light" panose="02000509020000090004" pitchFamily="49" charset="0"/>
                <a:cs typeface="InputMono"/>
              </a:rPr>
              <a:t> </a:t>
            </a:r>
            <a:r>
              <a:rPr sz="1400" spc="90" dirty="0">
                <a:solidFill>
                  <a:srgbClr val="163794"/>
                </a:solidFill>
                <a:latin typeface="InputMono Light" panose="02000509020000090004" pitchFamily="49" charset="0"/>
                <a:cs typeface="InputMono"/>
              </a:rPr>
              <a:t>2026</a:t>
            </a:r>
            <a:endParaRPr sz="1400" dirty="0">
              <a:latin typeface="InputMono Light" panose="02000509020000090004" pitchFamily="49" charset="0"/>
              <a:cs typeface="InputMono"/>
            </a:endParaRPr>
          </a:p>
        </p:txBody>
      </p:sp>
      <p:sp>
        <p:nvSpPr>
          <p:cNvPr id="130" name="object 130">
            <a:extLst>
              <a:ext uri="{FF2B5EF4-FFF2-40B4-BE49-F238E27FC236}">
                <a16:creationId xmlns:a16="http://schemas.microsoft.com/office/drawing/2014/main" id="{F43CE141-C5D9-8AA1-C271-0218A5659304}"/>
              </a:ext>
            </a:extLst>
          </p:cNvPr>
          <p:cNvSpPr txBox="1"/>
          <p:nvPr/>
        </p:nvSpPr>
        <p:spPr>
          <a:xfrm>
            <a:off x="1017272" y="868982"/>
            <a:ext cx="2319655"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163794"/>
                </a:solidFill>
                <a:latin typeface="InputMono Light" panose="02000509020000090004" pitchFamily="49" charset="0"/>
                <a:cs typeface="InputMono"/>
              </a:rPr>
              <a:t>BY</a:t>
            </a:r>
            <a:r>
              <a:rPr sz="1400" spc="220" dirty="0">
                <a:solidFill>
                  <a:srgbClr val="163794"/>
                </a:solidFill>
                <a:latin typeface="InputMono Light" panose="02000509020000090004" pitchFamily="49" charset="0"/>
                <a:cs typeface="InputMono"/>
              </a:rPr>
              <a:t> </a:t>
            </a:r>
            <a:r>
              <a:rPr sz="1400" spc="55" dirty="0">
                <a:solidFill>
                  <a:srgbClr val="163794"/>
                </a:solidFill>
                <a:latin typeface="InputMono Light" panose="02000509020000090004" pitchFamily="49" charset="0"/>
                <a:cs typeface="InputMono"/>
              </a:rPr>
              <a:t>DR</a:t>
            </a:r>
            <a:r>
              <a:rPr sz="1400" spc="220" dirty="0">
                <a:solidFill>
                  <a:srgbClr val="163794"/>
                </a:solidFill>
                <a:latin typeface="InputMono Light" panose="02000509020000090004" pitchFamily="49" charset="0"/>
                <a:cs typeface="InputMono"/>
              </a:rPr>
              <a:t> </a:t>
            </a:r>
            <a:r>
              <a:rPr sz="1400" spc="110" dirty="0">
                <a:solidFill>
                  <a:srgbClr val="163794"/>
                </a:solidFill>
                <a:latin typeface="InputMono Light" panose="02000509020000090004" pitchFamily="49" charset="0"/>
                <a:cs typeface="InputMono"/>
              </a:rPr>
              <a:t>CORONA-</a:t>
            </a:r>
            <a:r>
              <a:rPr sz="1400" spc="100" dirty="0">
                <a:solidFill>
                  <a:srgbClr val="163794"/>
                </a:solidFill>
                <a:latin typeface="InputMono Light" panose="02000509020000090004" pitchFamily="49" charset="0"/>
                <a:cs typeface="InputMono"/>
              </a:rPr>
              <a:t>LOPEZ</a:t>
            </a:r>
            <a:endParaRPr sz="1400" dirty="0">
              <a:latin typeface="InputMono Light" panose="02000509020000090004" pitchFamily="49" charset="0"/>
              <a:cs typeface="InputMono"/>
            </a:endParaRPr>
          </a:p>
        </p:txBody>
      </p:sp>
      <p:sp>
        <p:nvSpPr>
          <p:cNvPr id="4" name="object 145">
            <a:extLst>
              <a:ext uri="{FF2B5EF4-FFF2-40B4-BE49-F238E27FC236}">
                <a16:creationId xmlns:a16="http://schemas.microsoft.com/office/drawing/2014/main" id="{C1D66E16-C337-F657-DC0F-65A6188D34CF}"/>
              </a:ext>
            </a:extLst>
          </p:cNvPr>
          <p:cNvSpPr txBox="1"/>
          <p:nvPr/>
        </p:nvSpPr>
        <p:spPr>
          <a:xfrm>
            <a:off x="911866" y="10058349"/>
            <a:ext cx="718185" cy="671338"/>
          </a:xfrm>
          <a:prstGeom prst="rect">
            <a:avLst/>
          </a:prstGeom>
        </p:spPr>
        <p:txBody>
          <a:bodyPr vert="horz" wrap="square" lIns="0" tIns="17145" rIns="0" bIns="0" rtlCol="0">
            <a:spAutoFit/>
          </a:bodyPr>
          <a:lstStyle/>
          <a:p>
            <a:pPr marL="12700">
              <a:lnSpc>
                <a:spcPct val="100000"/>
              </a:lnSpc>
              <a:spcBef>
                <a:spcPts val="135"/>
              </a:spcBef>
            </a:pPr>
            <a:r>
              <a:rPr lang="en-GB" sz="4250" spc="-25" dirty="0">
                <a:solidFill>
                  <a:srgbClr val="163794"/>
                </a:solidFill>
                <a:latin typeface="InputMono Light" panose="02000509020000090004" pitchFamily="49" charset="0"/>
                <a:cs typeface="InputMono"/>
              </a:rPr>
              <a:t>13</a:t>
            </a:r>
            <a:endParaRPr sz="4250" dirty="0">
              <a:latin typeface="InputMono Light" panose="02000509020000090004" pitchFamily="49" charset="0"/>
              <a:cs typeface="InputMono"/>
            </a:endParaRPr>
          </a:p>
        </p:txBody>
      </p:sp>
      <p:sp>
        <p:nvSpPr>
          <p:cNvPr id="8" name="object 10">
            <a:extLst>
              <a:ext uri="{FF2B5EF4-FFF2-40B4-BE49-F238E27FC236}">
                <a16:creationId xmlns:a16="http://schemas.microsoft.com/office/drawing/2014/main" id="{B1E32DBE-6A35-910F-EFF2-63BE74950A50}"/>
              </a:ext>
            </a:extLst>
          </p:cNvPr>
          <p:cNvSpPr/>
          <p:nvPr/>
        </p:nvSpPr>
        <p:spPr>
          <a:xfrm>
            <a:off x="1052721" y="1387475"/>
            <a:ext cx="5486400" cy="45719"/>
          </a:xfrm>
          <a:custGeom>
            <a:avLst/>
            <a:gdLst/>
            <a:ahLst/>
            <a:cxnLst/>
            <a:rect l="l" t="t" r="r" b="b"/>
            <a:pathLst>
              <a:path w="7651115">
                <a:moveTo>
                  <a:pt x="0" y="0"/>
                </a:moveTo>
                <a:lnTo>
                  <a:pt x="7650908" y="0"/>
                </a:lnTo>
              </a:path>
            </a:pathLst>
          </a:custGeom>
          <a:ln w="73025">
            <a:solidFill>
              <a:srgbClr val="163794"/>
            </a:solidFill>
          </a:ln>
        </p:spPr>
        <p:txBody>
          <a:bodyPr wrap="square" lIns="0" tIns="0" rIns="0" bIns="0" rtlCol="0"/>
          <a:lstStyle/>
          <a:p>
            <a:endParaRPr/>
          </a:p>
        </p:txBody>
      </p:sp>
      <p:sp>
        <p:nvSpPr>
          <p:cNvPr id="9" name="Rectangle 2">
            <a:extLst>
              <a:ext uri="{FF2B5EF4-FFF2-40B4-BE49-F238E27FC236}">
                <a16:creationId xmlns:a16="http://schemas.microsoft.com/office/drawing/2014/main" id="{F29D2F6A-CCD5-013F-D212-CDB7FD5341D2}"/>
              </a:ext>
            </a:extLst>
          </p:cNvPr>
          <p:cNvSpPr txBox="1">
            <a:spLocks noChangeArrowheads="1"/>
          </p:cNvSpPr>
          <p:nvPr/>
        </p:nvSpPr>
        <p:spPr bwMode="auto">
          <a:xfrm>
            <a:off x="1086587" y="4169085"/>
            <a:ext cx="8760514" cy="59639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10000"/>
              </a:lnSpc>
              <a:spcAft>
                <a:spcPct val="0"/>
              </a:spcAft>
              <a:buNone/>
            </a:pPr>
            <a:r>
              <a:rPr lang="en-US" altLang="en-US" dirty="0">
                <a:solidFill>
                  <a:srgbClr val="163794"/>
                </a:solidFill>
                <a:latin typeface="InputMono Light" panose="02000509020000090004" pitchFamily="49" charset="0"/>
              </a:rPr>
              <a:t>because we used hidden layers and </a:t>
            </a:r>
            <a:r>
              <a:rPr lang="en-US" altLang="en-US" dirty="0" err="1">
                <a:solidFill>
                  <a:srgbClr val="163794"/>
                </a:solidFill>
                <a:latin typeface="InputMono Light" panose="02000509020000090004" pitchFamily="49" charset="0"/>
              </a:rPr>
              <a:t>relu</a:t>
            </a:r>
            <a:r>
              <a:rPr lang="en-US" altLang="en-US" dirty="0">
                <a:solidFill>
                  <a:srgbClr val="163794"/>
                </a:solidFill>
                <a:latin typeface="InputMono Light" panose="02000509020000090004" pitchFamily="49" charset="0"/>
              </a:rPr>
              <a:t> activations, our model is no longer drawing a rigid 1d line across our 2d data.</a:t>
            </a:r>
          </a:p>
          <a:p>
            <a:pPr marL="0" indent="0" fontAlgn="base">
              <a:lnSpc>
                <a:spcPct val="110000"/>
              </a:lnSpc>
              <a:spcAft>
                <a:spcPct val="0"/>
              </a:spcAft>
              <a:buNone/>
            </a:pPr>
            <a:endParaRPr lang="en-US" altLang="en-US" dirty="0">
              <a:solidFill>
                <a:srgbClr val="163794"/>
              </a:solidFill>
              <a:latin typeface="InputMono Light" panose="02000509020000090004" pitchFamily="49" charset="0"/>
            </a:endParaRPr>
          </a:p>
          <a:p>
            <a:pPr marL="0" indent="0" fontAlgn="base">
              <a:lnSpc>
                <a:spcPct val="110000"/>
              </a:lnSpc>
              <a:spcAft>
                <a:spcPct val="0"/>
              </a:spcAft>
              <a:buNone/>
            </a:pPr>
            <a:r>
              <a:rPr lang="en-US" altLang="en-US" b="1" dirty="0">
                <a:solidFill>
                  <a:srgbClr val="163794"/>
                </a:solidFill>
                <a:latin typeface="InputMono Light" panose="02000509020000090004" pitchFamily="49" charset="0"/>
              </a:rPr>
              <a:t>the probability field: </a:t>
            </a:r>
            <a:r>
              <a:rPr lang="en-US" altLang="en-US" dirty="0">
                <a:solidFill>
                  <a:srgbClr val="163794"/>
                </a:solidFill>
                <a:latin typeface="InputMono Light" panose="02000509020000090004" pitchFamily="49" charset="0"/>
              </a:rPr>
              <a:t>the model has learned a continuous, non-linear probability field. </a:t>
            </a:r>
          </a:p>
          <a:p>
            <a:pPr marL="0" indent="0" fontAlgn="base">
              <a:lnSpc>
                <a:spcPct val="110000"/>
              </a:lnSpc>
              <a:spcAft>
                <a:spcPct val="0"/>
              </a:spcAft>
              <a:buNone/>
            </a:pPr>
            <a:endParaRPr lang="en-US" altLang="en-US" dirty="0">
              <a:solidFill>
                <a:srgbClr val="163794"/>
              </a:solidFill>
              <a:latin typeface="InputMono Light" panose="02000509020000090004" pitchFamily="49" charset="0"/>
            </a:endParaRPr>
          </a:p>
          <a:p>
            <a:pPr fontAlgn="base">
              <a:lnSpc>
                <a:spcPct val="110000"/>
              </a:lnSpc>
              <a:spcAft>
                <a:spcPct val="0"/>
              </a:spcAft>
            </a:pPr>
            <a:r>
              <a:rPr lang="en-US" altLang="en-US" b="1" dirty="0">
                <a:solidFill>
                  <a:srgbClr val="163794"/>
                </a:solidFill>
                <a:latin typeface="InputMono Light" panose="02000509020000090004" pitchFamily="49" charset="0"/>
              </a:rPr>
              <a:t>deep blue areas: </a:t>
            </a:r>
            <a:r>
              <a:rPr lang="en-US" altLang="en-US" dirty="0">
                <a:solidFill>
                  <a:srgbClr val="163794"/>
                </a:solidFill>
                <a:latin typeface="InputMono Light" panose="02000509020000090004" pitchFamily="49" charset="0"/>
              </a:rPr>
              <a:t>the model is highly confident the data belongs to the inner circle </a:t>
            </a:r>
          </a:p>
          <a:p>
            <a:pPr fontAlgn="base">
              <a:lnSpc>
                <a:spcPct val="110000"/>
              </a:lnSpc>
              <a:spcAft>
                <a:spcPct val="0"/>
              </a:spcAft>
            </a:pPr>
            <a:r>
              <a:rPr lang="en-US" altLang="en-US" b="1" dirty="0">
                <a:solidFill>
                  <a:srgbClr val="163794"/>
                </a:solidFill>
                <a:latin typeface="InputMono Light" panose="02000509020000090004" pitchFamily="49" charset="0"/>
              </a:rPr>
              <a:t>deep red areas: </a:t>
            </a:r>
            <a:r>
              <a:rPr lang="en-US" altLang="en-US" dirty="0">
                <a:solidFill>
                  <a:srgbClr val="163794"/>
                </a:solidFill>
                <a:latin typeface="InputMono Light" panose="02000509020000090004" pitchFamily="49" charset="0"/>
              </a:rPr>
              <a:t>the model is highly confident the data belongs to the outer ring </a:t>
            </a:r>
          </a:p>
          <a:p>
            <a:pPr fontAlgn="base">
              <a:lnSpc>
                <a:spcPct val="110000"/>
              </a:lnSpc>
              <a:spcAft>
                <a:spcPct val="0"/>
              </a:spcAft>
            </a:pPr>
            <a:r>
              <a:rPr lang="en-US" altLang="en-US" b="1" dirty="0">
                <a:solidFill>
                  <a:srgbClr val="163794"/>
                </a:solidFill>
                <a:latin typeface="InputMono Light" panose="02000509020000090004" pitchFamily="49" charset="0"/>
              </a:rPr>
              <a:t>the "coastline" (white/light colors): </a:t>
            </a:r>
            <a:r>
              <a:rPr lang="en-US" altLang="en-US" dirty="0">
                <a:solidFill>
                  <a:srgbClr val="163794"/>
                </a:solidFill>
                <a:latin typeface="InputMono Light" panose="02000509020000090004" pitchFamily="49" charset="0"/>
              </a:rPr>
              <a:t>this is the actual decision boundary where the model crosses the 50% probability threshold.</a:t>
            </a:r>
          </a:p>
          <a:p>
            <a:pPr marL="0" indent="0" fontAlgn="base">
              <a:lnSpc>
                <a:spcPct val="110000"/>
              </a:lnSpc>
              <a:spcAft>
                <a:spcPct val="0"/>
              </a:spcAft>
              <a:buNone/>
            </a:pPr>
            <a:endParaRPr lang="en-US" altLang="en-US" dirty="0">
              <a:solidFill>
                <a:srgbClr val="163794"/>
              </a:solidFill>
              <a:latin typeface="InputMono Light" panose="02000509020000090004" pitchFamily="49" charset="0"/>
            </a:endParaRPr>
          </a:p>
          <a:p>
            <a:pPr marL="0" indent="0" fontAlgn="base">
              <a:lnSpc>
                <a:spcPct val="110000"/>
              </a:lnSpc>
              <a:spcAft>
                <a:spcPct val="0"/>
              </a:spcAft>
              <a:buNone/>
            </a:pPr>
            <a:endParaRPr lang="en-US" altLang="en-US" dirty="0">
              <a:solidFill>
                <a:srgbClr val="163794"/>
              </a:solidFill>
              <a:latin typeface="InputMono Light" panose="02000509020000090004" pitchFamily="49" charset="0"/>
            </a:endParaRPr>
          </a:p>
        </p:txBody>
      </p:sp>
      <p:pic>
        <p:nvPicPr>
          <p:cNvPr id="2" name="Picture 1">
            <a:extLst>
              <a:ext uri="{FF2B5EF4-FFF2-40B4-BE49-F238E27FC236}">
                <a16:creationId xmlns:a16="http://schemas.microsoft.com/office/drawing/2014/main" id="{29EAABD6-88F0-848F-ACC7-EB95560B6956}"/>
              </a:ext>
            </a:extLst>
          </p:cNvPr>
          <p:cNvPicPr>
            <a:picLocks noChangeAspect="1"/>
          </p:cNvPicPr>
          <p:nvPr/>
        </p:nvPicPr>
        <p:blipFill>
          <a:blip r:embed="rId3"/>
          <a:srcRect t="14586" r="16152"/>
          <a:stretch>
            <a:fillRect/>
          </a:stretch>
        </p:blipFill>
        <p:spPr>
          <a:xfrm>
            <a:off x="9847101" y="2835275"/>
            <a:ext cx="9448800" cy="8250195"/>
          </a:xfrm>
          <a:prstGeom prst="rect">
            <a:avLst/>
          </a:prstGeom>
        </p:spPr>
      </p:pic>
    </p:spTree>
    <p:extLst>
      <p:ext uri="{BB962C8B-B14F-4D97-AF65-F5344CB8AC3E}">
        <p14:creationId xmlns:p14="http://schemas.microsoft.com/office/powerpoint/2010/main" val="4286680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ADAD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7748</TotalTime>
  <Words>994</Words>
  <Application>Microsoft Macintosh PowerPoint</Application>
  <PresentationFormat>Custom</PresentationFormat>
  <Paragraphs>165</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Cambria Math</vt:lpstr>
      <vt:lpstr>IBM Plex Sans</vt:lpstr>
      <vt:lpstr>InputMono</vt:lpstr>
      <vt:lpstr>InputMono Light</vt:lpstr>
      <vt:lpstr>Office Theme</vt:lpstr>
      <vt:lpstr>PowerPoint Presentation</vt:lpstr>
      <vt:lpstr>PowerPoint Presentation</vt:lpstr>
      <vt:lpstr>neural networks are computational models inspired by the human brain's neural structure.   they consist of interconnected neurons organized in layers that transform input data into meaningful outputs.   each neuron performs weighted calculations on its inputs and applies an activation function to introduce non-linearity.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AERO62520</dc:title>
  <cp:lastModifiedBy>Diego Corona Lopez</cp:lastModifiedBy>
  <cp:revision>17</cp:revision>
  <dcterms:created xsi:type="dcterms:W3CDTF">2026-01-27T08:59:44Z</dcterms:created>
  <dcterms:modified xsi:type="dcterms:W3CDTF">2026-02-20T12:48:21Z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2026-01-26T00:00:00Z</vt:filetime>
  </property>
  <property fmtid="{D5CDD505-2E9C-101B-9397-08002B2CF9AE}" pid="3" name="Creator">
    <vt:lpwstr>Adobe Illustrator 30.1 (Macintosh)</vt:lpwstr>
  </property>
  <property fmtid="{D5CDD505-2E9C-101B-9397-08002B2CF9AE}" pid="4" name="CreatorVersion">
    <vt:lpwstr>21.0.0</vt:lpwstr>
  </property>
  <property fmtid="{D5CDD505-2E9C-101B-9397-08002B2CF9AE}" pid="5" name="LastSaved">
    <vt:filetime>2026-01-27T00:00:00Z</vt:filetime>
  </property>
  <property fmtid="{D5CDD505-2E9C-101B-9397-08002B2CF9AE}" pid="6" name="Producer">
    <vt:lpwstr>Adobe PDF library 17.00</vt:lpwstr>
  </property>
</Properties>
</file>