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278" r:id="rId4"/>
    <p:sldId id="292" r:id="rId5"/>
    <p:sldId id="282" r:id="rId6"/>
    <p:sldId id="293" r:id="rId7"/>
    <p:sldId id="296" r:id="rId8"/>
    <p:sldId id="283" r:id="rId9"/>
    <p:sldId id="297" r:id="rId10"/>
    <p:sldId id="294" r:id="rId11"/>
    <p:sldId id="298" r:id="rId12"/>
    <p:sldId id="285" r:id="rId13"/>
    <p:sldId id="284" r:id="rId14"/>
    <p:sldId id="299" r:id="rId15"/>
    <p:sldId id="295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794"/>
    <a:srgbClr val="EE4C2C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43"/>
    <p:restoredTop sz="96842"/>
  </p:normalViewPr>
  <p:slideViewPr>
    <p:cSldViewPr>
      <p:cViewPr varScale="1">
        <p:scale>
          <a:sx n="71" d="100"/>
          <a:sy n="71" d="100"/>
        </p:scale>
        <p:origin x="200" y="416"/>
      </p:cViewPr>
      <p:guideLst>
        <p:guide orient="horz" pos="2880"/>
        <p:guide pos="2160"/>
      </p:guideLst>
    </p:cSldViewPr>
  </p:slideViewPr>
  <p:notesTextViewPr>
    <p:cViewPr>
      <p:scale>
        <a:sx n="120" d="100"/>
        <a:sy n="1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25D8C-F4DA-D345-83D7-04EC01554320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FE423-54EC-2840-A3E4-FB38557F2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4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03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3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D2B6-5D57-DBFF-6AA1-62A4B4F6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CAF43-2402-3F31-33CF-978BE9955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88302-AE6E-86D6-3B64-46A5B909B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1A34-73D8-1A2F-24D1-73F094C34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25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A986-3977-B64C-72FF-B5D354B9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E7F09-645C-BF92-DDF9-12260E450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2C913-EB95-15DB-7261-D794CFBD4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EA3EA-D3E3-ECCB-49B0-F083A11A4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24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6E752-837E-17C9-CF03-4D657BEC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FFD9B-7C90-8580-1D56-6AA2E7A63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0C247-14E5-1E9B-28F4-BF7D94DD9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05C94-F626-2B46-02F2-B85DD59B8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96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D628-A0E9-9AA8-3885-9E22DDB0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54183-7341-400C-78F1-CB6D7254A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3387D-7040-4073-AAD6-8E3564E60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7B33B-4AA5-B6C0-04B3-BA2057FC2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32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54B0-D861-A5F7-9266-59C92F9F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7EF84-2454-02C4-2A5D-8899DDEE2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AF86F-6898-0265-51F4-CA0F034D3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C3BDC-94B2-38C3-FDCC-AB966519A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64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5E828-A7B1-C481-CED4-F22EB524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48998-912E-EF52-F58F-2B72081FD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DD609-2D68-EE35-B601-AF57E9506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79B47-8752-6CB7-87E3-1A8E3D651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45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BBDE-89C9-1ECC-0F8A-6AC58B6D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321D4-6AE6-E8C2-131D-BB903C274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28649-927F-14DB-BDFA-18B362CCA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07E58-17E5-0202-6D83-4A7CEC28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24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3C2A-475D-9F2B-26B9-2E313AC6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610CA-E169-D89A-5C66-0CD2C9AE1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91B33-F6E3-70F2-C37D-EB8A4A7AE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8F011-193C-8D0E-7B40-CED1DB932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4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F708-6295-48DD-319C-25FC9990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B3DA4-6DBB-CAA0-80BA-CA34B621D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CAF67-3B61-3E98-16EA-F5F06432E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BAAA8-443D-50C1-F377-0D33F627B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52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E860-3823-E451-193A-5A2BF34D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EEF5D-40CE-A0AE-FD66-9BAD67D00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0DAA2-B528-C429-66F2-76C22E6BC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B05B1-BD3F-BFB1-3A6E-2E1A94BE1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88ED-C644-8051-FA01-550E1B10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799BD-C42A-D0F9-9523-C6FC34CF5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13FF6-6FC6-2C7E-2FB9-543DD554B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97244-38FD-5E52-F11E-A3CFB6C5C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36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CAE6-3F4D-8CCB-9044-98203EB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67C4-3BC1-4022-5C3F-2C8315856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9DA9C-9EC5-0681-AB91-BC3FAC04B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C0A45-862E-5DED-EB32-59F2CCF76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9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B948-D5AF-B252-6C10-8B5BFA9F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C21DF-1F97-3E04-3D3E-37F0A0B2F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A9D72-A095-6238-4A41-1377B82D2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DA8A2-548F-AB5F-DB14-05994AC40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E423-54EC-2840-A3E4-FB38557F24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48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rgbClr val="DADADA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rgbClr val="163794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DADADA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163794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DADADA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63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55589" y="2499850"/>
            <a:ext cx="13148944" cy="8808720"/>
          </a:xfrm>
          <a:custGeom>
            <a:avLst/>
            <a:gdLst/>
            <a:ahLst/>
            <a:cxnLst/>
            <a:rect l="l" t="t" r="r" b="b"/>
            <a:pathLst>
              <a:path w="13148944" h="8808720">
                <a:moveTo>
                  <a:pt x="13148500" y="0"/>
                </a:moveTo>
                <a:lnTo>
                  <a:pt x="0" y="0"/>
                </a:lnTo>
                <a:lnTo>
                  <a:pt x="0" y="8808705"/>
                </a:lnTo>
                <a:lnTo>
                  <a:pt x="13148500" y="8808705"/>
                </a:lnTo>
                <a:lnTo>
                  <a:pt x="1314850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32015" y="7563474"/>
            <a:ext cx="1751330" cy="1751330"/>
          </a:xfrm>
          <a:custGeom>
            <a:avLst/>
            <a:gdLst/>
            <a:ahLst/>
            <a:cxnLst/>
            <a:rect l="l" t="t" r="r" b="b"/>
            <a:pathLst>
              <a:path w="1751330" h="1751329">
                <a:moveTo>
                  <a:pt x="875617" y="0"/>
                </a:moveTo>
                <a:lnTo>
                  <a:pt x="827574" y="1295"/>
                </a:lnTo>
                <a:lnTo>
                  <a:pt x="780209" y="5138"/>
                </a:lnTo>
                <a:lnTo>
                  <a:pt x="733588" y="11460"/>
                </a:lnTo>
                <a:lnTo>
                  <a:pt x="687777" y="20196"/>
                </a:lnTo>
                <a:lnTo>
                  <a:pt x="642844" y="31278"/>
                </a:lnTo>
                <a:lnTo>
                  <a:pt x="598855" y="44639"/>
                </a:lnTo>
                <a:lnTo>
                  <a:pt x="555877" y="60214"/>
                </a:lnTo>
                <a:lnTo>
                  <a:pt x="513977" y="77935"/>
                </a:lnTo>
                <a:lnTo>
                  <a:pt x="473221" y="97735"/>
                </a:lnTo>
                <a:lnTo>
                  <a:pt x="433677" y="119548"/>
                </a:lnTo>
                <a:lnTo>
                  <a:pt x="395411" y="143307"/>
                </a:lnTo>
                <a:lnTo>
                  <a:pt x="358490" y="168944"/>
                </a:lnTo>
                <a:lnTo>
                  <a:pt x="322980" y="196394"/>
                </a:lnTo>
                <a:lnTo>
                  <a:pt x="288949" y="225590"/>
                </a:lnTo>
                <a:lnTo>
                  <a:pt x="256463" y="256464"/>
                </a:lnTo>
                <a:lnTo>
                  <a:pt x="225589" y="288951"/>
                </a:lnTo>
                <a:lnTo>
                  <a:pt x="196393" y="322982"/>
                </a:lnTo>
                <a:lnTo>
                  <a:pt x="168944" y="358492"/>
                </a:lnTo>
                <a:lnTo>
                  <a:pt x="143306" y="395414"/>
                </a:lnTo>
                <a:lnTo>
                  <a:pt x="119548" y="433680"/>
                </a:lnTo>
                <a:lnTo>
                  <a:pt x="97735" y="473225"/>
                </a:lnTo>
                <a:lnTo>
                  <a:pt x="77935" y="513981"/>
                </a:lnTo>
                <a:lnTo>
                  <a:pt x="60214" y="555882"/>
                </a:lnTo>
                <a:lnTo>
                  <a:pt x="44639" y="598860"/>
                </a:lnTo>
                <a:lnTo>
                  <a:pt x="31278" y="642850"/>
                </a:lnTo>
                <a:lnTo>
                  <a:pt x="20196" y="687784"/>
                </a:lnTo>
                <a:lnTo>
                  <a:pt x="11460" y="733595"/>
                </a:lnTo>
                <a:lnTo>
                  <a:pt x="5138" y="780218"/>
                </a:lnTo>
                <a:lnTo>
                  <a:pt x="1295" y="827584"/>
                </a:lnTo>
                <a:lnTo>
                  <a:pt x="0" y="875627"/>
                </a:lnTo>
                <a:lnTo>
                  <a:pt x="1295" y="923671"/>
                </a:lnTo>
                <a:lnTo>
                  <a:pt x="5138" y="971037"/>
                </a:lnTo>
                <a:lnTo>
                  <a:pt x="11460" y="1017659"/>
                </a:lnTo>
                <a:lnTo>
                  <a:pt x="20196" y="1063471"/>
                </a:lnTo>
                <a:lnTo>
                  <a:pt x="31278" y="1108405"/>
                </a:lnTo>
                <a:lnTo>
                  <a:pt x="44639" y="1152394"/>
                </a:lnTo>
                <a:lnTo>
                  <a:pt x="60214" y="1195373"/>
                </a:lnTo>
                <a:lnTo>
                  <a:pt x="77935" y="1237273"/>
                </a:lnTo>
                <a:lnTo>
                  <a:pt x="97735" y="1278030"/>
                </a:lnTo>
                <a:lnTo>
                  <a:pt x="119548" y="1317574"/>
                </a:lnTo>
                <a:lnTo>
                  <a:pt x="143306" y="1355841"/>
                </a:lnTo>
                <a:lnTo>
                  <a:pt x="168944" y="1392763"/>
                </a:lnTo>
                <a:lnTo>
                  <a:pt x="196393" y="1428273"/>
                </a:lnTo>
                <a:lnTo>
                  <a:pt x="225589" y="1462304"/>
                </a:lnTo>
                <a:lnTo>
                  <a:pt x="256463" y="1494790"/>
                </a:lnTo>
                <a:lnTo>
                  <a:pt x="288949" y="1525665"/>
                </a:lnTo>
                <a:lnTo>
                  <a:pt x="322980" y="1554860"/>
                </a:lnTo>
                <a:lnTo>
                  <a:pt x="358490" y="1582310"/>
                </a:lnTo>
                <a:lnTo>
                  <a:pt x="395411" y="1607948"/>
                </a:lnTo>
                <a:lnTo>
                  <a:pt x="433677" y="1631707"/>
                </a:lnTo>
                <a:lnTo>
                  <a:pt x="473221" y="1653519"/>
                </a:lnTo>
                <a:lnTo>
                  <a:pt x="513977" y="1673320"/>
                </a:lnTo>
                <a:lnTo>
                  <a:pt x="555877" y="1691041"/>
                </a:lnTo>
                <a:lnTo>
                  <a:pt x="598855" y="1706615"/>
                </a:lnTo>
                <a:lnTo>
                  <a:pt x="642844" y="1719977"/>
                </a:lnTo>
                <a:lnTo>
                  <a:pt x="687777" y="1731059"/>
                </a:lnTo>
                <a:lnTo>
                  <a:pt x="733588" y="1739795"/>
                </a:lnTo>
                <a:lnTo>
                  <a:pt x="780209" y="1746117"/>
                </a:lnTo>
                <a:lnTo>
                  <a:pt x="827574" y="1749959"/>
                </a:lnTo>
                <a:lnTo>
                  <a:pt x="875617" y="1751255"/>
                </a:lnTo>
                <a:lnTo>
                  <a:pt x="923660" y="1749959"/>
                </a:lnTo>
                <a:lnTo>
                  <a:pt x="971026" y="1746117"/>
                </a:lnTo>
                <a:lnTo>
                  <a:pt x="1017649" y="1739795"/>
                </a:lnTo>
                <a:lnTo>
                  <a:pt x="1063460" y="1731059"/>
                </a:lnTo>
                <a:lnTo>
                  <a:pt x="1108394" y="1719977"/>
                </a:lnTo>
                <a:lnTo>
                  <a:pt x="1152384" y="1706615"/>
                </a:lnTo>
                <a:lnTo>
                  <a:pt x="1195362" y="1691041"/>
                </a:lnTo>
                <a:lnTo>
                  <a:pt x="1237263" y="1673320"/>
                </a:lnTo>
                <a:lnTo>
                  <a:pt x="1278019" y="1653519"/>
                </a:lnTo>
                <a:lnTo>
                  <a:pt x="1317564" y="1631707"/>
                </a:lnTo>
                <a:lnTo>
                  <a:pt x="1355830" y="1607948"/>
                </a:lnTo>
                <a:lnTo>
                  <a:pt x="1392752" y="1582310"/>
                </a:lnTo>
                <a:lnTo>
                  <a:pt x="1428262" y="1554860"/>
                </a:lnTo>
                <a:lnTo>
                  <a:pt x="1462294" y="1525665"/>
                </a:lnTo>
                <a:lnTo>
                  <a:pt x="1494780" y="1494790"/>
                </a:lnTo>
                <a:lnTo>
                  <a:pt x="1525654" y="1462304"/>
                </a:lnTo>
                <a:lnTo>
                  <a:pt x="1554850" y="1428273"/>
                </a:lnTo>
                <a:lnTo>
                  <a:pt x="1582300" y="1392763"/>
                </a:lnTo>
                <a:lnTo>
                  <a:pt x="1607938" y="1355841"/>
                </a:lnTo>
                <a:lnTo>
                  <a:pt x="1631696" y="1317574"/>
                </a:lnTo>
                <a:lnTo>
                  <a:pt x="1653509" y="1278030"/>
                </a:lnTo>
                <a:lnTo>
                  <a:pt x="1673309" y="1237273"/>
                </a:lnTo>
                <a:lnTo>
                  <a:pt x="1691030" y="1195373"/>
                </a:lnTo>
                <a:lnTo>
                  <a:pt x="1706605" y="1152394"/>
                </a:lnTo>
                <a:lnTo>
                  <a:pt x="1719966" y="1108405"/>
                </a:lnTo>
                <a:lnTo>
                  <a:pt x="1731049" y="1063471"/>
                </a:lnTo>
                <a:lnTo>
                  <a:pt x="1739784" y="1017659"/>
                </a:lnTo>
                <a:lnTo>
                  <a:pt x="1746107" y="971037"/>
                </a:lnTo>
                <a:lnTo>
                  <a:pt x="1749949" y="923671"/>
                </a:lnTo>
                <a:lnTo>
                  <a:pt x="1751245" y="875627"/>
                </a:lnTo>
                <a:lnTo>
                  <a:pt x="1749949" y="827584"/>
                </a:lnTo>
                <a:lnTo>
                  <a:pt x="1746107" y="780218"/>
                </a:lnTo>
                <a:lnTo>
                  <a:pt x="1739784" y="733595"/>
                </a:lnTo>
                <a:lnTo>
                  <a:pt x="1731049" y="687784"/>
                </a:lnTo>
                <a:lnTo>
                  <a:pt x="1719966" y="642850"/>
                </a:lnTo>
                <a:lnTo>
                  <a:pt x="1706605" y="598860"/>
                </a:lnTo>
                <a:lnTo>
                  <a:pt x="1691030" y="555882"/>
                </a:lnTo>
                <a:lnTo>
                  <a:pt x="1673309" y="513981"/>
                </a:lnTo>
                <a:lnTo>
                  <a:pt x="1653509" y="473225"/>
                </a:lnTo>
                <a:lnTo>
                  <a:pt x="1631696" y="433680"/>
                </a:lnTo>
                <a:lnTo>
                  <a:pt x="1607938" y="395414"/>
                </a:lnTo>
                <a:lnTo>
                  <a:pt x="1582300" y="358492"/>
                </a:lnTo>
                <a:lnTo>
                  <a:pt x="1554850" y="322982"/>
                </a:lnTo>
                <a:lnTo>
                  <a:pt x="1525654" y="288951"/>
                </a:lnTo>
                <a:lnTo>
                  <a:pt x="1494780" y="256464"/>
                </a:lnTo>
                <a:lnTo>
                  <a:pt x="1462294" y="225590"/>
                </a:lnTo>
                <a:lnTo>
                  <a:pt x="1428262" y="196394"/>
                </a:lnTo>
                <a:lnTo>
                  <a:pt x="1392752" y="168944"/>
                </a:lnTo>
                <a:lnTo>
                  <a:pt x="1355830" y="143307"/>
                </a:lnTo>
                <a:lnTo>
                  <a:pt x="1317564" y="119548"/>
                </a:lnTo>
                <a:lnTo>
                  <a:pt x="1278019" y="97735"/>
                </a:lnTo>
                <a:lnTo>
                  <a:pt x="1237263" y="77935"/>
                </a:lnTo>
                <a:lnTo>
                  <a:pt x="1195362" y="60214"/>
                </a:lnTo>
                <a:lnTo>
                  <a:pt x="1152384" y="44639"/>
                </a:lnTo>
                <a:lnTo>
                  <a:pt x="1108394" y="31278"/>
                </a:lnTo>
                <a:lnTo>
                  <a:pt x="1063460" y="20196"/>
                </a:lnTo>
                <a:lnTo>
                  <a:pt x="1017649" y="11460"/>
                </a:lnTo>
                <a:lnTo>
                  <a:pt x="971026" y="5138"/>
                </a:lnTo>
                <a:lnTo>
                  <a:pt x="923660" y="1295"/>
                </a:lnTo>
                <a:lnTo>
                  <a:pt x="875617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49465" y="7973633"/>
            <a:ext cx="481965" cy="963294"/>
          </a:xfrm>
          <a:custGeom>
            <a:avLst/>
            <a:gdLst/>
            <a:ahLst/>
            <a:cxnLst/>
            <a:rect l="l" t="t" r="r" b="b"/>
            <a:pathLst>
              <a:path w="481964" h="963295">
                <a:moveTo>
                  <a:pt x="0" y="0"/>
                </a:moveTo>
                <a:lnTo>
                  <a:pt x="481618" y="481618"/>
                </a:lnTo>
                <a:lnTo>
                  <a:pt x="0" y="963237"/>
                </a:lnTo>
              </a:path>
            </a:pathLst>
          </a:custGeom>
          <a:ln w="20941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0" i="0">
                <a:solidFill>
                  <a:srgbClr val="DADADA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7043" y="1772790"/>
            <a:ext cx="13194030" cy="1332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rgbClr val="DADADA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9287" y="1730114"/>
            <a:ext cx="14086840" cy="321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0" i="0">
                <a:solidFill>
                  <a:srgbClr val="163794"/>
                </a:solidFill>
                <a:latin typeface="InputMono"/>
                <a:cs typeface="InputMon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object 2">
            <a:extLst>
              <a:ext uri="{FF2B5EF4-FFF2-40B4-BE49-F238E27FC236}">
                <a16:creationId xmlns:a16="http://schemas.microsoft.com/office/drawing/2014/main" id="{8F9163AB-6597-02D6-16EF-4276DC47FACA}"/>
              </a:ext>
            </a:extLst>
          </p:cNvPr>
          <p:cNvSpPr/>
          <p:nvPr/>
        </p:nvSpPr>
        <p:spPr>
          <a:xfrm>
            <a:off x="-82550" y="-60325"/>
            <a:ext cx="20269200" cy="1158240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637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1375" y="1331989"/>
            <a:ext cx="17440275" cy="0"/>
          </a:xfrm>
          <a:custGeom>
            <a:avLst/>
            <a:gdLst/>
            <a:ahLst/>
            <a:cxnLst/>
            <a:rect l="l" t="t" r="r" b="b"/>
            <a:pathLst>
              <a:path w="17440275">
                <a:moveTo>
                  <a:pt x="0" y="0"/>
                </a:moveTo>
                <a:lnTo>
                  <a:pt x="17440118" y="0"/>
                </a:lnTo>
              </a:path>
            </a:pathLst>
          </a:custGeom>
          <a:ln w="20941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841375" y="9702169"/>
            <a:ext cx="5811771" cy="32957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GB" sz="205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FACULTY OF SCIENCE AND ENGINEERING</a:t>
            </a:r>
            <a:endParaRPr sz="20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325996" y="9702169"/>
            <a:ext cx="402145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UNIVERSITY</a:t>
            </a:r>
            <a:r>
              <a:rPr sz="2050" spc="-2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205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OF</a:t>
            </a:r>
            <a:r>
              <a:rPr sz="2050" spc="-2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2050" spc="-1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MANCHESTER</a:t>
            </a:r>
            <a:endParaRPr sz="20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18" name="object 118" descr="$PPTXTitle"/>
          <p:cNvSpPr txBox="1">
            <a:spLocks noGrp="1"/>
          </p:cNvSpPr>
          <p:nvPr>
            <p:ph type="body" idx="1"/>
          </p:nvPr>
        </p:nvSpPr>
        <p:spPr>
          <a:xfrm>
            <a:off x="841375" y="1730114"/>
            <a:ext cx="17440274" cy="32361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17400" spc="1265" dirty="0">
                <a:solidFill>
                  <a:srgbClr val="DADADA"/>
                </a:solidFill>
                <a:latin typeface="InputMono Light" panose="02000509020000090004" pitchFamily="49" charset="0"/>
              </a:rPr>
              <a:t>SESSION 03</a:t>
            </a:r>
            <a:endParaRPr sz="17400" dirty="0">
              <a:latin typeface="InputMono Light" panose="02000509020000090004" pitchFamily="49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  <a:tabLst>
                <a:tab pos="3460115" algn="l"/>
                <a:tab pos="6395720" algn="l"/>
              </a:tabLst>
            </a:pPr>
            <a:r>
              <a:rPr lang="en-GB" sz="2050" spc="-10" dirty="0">
                <a:solidFill>
                  <a:srgbClr val="DADADA"/>
                </a:solidFill>
                <a:latin typeface="InputMono Light" panose="02000509020000090004" pitchFamily="49" charset="0"/>
              </a:rPr>
              <a:t>WORKSHOP</a:t>
            </a:r>
            <a:r>
              <a:rPr sz="2050" dirty="0">
                <a:solidFill>
                  <a:srgbClr val="DADADA"/>
                </a:solidFill>
                <a:latin typeface="InputMono Light" panose="02000509020000090004" pitchFamily="49" charset="0"/>
              </a:rPr>
              <a:t>	FEBRUARY</a:t>
            </a:r>
            <a:r>
              <a:rPr sz="2050" spc="-30" dirty="0">
                <a:solidFill>
                  <a:srgbClr val="DADADA"/>
                </a:solidFill>
                <a:latin typeface="InputMono Light" panose="02000509020000090004" pitchFamily="49" charset="0"/>
              </a:rPr>
              <a:t> </a:t>
            </a:r>
            <a:r>
              <a:rPr sz="2050" spc="-20" dirty="0">
                <a:solidFill>
                  <a:srgbClr val="DADADA"/>
                </a:solidFill>
                <a:latin typeface="InputMono Light" panose="02000509020000090004" pitchFamily="49" charset="0"/>
              </a:rPr>
              <a:t>2026</a:t>
            </a:r>
            <a:r>
              <a:rPr sz="2050" dirty="0">
                <a:solidFill>
                  <a:srgbClr val="DADADA"/>
                </a:solidFill>
                <a:latin typeface="InputMono Light" panose="02000509020000090004" pitchFamily="49" charset="0"/>
              </a:rPr>
              <a:t>	</a:t>
            </a:r>
            <a:r>
              <a:rPr lang="en-GB" sz="2050" dirty="0">
                <a:solidFill>
                  <a:srgbClr val="DADADA"/>
                </a:solidFill>
                <a:latin typeface="InputMono Light" panose="02000509020000090004" pitchFamily="49" charset="0"/>
              </a:rPr>
              <a:t> </a:t>
            </a:r>
            <a:r>
              <a:rPr sz="2050" dirty="0">
                <a:solidFill>
                  <a:srgbClr val="DADADA"/>
                </a:solidFill>
                <a:latin typeface="InputMono Light" panose="02000509020000090004" pitchFamily="49" charset="0"/>
              </a:rPr>
              <a:t>BY</a:t>
            </a:r>
            <a:r>
              <a:rPr sz="2050" spc="20" dirty="0">
                <a:solidFill>
                  <a:srgbClr val="DADADA"/>
                </a:solidFill>
                <a:latin typeface="InputMono Light" panose="02000509020000090004" pitchFamily="49" charset="0"/>
              </a:rPr>
              <a:t> </a:t>
            </a:r>
            <a:r>
              <a:rPr sz="2050" dirty="0">
                <a:solidFill>
                  <a:srgbClr val="DADADA"/>
                </a:solidFill>
                <a:latin typeface="InputMono Light" panose="02000509020000090004" pitchFamily="49" charset="0"/>
              </a:rPr>
              <a:t>DR</a:t>
            </a:r>
            <a:r>
              <a:rPr sz="2050" spc="15" dirty="0">
                <a:solidFill>
                  <a:srgbClr val="DADADA"/>
                </a:solidFill>
                <a:latin typeface="InputMono Light" panose="02000509020000090004" pitchFamily="49" charset="0"/>
              </a:rPr>
              <a:t> </a:t>
            </a:r>
            <a:r>
              <a:rPr sz="2050" spc="-10" dirty="0">
                <a:solidFill>
                  <a:srgbClr val="DADADA"/>
                </a:solidFill>
                <a:latin typeface="InputMono Light" panose="02000509020000090004" pitchFamily="49" charset="0"/>
              </a:rPr>
              <a:t>CORONA-LOPEZ</a:t>
            </a:r>
            <a:endParaRPr sz="2050" dirty="0">
              <a:latin typeface="InputMono Light" panose="02000509020000090004" pitchFamily="49" charset="0"/>
            </a:endParaRPr>
          </a:p>
        </p:txBody>
      </p:sp>
      <p:pic>
        <p:nvPicPr>
          <p:cNvPr id="1028" name="Picture 4" descr="Optimization loss landscape of two deep networks (DNs) along a 2D slice...  | Download Scientific Diagram">
            <a:extLst>
              <a:ext uri="{FF2B5EF4-FFF2-40B4-BE49-F238E27FC236}">
                <a16:creationId xmlns:a16="http://schemas.microsoft.com/office/drawing/2014/main" id="{9F7DC024-5541-5A22-8FEA-F18F434C0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123" b="91738" l="1412" r="97647">
                        <a14:foregroundMark x1="6824" y1="54986" x2="8941" y2="29915"/>
                        <a14:foregroundMark x1="8941" y1="29915" x2="8941" y2="29345"/>
                        <a14:foregroundMark x1="61529" y1="62963" x2="70353" y2="63533"/>
                        <a14:foregroundMark x1="70353" y1="63533" x2="81412" y2="61538"/>
                        <a14:foregroundMark x1="81412" y1="61538" x2="81412" y2="61538"/>
                        <a14:foregroundMark x1="81059" y1="56125" x2="72588" y2="47293"/>
                        <a14:foregroundMark x1="72588" y1="47293" x2="66118" y2="57265"/>
                        <a14:foregroundMark x1="66118" y1="57265" x2="64118" y2="68946"/>
                        <a14:foregroundMark x1="64118" y1="68946" x2="71059" y2="77778"/>
                        <a14:foregroundMark x1="71059" y1="77778" x2="81647" y2="72080"/>
                        <a14:foregroundMark x1="81647" y1="72080" x2="82706" y2="60399"/>
                        <a14:foregroundMark x1="82706" y1="60399" x2="77176" y2="51282"/>
                        <a14:foregroundMark x1="1529" y1="71225" x2="2588" y2="33903"/>
                        <a14:foregroundMark x1="2588" y1="33903" x2="5882" y2="25071"/>
                        <a14:foregroundMark x1="5882" y1="25071" x2="7412" y2="17949"/>
                        <a14:foregroundMark x1="35294" y1="7123" x2="35294" y2="7123"/>
                        <a14:foregroundMark x1="1412" y1="70370" x2="1412" y2="70370"/>
                        <a14:foregroundMark x1="23059" y1="85470" x2="23059" y2="85470"/>
                        <a14:foregroundMark x1="23294" y1="91738" x2="21647" y2="84615"/>
                        <a14:foregroundMark x1="63529" y1="47863" x2="55176" y2="52422"/>
                        <a14:foregroundMark x1="55176" y1="52422" x2="55765" y2="64387"/>
                        <a14:foregroundMark x1="55765" y1="64387" x2="82588" y2="76638"/>
                        <a14:foregroundMark x1="82588" y1="76638" x2="84588" y2="66952"/>
                        <a14:foregroundMark x1="84588" y1="66952" x2="83882" y2="47578"/>
                        <a14:foregroundMark x1="93765" y1="76638" x2="93765" y2="76638"/>
                        <a14:foregroundMark x1="94235" y1="77493" x2="94235" y2="77493"/>
                        <a14:foregroundMark x1="97647" y1="79487" x2="97647" y2="794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969"/>
          <a:stretch>
            <a:fillRect/>
          </a:stretch>
        </p:blipFill>
        <p:spPr bwMode="auto">
          <a:xfrm>
            <a:off x="8398101" y="4664075"/>
            <a:ext cx="11788549" cy="491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object 119"/>
          <p:cNvSpPr txBox="1"/>
          <p:nvPr/>
        </p:nvSpPr>
        <p:spPr>
          <a:xfrm>
            <a:off x="841375" y="6264794"/>
            <a:ext cx="899223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4250" dirty="0">
                <a:solidFill>
                  <a:srgbClr val="DADADA"/>
                </a:solidFill>
                <a:latin typeface="InputMono Light" panose="02000509020000090004" pitchFamily="49" charset="0"/>
                <a:cs typeface="InputMono"/>
              </a:rPr>
              <a:t>TRAINING NEURAL NETWORKS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0B7D-8E4C-D4DF-E3A8-839A5F4E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D26C8B5D-B108-2AAA-1A86-EFA6DBCF6B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15"/>
          <a:stretch>
            <a:fillRect/>
          </a:stretch>
        </p:blipFill>
        <p:spPr bwMode="auto">
          <a:xfrm>
            <a:off x="11576050" y="1982107"/>
            <a:ext cx="8343776" cy="751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6F19EC79-831C-03B9-9460-635A2A3C2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5486400" cy="1695980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AGENDA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8D6ADDA6-978C-12E9-1599-61C80B709A89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61A896CF-8D1B-8DAC-5798-C3E593B8BEDA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3" name="object 118">
            <a:extLst>
              <a:ext uri="{FF2B5EF4-FFF2-40B4-BE49-F238E27FC236}">
                <a16:creationId xmlns:a16="http://schemas.microsoft.com/office/drawing/2014/main" id="{96CDB6B9-5969-8F16-6BC6-10E242A04907}"/>
              </a:ext>
            </a:extLst>
          </p:cNvPr>
          <p:cNvSpPr txBox="1"/>
          <p:nvPr/>
        </p:nvSpPr>
        <p:spPr>
          <a:xfrm>
            <a:off x="911866" y="2835214"/>
            <a:ext cx="9825984" cy="61061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the </a:t>
            </a:r>
            <a:r>
              <a:rPr lang="en-GB" sz="2200" b="1" spc="-10" dirty="0" err="1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pytorch</a:t>
            </a: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workflow: 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adapting the standard loop for unsupervised learning.</a:t>
            </a:r>
          </a:p>
          <a:p>
            <a:pPr marL="355600" indent="-34290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case study: 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heart and lung sounds (</a:t>
            </a:r>
            <a:r>
              <a:rPr lang="en-GB" sz="2200" spc="-10" dirty="0" err="1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hls-cmds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) dataset.</a:t>
            </a:r>
          </a:p>
          <a:p>
            <a:pPr marL="355600" indent="-34290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audio preprocessing: 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dimensionality reduction.</a:t>
            </a:r>
          </a:p>
          <a:p>
            <a:pPr marL="355600" indent="-34290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autoencoder architecture: 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encoders, decoders.</a:t>
            </a:r>
          </a:p>
          <a:p>
            <a:pPr marL="355600" indent="-34290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training &amp; validation: 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overfitting/underfitting.</a:t>
            </a:r>
          </a:p>
          <a:p>
            <a:pPr marL="355600" indent="-342900" algn="l" rtl="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b="1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anomaly detection: </a:t>
            </a:r>
            <a:r>
              <a:rPr lang="en-GB" sz="2200" spc="-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reconstruction error as a diagnostic tool.</a:t>
            </a:r>
          </a:p>
          <a:p>
            <a:pPr marL="12700" rtl="0"/>
            <a:endParaRPr lang="en-GB" sz="2200" dirty="0">
              <a:latin typeface="InputMono"/>
              <a:cs typeface="InputMon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GB" sz="2200" dirty="0">
              <a:latin typeface="InputMono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69F628A4-FE5C-BF25-0F33-125CC029C518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1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749C0680-6965-21ED-7821-18949B4E6CFB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B7AAA3-66F3-7E08-CF7F-E67F0081E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96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2752-1A37-EEE6-40A5-0673A142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ABFC09B4-E1BC-C4B9-59E6-F8F67A807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6477000" cy="1695980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WORKFLOW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11A0A5FA-23B1-61B6-1A9C-E1CAFC0F831D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8CC634C9-5568-C3AF-99E8-01E6D1821723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1D1F814A-09CD-9CC0-702A-7E12211568AB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03369CA8-616F-1C0A-2B9F-E70EF5AF494D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75C132-E8C2-120B-093A-547CEE8D3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3081745"/>
            <a:ext cx="18684440" cy="693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23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D7E9-22C1-992C-8DDA-FA1AC1F4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2ACA2B77-EF7E-F5FA-5CF2-CE756996E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6477000" cy="3011725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CASE STUDY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B207F24A-D789-D623-4EE7-F7C198994A7A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C32CE548-E4E1-B14B-98B7-48D68CAE7294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ECAFFA1F-41CA-D2D4-0C9F-8015FBB14CEA}"/>
              </a:ext>
            </a:extLst>
          </p:cNvPr>
          <p:cNvSpPr txBox="1"/>
          <p:nvPr/>
        </p:nvSpPr>
        <p:spPr>
          <a:xfrm>
            <a:off x="911866" y="10058349"/>
            <a:ext cx="71818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3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6F7787CB-1BB6-26E5-00F8-F1917F9263D5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07864BC-B165-AF8A-20F7-F075A0FA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0" y="1516783"/>
            <a:ext cx="10744200" cy="67286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Medium" panose="02000709030000090004" pitchFamily="49" charset="0"/>
              </a:rPr>
              <a:t>the dataset: 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heart and lung sounds from a clinical manikin digital stethoscope (HLS-CMDS).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total of 535 audio recordings of patient cardiac and respiratory cycles.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endParaRPr lang="en-US" altLang="en-US" sz="2200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Medium" panose="02000709030000090004" pitchFamily="49" charset="0"/>
              </a:rPr>
              <a:t>the data classes: 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sz="2200" dirty="0">
                <a:solidFill>
                  <a:srgbClr val="163794"/>
                </a:solidFill>
                <a:latin typeface="InputMono Medium" panose="02000709030000090004" pitchFamily="49" charset="0"/>
              </a:rPr>
              <a:t>normal: 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healthy heart and lung sounds.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sz="2200" b="1" dirty="0">
                <a:solidFill>
                  <a:srgbClr val="163794"/>
                </a:solidFill>
                <a:latin typeface="InputMono Light" panose="02000509020000090004" pitchFamily="49" charset="0"/>
              </a:rPr>
              <a:t>abnormal: 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pathological sounds including murmurs, crackles, wheezing, and atrial fibrillation.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endParaRPr lang="en-US" altLang="en-US" sz="2200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the real-world challenge: in a clinical setting, we have access to massive amounts of "healthy" baseline data.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US" altLang="en-US" sz="2200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however, abnormal data is rare, highly varied, and hard to collect for every possible disease.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US" altLang="en-US" sz="2200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US" altLang="en-US" sz="2200" dirty="0">
              <a:solidFill>
                <a:srgbClr val="163794"/>
              </a:solidFill>
              <a:latin typeface="InputMono Light" panose="0200050902000009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A4391-A31A-CE68-FC3B-F70598DCE1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4726" r="64841"/>
          <a:stretch>
            <a:fillRect/>
          </a:stretch>
        </p:blipFill>
        <p:spPr>
          <a:xfrm>
            <a:off x="761023" y="4539919"/>
            <a:ext cx="6096000" cy="564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46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8466-2C48-925E-8ADD-7AF3DC1E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FE08484A-75D0-362D-CC90-9377A9625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10439400" cy="3011725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AUDIO PREPROCESSING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3C4C83E8-EE02-84B0-B55C-3B9F03446620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97DCF7FE-E9DF-C18D-6BB2-00DE1C94C694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3DDABC31-8D23-2CA6-227F-46AC07AF741C}"/>
              </a:ext>
            </a:extLst>
          </p:cNvPr>
          <p:cNvSpPr txBox="1"/>
          <p:nvPr/>
        </p:nvSpPr>
        <p:spPr>
          <a:xfrm>
            <a:off x="908050" y="10058349"/>
            <a:ext cx="71818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4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B569476D-406B-4A05-0689-B48CD4662299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230A0C0-0DB8-B3BC-43A1-24D66BCE4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866" y="4155111"/>
            <a:ext cx="10283184" cy="54619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the problem with raw audio: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high dimensionality: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a mere 15 seconds of audio at 22khz equals over 330,000 data points.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temporal redundancy: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adjacent samples are highly correlated, leading to inefficient learning.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noise sensitivity: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background clinical noise affects every single sample.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the solution: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MFCCs (mel frequency cepstral coefficients).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MFCCs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 compress the audio into a highly meaningful, compact 2d feature matrix (a spectrogram).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the mel scale: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the human ear does not perceive sound linearly; we are much more sensitive to changes in lower frequencies than higher ones. MFFCs mathematically warp the data to mimic human hearing.</a:t>
            </a:r>
            <a:endParaRPr lang="en-GB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77F72-7E35-A337-E2A4-438149126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78" t="13589" r="15415" b="5294"/>
          <a:stretch>
            <a:fillRect/>
          </a:stretch>
        </p:blipFill>
        <p:spPr>
          <a:xfrm>
            <a:off x="12185650" y="4664075"/>
            <a:ext cx="760022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4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084ED-E490-B972-EB1A-1F1E480B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CFF6B8EB-C923-7438-0A2D-1B686219A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034022" cy="1695980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DATA SPLIT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B56AF8B7-7DFB-18E8-8305-C2A506EA07ED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5E1478C7-7BD1-6D1E-BD9E-BFDABAC9AC4A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4BAFE71B-9385-D35D-9090-66F678C7ED49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5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1AD9FD7-1FB3-9785-2801-FA023FD392D9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53392A0-CE8F-0CB7-DA73-53CCEDCC5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0" y="1433193"/>
            <a:ext cx="9644378" cy="86251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approach to splitting: </a:t>
            </a:r>
            <a:r>
              <a:rPr lang="en-US" altLang="en-US" i="1" dirty="0">
                <a:solidFill>
                  <a:srgbClr val="163794"/>
                </a:solidFill>
                <a:latin typeface="InputMono Light" panose="02000509020000090004" pitchFamily="49" charset="0"/>
              </a:rPr>
              <a:t>in standard supervised learning, our train and test sets contain all classes. for unsupervised anomaly detection, our splitting strategy must reflect our goal of establishing a "healthy baseline.”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US" altLang="en-US" i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457200" indent="-457200" fontAlgn="base">
              <a:lnSpc>
                <a:spcPct val="110000"/>
              </a:lnSpc>
              <a:spcAft>
                <a:spcPct val="0"/>
              </a:spcAft>
              <a:buAutoNum type="arabicPeriod"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training set: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100% normal sounds. 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used exclusively to teach the autoencoder how to compress and reconstruct a healthy heartbeat.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2. </a:t>
            </a: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validation set: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100% normal sounds. 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 used to monitor the model during training and prevent it from overfitting.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3. </a:t>
            </a: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test set: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mixed normal &amp; abnormal sounds. 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 a completely independent set of recordings containing real-world diseases. used at the very end to evaluate if our anomaly threshold </a:t>
            </a: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actually works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.</a:t>
            </a: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GB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fontAlgn="base">
              <a:lnSpc>
                <a:spcPct val="110000"/>
              </a:lnSpc>
              <a:spcAft>
                <a:spcPct val="0"/>
              </a:spcAft>
              <a:buNone/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245FB-4706-2299-E672-9BDFF2DFE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26" y="2107553"/>
            <a:ext cx="8034021" cy="848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4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59755-66B3-6365-7C05-3DFD88E0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CFDE0F44-A7F7-D53C-5DD2-64C97551F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10744200" cy="1695980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NORMALISATION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20B9AD92-FAA5-A11D-C711-6D6C6CC1FEA0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40AF0C38-A82B-BBA9-2A5A-EAB3999C544E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E2CE9DCB-1FAA-8703-2925-0D1C0F882674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6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1061E3D4-B57D-105C-289B-3C0ECEA37C52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8A155545-BE93-4409-5713-459BA9DE85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7272" y="2814222"/>
                <a:ext cx="9644378" cy="8625155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rtlCol="0" anchorCtr="0" compatLnSpc="1">
                <a:prstTxWarp prst="textNoShape">
                  <a:avLst/>
                </a:prstTxWarp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GB" altLang="en-US" dirty="0">
                    <a:solidFill>
                      <a:srgbClr val="163794"/>
                    </a:solidFill>
                    <a:latin typeface="InputMono Medium" panose="02000709030000090004" pitchFamily="49" charset="0"/>
                  </a:rPr>
                  <a:t>why normalise?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GB" altLang="en-US" dirty="0">
                    <a:solidFill>
                      <a:srgbClr val="163794"/>
                    </a:solidFill>
                    <a:latin typeface="InputMono Light" panose="02000509020000090004" pitchFamily="49" charset="0"/>
                  </a:rPr>
                  <a:t>faster convergence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GB" altLang="en-US" dirty="0">
                    <a:solidFill>
                      <a:srgbClr val="163794"/>
                    </a:solidFill>
                    <a:latin typeface="InputMono Light" panose="02000509020000090004" pitchFamily="49" charset="0"/>
                  </a:rPr>
                  <a:t>numerical stability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GB" altLang="en-US" dirty="0">
                    <a:solidFill>
                      <a:srgbClr val="163794"/>
                    </a:solidFill>
                    <a:latin typeface="InputMono Light" panose="02000509020000090004" pitchFamily="49" charset="0"/>
                  </a:rPr>
                  <a:t>equal feature contribution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GB" altLang="en-US" dirty="0">
                    <a:solidFill>
                      <a:srgbClr val="163794"/>
                    </a:solidFill>
                    <a:latin typeface="InputMono Light" panose="02000509020000090004" pitchFamily="49" charset="0"/>
                  </a:rPr>
                  <a:t>better generalization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endParaRPr lang="en-GB" altLang="en-US" dirty="0">
                  <a:solidFill>
                    <a:srgbClr val="163794"/>
                  </a:solidFill>
                  <a:latin typeface="InputMono Light" panose="02000509020000090004" pitchFamily="49" charset="0"/>
                </a:endParaRP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GB" altLang="en-US" dirty="0">
                    <a:solidFill>
                      <a:srgbClr val="163794"/>
                    </a:solidFill>
                    <a:latin typeface="InputMono Light" panose="02000509020000090004" pitchFamily="49" charset="0"/>
                  </a:rPr>
                  <a:t>min-max scaling:</a:t>
                </a: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norm</m:t>
                          </m:r>
                        </m:sub>
                      </m:sSub>
                      <m:r>
                        <a:rPr lang="en-GB" sz="2400">
                          <a:solidFill>
                            <a:srgbClr val="163794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X</m:t>
                          </m:r>
                          <m:r>
                            <a:rPr lang="en-GB" sz="2400" i="1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800" i="1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400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en-GB" sz="2400">
                          <a:solidFill>
                            <a:srgbClr val="163794"/>
                          </a:solidFill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/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i="1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400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GB" sz="2400" i="1">
                              <a:solidFill>
                                <a:srgbClr val="163794"/>
                              </a:solidFill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1800" i="1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400">
                                  <a:solidFill>
                                    <a:srgbClr val="163794"/>
                                  </a:solidFill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altLang="en-US" dirty="0">
                  <a:solidFill>
                    <a:srgbClr val="163794"/>
                  </a:solidFill>
                  <a:latin typeface="IBM Plex Sans" panose="020B0503050203000203" pitchFamily="34" charset="0"/>
                </a:endParaRPr>
              </a:p>
            </p:txBody>
          </p:sp>
        </mc:Choice>
        <mc:Fallback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8A155545-BE93-4409-5713-459BA9DE8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7272" y="2814222"/>
                <a:ext cx="9644378" cy="8625155"/>
              </a:xfrm>
              <a:prstGeom prst="rect">
                <a:avLst/>
              </a:prstGeom>
              <a:blipFill>
                <a:blip r:embed="rId3"/>
                <a:stretch>
                  <a:fillRect l="-78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95DC181-6D79-2D6F-67F0-D3110FCC9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12" b="89785" l="6693" r="91901">
                        <a14:foregroundMark x1="12711" y1="75134" x2="54724" y2="31989"/>
                        <a14:foregroundMark x1="54724" y1="31989" x2="62430" y2="31586"/>
                        <a14:foregroundMark x1="62430" y1="31586" x2="81327" y2="40860"/>
                        <a14:foregroundMark x1="81327" y1="40860" x2="86895" y2="47715"/>
                        <a14:foregroundMark x1="86895" y1="47715" x2="86670" y2="57258"/>
                        <a14:foregroundMark x1="86670" y1="57258" x2="82565" y2="61425"/>
                        <a14:foregroundMark x1="82565" y1="61425" x2="41732" y2="68414"/>
                        <a14:foregroundMark x1="16142" y1="24462" x2="12317" y2="36022"/>
                        <a14:foregroundMark x1="12317" y1="36022" x2="10180" y2="52151"/>
                        <a14:foregroundMark x1="10180" y1="52151" x2="11811" y2="59946"/>
                        <a14:foregroundMark x1="11811" y1="59946" x2="18223" y2="67204"/>
                        <a14:foregroundMark x1="18223" y1="67204" x2="45388" y2="73522"/>
                        <a14:foregroundMark x1="45388" y1="73522" x2="77503" y2="68683"/>
                        <a14:foregroundMark x1="77503" y1="68683" x2="80540" y2="64247"/>
                        <a14:foregroundMark x1="80540" y1="64247" x2="82565" y2="47177"/>
                        <a14:foregroundMark x1="82565" y1="47177" x2="79921" y2="38978"/>
                        <a14:foregroundMark x1="79921" y1="38978" x2="27784" y2="25806"/>
                        <a14:foregroundMark x1="27784" y1="25806" x2="16423" y2="27419"/>
                        <a14:foregroundMark x1="13330" y1="23253" x2="10686" y2="31586"/>
                        <a14:foregroundMark x1="10686" y1="31586" x2="9674" y2="45699"/>
                        <a14:foregroundMark x1="9674" y1="45699" x2="10405" y2="71102"/>
                        <a14:foregroundMark x1="10405" y1="71102" x2="17660" y2="74059"/>
                        <a14:foregroundMark x1="17660" y1="74059" x2="72947" y2="64516"/>
                        <a14:foregroundMark x1="72947" y1="64516" x2="86670" y2="43280"/>
                        <a14:foregroundMark x1="86670" y1="43280" x2="87064" y2="34812"/>
                        <a14:foregroundMark x1="87064" y1="34812" x2="85377" y2="27554"/>
                        <a14:foregroundMark x1="85377" y1="27554" x2="85096" y2="27419"/>
                        <a14:foregroundMark x1="89708" y1="25672" x2="92576" y2="56048"/>
                        <a14:foregroundMark x1="92576" y1="56048" x2="92520" y2="64785"/>
                        <a14:foregroundMark x1="92520" y1="64785" x2="90157" y2="72043"/>
                        <a14:foregroundMark x1="90157" y1="72043" x2="82677" y2="73925"/>
                        <a14:foregroundMark x1="6693" y1="27419" x2="7087" y2="42473"/>
                        <a14:foregroundMark x1="8493" y1="19892" x2="31609" y2="24462"/>
                        <a14:foregroundMark x1="41114" y1="21102" x2="48144" y2="21371"/>
                        <a14:foregroundMark x1="48144" y1="21371" x2="84983" y2="17742"/>
                        <a14:foregroundMark x1="91282" y1="75806" x2="86727" y2="79704"/>
                        <a14:foregroundMark x1="86727" y1="79704" x2="21541" y2="81586"/>
                        <a14:foregroundMark x1="16535" y1="83468" x2="16535" y2="83468"/>
                        <a14:foregroundMark x1="10911" y1="81855" x2="10911" y2="81855"/>
                        <a14:foregroundMark x1="7424" y1="74866" x2="7424" y2="74866"/>
                        <a14:foregroundMark x1="16254" y1="59543" x2="39708" y2="32930"/>
                        <a14:foregroundMark x1="39708" y1="32930" x2="39708" y2="32930"/>
                        <a14:foregroundMark x1="7087" y1="19220" x2="7087" y2="19220"/>
                        <a14:foregroundMark x1="7199" y1="22312" x2="8605" y2="18011"/>
                        <a14:foregroundMark x1="13611" y1="19220" x2="30202" y2="22312"/>
                        <a14:foregroundMark x1="6693" y1="18011" x2="6693" y2="18011"/>
                        <a14:foregroundMark x1="38808" y1="18952" x2="29696" y2="16801"/>
                        <a14:foregroundMark x1="87289" y1="19489" x2="90157" y2="26210"/>
                        <a14:foregroundMark x1="90157" y1="26210" x2="90776" y2="34274"/>
                        <a14:foregroundMark x1="90776" y1="34274" x2="91901" y2="393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1283" y="5675032"/>
            <a:ext cx="14011545" cy="586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9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E09D-8C65-63EC-356A-E76D4E8F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F0BC2803-A912-D6D8-0D3D-88EFD9C2B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915400" cy="1695980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AUTOENCODER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3B4E9369-0E0A-9A26-6A0E-A5AB5979CFB4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CB0C87F7-1828-8351-12CF-C66BF05C2D51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A2244364-FFA7-6251-37A8-29582D2BB436}"/>
              </a:ext>
            </a:extLst>
          </p:cNvPr>
          <p:cNvSpPr txBox="1"/>
          <p:nvPr/>
        </p:nvSpPr>
        <p:spPr>
          <a:xfrm>
            <a:off x="911866" y="10058349"/>
            <a:ext cx="71818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7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7CAA0DB4-8069-5B8E-5232-EE961601D846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BFA919-704B-B64D-9152-8D8090854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194" y="8321675"/>
            <a:ext cx="17459055" cy="71170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the encoder: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a series of progressively smaller linear layers that squash the high-dimensional input data (our </a:t>
            </a:r>
            <a:r>
              <a:rPr lang="en-US" altLang="en-US" dirty="0" err="1">
                <a:solidFill>
                  <a:srgbClr val="163794"/>
                </a:solidFill>
                <a:latin typeface="InputMono Light" panose="02000509020000090004" pitchFamily="49" charset="0"/>
              </a:rPr>
              <a:t>mfccs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) down into a smaller representation.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the bottleneck (latent space):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the most restricted, severely compressed point in the network. this forces the model to discard background noise and learn only the absolute most critical "rules" of a healthy heartbeat.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the decoder: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a series of progressively larger layers that take the bottleneck data and attempt to reconstruct the original input exactly as it was.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8E73EA-123D-6BC7-A7A5-6B2084F4B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998" y="2663316"/>
            <a:ext cx="12660652" cy="534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6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49D9-53F7-AEC8-B327-202A4238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9D6B6C29-2688-5383-2115-A4E14B809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10744200" cy="3011725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ACTIVATION FUNCTIONS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4FF4009C-2089-3195-0DD6-0CB2AEB95230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92D6B3C5-3A4A-D3A7-92D3-72BD7D3F26AF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7F2936EC-F357-80AC-1274-E844385268C9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8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9074ECB7-53F4-C065-71B1-48AD99CA9BC1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B867156-407F-44D7-5F9C-E7496DF23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272" y="4399200"/>
            <a:ext cx="9644378" cy="43034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purpose: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transform linear input to non-linear output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enable networks to learn complex patterns and relationships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GB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GB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key properties: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differentiable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non-linear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GB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computationally efficient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GB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54731-418B-53E4-8185-3D9DFAEC5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044" y="3397998"/>
            <a:ext cx="11213706" cy="668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8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05BF-09F1-B80D-3E77-C037F415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D9E9D714-EE0A-09E7-5CF9-1C8E356D9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008728" cy="3011725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NETWORK BUILDING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177AF0FF-F51E-E79D-9B9F-012D947B4292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0EF2C310-C80C-007E-1F5F-2951BEA083FD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57D7DD7C-7B02-EAED-3720-9E4CBB98258D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0</a:t>
            </a: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9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4C9A25C2-D83C-17BE-DF56-F47A6CD51396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03D3649-E1DA-1BD1-AE56-5C6DF8F72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85" y="4399199"/>
            <a:ext cx="8008729" cy="52940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Medium" panose="02000709030000090004" pitchFamily="49" charset="0"/>
              </a:rPr>
              <a:t>using </a:t>
            </a:r>
            <a:r>
              <a:rPr lang="en-US" altLang="en-US" sz="2200" dirty="0" err="1">
                <a:solidFill>
                  <a:srgbClr val="EE4C2C"/>
                </a:solidFill>
                <a:latin typeface="InputMono Medium" panose="02000709030000090004" pitchFamily="49" charset="0"/>
              </a:rPr>
              <a:t>nn.Sequential</a:t>
            </a:r>
            <a:r>
              <a:rPr lang="en-US" altLang="en-US" sz="2200" dirty="0">
                <a:solidFill>
                  <a:srgbClr val="EE4C2C"/>
                </a:solidFill>
                <a:latin typeface="InputMono Medium" panose="02000709030000090004" pitchFamily="49" charset="0"/>
              </a:rPr>
              <a:t>: 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to keep our code clean, we can group our layers together using </a:t>
            </a:r>
            <a:r>
              <a:rPr lang="en-US" altLang="en-US" sz="2200" dirty="0" err="1">
                <a:solidFill>
                  <a:srgbClr val="163794"/>
                </a:solidFill>
                <a:latin typeface="InputMono Light" panose="02000509020000090004" pitchFamily="49" charset="0"/>
              </a:rPr>
              <a:t>pytorch's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 </a:t>
            </a:r>
            <a:r>
              <a:rPr lang="en-US" altLang="en-US" sz="2200" dirty="0" err="1">
                <a:solidFill>
                  <a:srgbClr val="EE4C2C"/>
                </a:solidFill>
                <a:latin typeface="InputMono Light" panose="02000509020000090004" pitchFamily="49" charset="0"/>
              </a:rPr>
              <a:t>nn.Sequential</a:t>
            </a:r>
            <a:r>
              <a:rPr lang="en-US" altLang="en-US" sz="2200" dirty="0">
                <a:solidFill>
                  <a:srgbClr val="EE4C2C"/>
                </a:solidFill>
                <a:latin typeface="InputMono Light" panose="02000509020000090004" pitchFamily="49" charset="0"/>
              </a:rPr>
              <a:t> 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container.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this saves us from having to manually pass the data through every single layer and activation function in the forward pass.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163794"/>
                </a:solidFill>
                <a:latin typeface="InputMono Medium" panose="02000709030000090004" pitchFamily="49" charset="0"/>
              </a:rPr>
              <a:t>symmetry: </a:t>
            </a:r>
            <a:r>
              <a:rPr lang="en-US" altLang="en-US" sz="2200" dirty="0">
                <a:solidFill>
                  <a:srgbClr val="163794"/>
                </a:solidFill>
                <a:latin typeface="InputMono Light" panose="02000509020000090004" pitchFamily="49" charset="0"/>
              </a:rPr>
              <a:t>notice how the decoder is generally a perfect mirror image of the encoder. if we compress from 128 down to 32, we reconstruct from 32 back up to 128.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4F210-B3BB-38A9-CBF9-307EEA909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250" y="629713"/>
            <a:ext cx="11461366" cy="1089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29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BA7F-E74D-894A-C5AB-0243C3DA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384A58F3-6E63-2CB8-DC3F-B8EAE6BCD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008728" cy="3024549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OPTIMISER</a:t>
            </a:r>
          </a:p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&amp; LOSS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8D002103-B9DE-567D-03BF-3FCD22A4B961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259F4346-8C61-DEC5-B86F-0167FA0A3D6E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D3772D33-03E4-3139-53E1-7DCB540C8F0C}"/>
              </a:ext>
            </a:extLst>
          </p:cNvPr>
          <p:cNvSpPr txBox="1"/>
          <p:nvPr/>
        </p:nvSpPr>
        <p:spPr>
          <a:xfrm>
            <a:off x="911866" y="10058349"/>
            <a:ext cx="71818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10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6C21FC5A-30D1-F4DF-C2EF-7312B91B6161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A321650-81DE-2BFD-11FF-D72E2DACB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22" y="4515822"/>
            <a:ext cx="8279128" cy="57919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the loss function (MSE) </a:t>
            </a:r>
            <a:r>
              <a:rPr lang="en-US" altLang="en-US" dirty="0" err="1">
                <a:solidFill>
                  <a:srgbClr val="EE4C2C"/>
                </a:solidFill>
                <a:latin typeface="InputMono Medium" panose="02000709030000090004" pitchFamily="49" charset="0"/>
              </a:rPr>
              <a:t>nn.MSELoss</a:t>
            </a:r>
            <a:r>
              <a:rPr lang="en-US" altLang="en-US" b="1" dirty="0">
                <a:solidFill>
                  <a:srgbClr val="163794"/>
                </a:solidFill>
                <a:latin typeface="InputMono Light" panose="02000509020000090004" pitchFamily="49" charset="0"/>
              </a:rPr>
              <a:t>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it calculates the mathematical difference between the original audio features and the reconstructed audio features.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high MSE </a:t>
            </a:r>
            <a:r>
              <a:rPr lang="en-US" altLang="en-US" b="1" dirty="0">
                <a:solidFill>
                  <a:srgbClr val="163794"/>
                </a:solidFill>
                <a:latin typeface="InputMono Light" panose="02000509020000090004" pitchFamily="49" charset="0"/>
              </a:rPr>
              <a:t>= poor reconstruction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(the network failed to compress/decompress accurately).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low MSE </a:t>
            </a:r>
            <a:r>
              <a:rPr lang="en-US" altLang="en-US" b="1" dirty="0">
                <a:solidFill>
                  <a:srgbClr val="163794"/>
                </a:solidFill>
                <a:latin typeface="InputMono Light" panose="02000509020000090004" pitchFamily="49" charset="0"/>
              </a:rPr>
              <a:t>= good reconstruction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(the network successfully learned the healthy patterns).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the optimizer (</a:t>
            </a:r>
            <a:r>
              <a:rPr lang="en-US" altLang="en-US" dirty="0" err="1">
                <a:solidFill>
                  <a:srgbClr val="163794"/>
                </a:solidFill>
                <a:latin typeface="InputMono Medium" panose="02000709030000090004" pitchFamily="49" charset="0"/>
              </a:rPr>
              <a:t>adam</a:t>
            </a: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):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we use the </a:t>
            </a:r>
            <a:r>
              <a:rPr lang="en-US" altLang="en-US" dirty="0" err="1">
                <a:solidFill>
                  <a:srgbClr val="163794"/>
                </a:solidFill>
                <a:latin typeface="InputMono Light" panose="02000509020000090004" pitchFamily="49" charset="0"/>
              </a:rPr>
              <a:t>adam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 optimizer (</a:t>
            </a:r>
            <a:r>
              <a:rPr lang="en-US" altLang="en-US" dirty="0" err="1">
                <a:solidFill>
                  <a:srgbClr val="EE4C2C"/>
                </a:solidFill>
                <a:latin typeface="InputMono Light" panose="02000509020000090004" pitchFamily="49" charset="0"/>
              </a:rPr>
              <a:t>optim.Adam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). because the loss landscape of autoencoders can be complex.</a:t>
            </a:r>
            <a:endParaRPr lang="en-US" altLang="en-US" dirty="0">
              <a:solidFill>
                <a:srgbClr val="EE4C2C"/>
              </a:solidFill>
              <a:latin typeface="InputMono Light" panose="0200050902000009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495BE-C1E7-8E54-3D62-3AFAA1357DA1}"/>
              </a:ext>
            </a:extLst>
          </p:cNvPr>
          <p:cNvSpPr txBox="1"/>
          <p:nvPr/>
        </p:nvSpPr>
        <p:spPr>
          <a:xfrm>
            <a:off x="9442450" y="1676169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163794"/>
                </a:solidFill>
                <a:latin typeface="InputMono Light" panose="02000509020000090004" pitchFamily="49" charset="0"/>
              </a:rPr>
              <a:t>the target is the input: in unsupervised learning with autoencoders, we don't have y labels. our target is simply our input x.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056557-8002-31C3-11C5-63D8725D0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215" y="3421986"/>
            <a:ext cx="8855010" cy="749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0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7794-3B21-9623-3ABC-11E4CAB5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DA36CC2D-EC57-2CDC-6397-EE9D6B3D3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008728" cy="3024549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OPTIMISER</a:t>
            </a:r>
          </a:p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&amp; LOSS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C393C4E6-5CB5-B73C-4F5C-65260F46FB4D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013CAE9F-C13D-88C2-29E2-EF863E040880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8D148778-41EB-8935-F1F0-3B9766FE33C0}"/>
              </a:ext>
            </a:extLst>
          </p:cNvPr>
          <p:cNvSpPr txBox="1"/>
          <p:nvPr/>
        </p:nvSpPr>
        <p:spPr>
          <a:xfrm>
            <a:off x="911866" y="10058349"/>
            <a:ext cx="71818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11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1D3B168C-65D4-09FB-F6C9-F9D1A1CFBB23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A41E75A-A152-906B-C00F-D3B956D35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22" y="4515822"/>
            <a:ext cx="8279128" cy="57919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the loss function (MSE) </a:t>
            </a:r>
            <a:r>
              <a:rPr lang="en-US" altLang="en-US" dirty="0" err="1">
                <a:solidFill>
                  <a:srgbClr val="EE4C2C"/>
                </a:solidFill>
                <a:latin typeface="InputMono Medium" panose="02000709030000090004" pitchFamily="49" charset="0"/>
              </a:rPr>
              <a:t>nn.MSELoss</a:t>
            </a:r>
            <a:r>
              <a:rPr lang="en-US" altLang="en-US" b="1" dirty="0">
                <a:solidFill>
                  <a:srgbClr val="163794"/>
                </a:solidFill>
                <a:latin typeface="InputMono Light" panose="02000509020000090004" pitchFamily="49" charset="0"/>
              </a:rPr>
              <a:t>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it calculates the mathematical difference between the original audio features and the reconstructed audio features.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high MSE </a:t>
            </a:r>
            <a:r>
              <a:rPr lang="en-US" altLang="en-US" b="1" dirty="0">
                <a:solidFill>
                  <a:srgbClr val="163794"/>
                </a:solidFill>
                <a:latin typeface="InputMono Light" panose="02000509020000090004" pitchFamily="49" charset="0"/>
              </a:rPr>
              <a:t>= poor reconstruction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(the network failed to compress/decompress accurately).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low MSE </a:t>
            </a:r>
            <a:r>
              <a:rPr lang="en-US" altLang="en-US" b="1" dirty="0">
                <a:solidFill>
                  <a:srgbClr val="163794"/>
                </a:solidFill>
                <a:latin typeface="InputMono Light" panose="02000509020000090004" pitchFamily="49" charset="0"/>
              </a:rPr>
              <a:t>= good reconstruction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(the network successfully learned the healthy patterns).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the optimizer (</a:t>
            </a:r>
            <a:r>
              <a:rPr lang="en-US" altLang="en-US" dirty="0" err="1">
                <a:solidFill>
                  <a:srgbClr val="163794"/>
                </a:solidFill>
                <a:latin typeface="InputMono Medium" panose="02000709030000090004" pitchFamily="49" charset="0"/>
              </a:rPr>
              <a:t>adam</a:t>
            </a: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):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we use the </a:t>
            </a:r>
            <a:r>
              <a:rPr lang="en-US" altLang="en-US" dirty="0" err="1">
                <a:solidFill>
                  <a:srgbClr val="163794"/>
                </a:solidFill>
                <a:latin typeface="InputMono Light" panose="02000509020000090004" pitchFamily="49" charset="0"/>
              </a:rPr>
              <a:t>adam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 optimizer (</a:t>
            </a:r>
            <a:r>
              <a:rPr lang="en-US" altLang="en-US" dirty="0" err="1">
                <a:solidFill>
                  <a:srgbClr val="EE4C2C"/>
                </a:solidFill>
                <a:latin typeface="InputMono Light" panose="02000509020000090004" pitchFamily="49" charset="0"/>
              </a:rPr>
              <a:t>optim.Adam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). because the loss landscape of autoencoders can be complex.</a:t>
            </a:r>
            <a:endParaRPr lang="en-US" altLang="en-US" dirty="0">
              <a:solidFill>
                <a:srgbClr val="EE4C2C"/>
              </a:solidFill>
              <a:latin typeface="InputMono Light" panose="0200050902000009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62DE6-144E-36E7-24F3-084B7EB5F4E6}"/>
              </a:ext>
            </a:extLst>
          </p:cNvPr>
          <p:cNvSpPr txBox="1"/>
          <p:nvPr/>
        </p:nvSpPr>
        <p:spPr>
          <a:xfrm>
            <a:off x="9442450" y="1676169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163794"/>
                </a:solidFill>
                <a:latin typeface="InputMono Light" panose="02000509020000090004" pitchFamily="49" charset="0"/>
              </a:rPr>
              <a:t>the target is the input: in unsupervised learning with autoencoders, we don't have y labels. our target is simply our input x.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F8A146-10D9-9B66-0258-BE9EB6981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78" y="4317950"/>
            <a:ext cx="11680058" cy="555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51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8F41-091E-D2E5-753E-391DE770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2475D5FA-DA28-31E8-4B38-81C5EAC72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008728" cy="3011725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OVER/UNDER-FITTING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5D2C2DD0-808D-FCCF-E54F-4CBB5786D1BD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728514EB-2559-EFC8-1C08-2CC11440B306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EC36385A-0E1B-CD84-7FC9-DA1CE64FDC75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12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FCA813B8-C796-0590-41C0-041D59A2A68B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DE91BAF-6512-6AAD-45E9-7CE110C0B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83" y="4130675"/>
            <a:ext cx="9900067" cy="60411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underfitting: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the model is too simple or hasn't trained long enough to learn the patterns of a normal heartbeat (both training and validation loss are high).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b="1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solidFill>
                  <a:srgbClr val="163794"/>
                </a:solidFill>
                <a:latin typeface="InputMono Medium" panose="02000709030000090004" pitchFamily="49" charset="0"/>
              </a:rPr>
              <a:t>overfitting: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the model memorizes the exact audio files in the training set, but fails to generalize to new, unseen normal sounds.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>
              <a:solidFill>
                <a:srgbClr val="163794"/>
              </a:solidFill>
              <a:latin typeface="InputMono Medium" panose="02000709030000090004" pitchFamily="49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a solution - early stopping: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we monitor the validation loss at every epoch. we stop training the moment the validation loss stops improving, ensuring our model generalizes perfectly to new patients.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7750D-EF55-1868-3F12-47BB471C4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4050" y="4098950"/>
            <a:ext cx="9000807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0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97C4C-1832-02A8-4BE4-F69501DE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396838D1-B92A-A187-E58F-2C5552A26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8008728" cy="3011725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OVER/UNDER-FITTING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34C01793-EBAC-C8A9-7DBD-4B6FCB597324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1D67AD18-F624-ED56-022B-1F3047673227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55DE910E-57EC-8CC3-636A-E34FABF5F36B}"/>
              </a:ext>
            </a:extLst>
          </p:cNvPr>
          <p:cNvSpPr txBox="1"/>
          <p:nvPr/>
        </p:nvSpPr>
        <p:spPr>
          <a:xfrm>
            <a:off x="911866" y="10058349"/>
            <a:ext cx="7181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13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31FFBB45-9EDF-52AB-AC73-18CBEC337869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5720CF5-22F7-29DC-1ADF-B3D36D124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927" y="4397146"/>
            <a:ext cx="12922344" cy="6202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1641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8D65-3AF5-6ECF-D30A-6366A5F2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bject 117" descr="$PPTXTitle">
            <a:extLst>
              <a:ext uri="{FF2B5EF4-FFF2-40B4-BE49-F238E27FC236}">
                <a16:creationId xmlns:a16="http://schemas.microsoft.com/office/drawing/2014/main" id="{1C48D370-6C17-31CC-35DF-02B5B96AB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1118242"/>
            <a:ext cx="9296400" cy="1695980"/>
          </a:xfrm>
          <a:prstGeom prst="rect">
            <a:avLst/>
          </a:prstGeom>
        </p:spPr>
        <p:txBody>
          <a:bodyPr vert="horz" wrap="square" lIns="0" tIns="376558" rIns="0" bIns="0" rtlCol="0">
            <a:spAutoFit/>
          </a:bodyPr>
          <a:lstStyle/>
          <a:p>
            <a:pPr marL="224154" algn="l">
              <a:lnSpc>
                <a:spcPct val="100000"/>
              </a:lnSpc>
              <a:spcBef>
                <a:spcPts val="125"/>
              </a:spcBef>
            </a:pPr>
            <a:r>
              <a:rPr lang="en-GB" spc="680" dirty="0">
                <a:latin typeface="InputMono Light" panose="02000509020000090004" pitchFamily="49" charset="0"/>
              </a:rPr>
              <a:t>EVALUATION</a:t>
            </a:r>
            <a:endParaRPr spc="-25" dirty="0">
              <a:latin typeface="InputMono Light" panose="02000509020000090004" pitchFamily="49" charset="0"/>
            </a:endParaRPr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49E49859-8B44-1E94-BB2D-A85519B73148}"/>
              </a:ext>
            </a:extLst>
          </p:cNvPr>
          <p:cNvSpPr txBox="1"/>
          <p:nvPr/>
        </p:nvSpPr>
        <p:spPr>
          <a:xfrm>
            <a:off x="17033454" y="868982"/>
            <a:ext cx="206502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9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FEBRUARY</a:t>
            </a:r>
            <a:r>
              <a:rPr sz="1400" spc="2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9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2026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90F61EEF-4A61-C827-5BE5-0B0C4658C307}"/>
              </a:ext>
            </a:extLst>
          </p:cNvPr>
          <p:cNvSpPr txBox="1"/>
          <p:nvPr/>
        </p:nvSpPr>
        <p:spPr>
          <a:xfrm>
            <a:off x="1017272" y="868982"/>
            <a:ext cx="2319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BY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5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DR</a:t>
            </a:r>
            <a:r>
              <a:rPr sz="1400" spc="22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 </a:t>
            </a:r>
            <a:r>
              <a:rPr sz="1400" spc="11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CORONA-</a:t>
            </a:r>
            <a:r>
              <a:rPr sz="1400" spc="100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LOPEZ</a:t>
            </a:r>
            <a:endParaRPr sz="140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4" name="object 145">
            <a:extLst>
              <a:ext uri="{FF2B5EF4-FFF2-40B4-BE49-F238E27FC236}">
                <a16:creationId xmlns:a16="http://schemas.microsoft.com/office/drawing/2014/main" id="{435262AF-C7B8-22A7-A42F-7F981C8459A2}"/>
              </a:ext>
            </a:extLst>
          </p:cNvPr>
          <p:cNvSpPr txBox="1"/>
          <p:nvPr/>
        </p:nvSpPr>
        <p:spPr>
          <a:xfrm>
            <a:off x="911866" y="10058349"/>
            <a:ext cx="718185" cy="67133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GB" sz="4250" spc="-25" dirty="0">
                <a:solidFill>
                  <a:srgbClr val="163794"/>
                </a:solidFill>
                <a:latin typeface="InputMono Light" panose="02000509020000090004" pitchFamily="49" charset="0"/>
                <a:cs typeface="InputMono"/>
              </a:rPr>
              <a:t>14</a:t>
            </a:r>
            <a:endParaRPr sz="4250" dirty="0">
              <a:latin typeface="InputMono Light" panose="02000509020000090004" pitchFamily="49" charset="0"/>
              <a:cs typeface="InputMono"/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46A083D9-E6AB-C4C5-03B2-84067A46DD51}"/>
              </a:ext>
            </a:extLst>
          </p:cNvPr>
          <p:cNvSpPr/>
          <p:nvPr/>
        </p:nvSpPr>
        <p:spPr>
          <a:xfrm>
            <a:off x="1052721" y="1387475"/>
            <a:ext cx="5486400" cy="45719"/>
          </a:xfrm>
          <a:custGeom>
            <a:avLst/>
            <a:gdLst/>
            <a:ahLst/>
            <a:cxnLst/>
            <a:rect l="l" t="t" r="r" b="b"/>
            <a:pathLst>
              <a:path w="7651115">
                <a:moveTo>
                  <a:pt x="0" y="0"/>
                </a:moveTo>
                <a:lnTo>
                  <a:pt x="7650908" y="0"/>
                </a:lnTo>
              </a:path>
            </a:pathLst>
          </a:custGeom>
          <a:ln w="73025">
            <a:solidFill>
              <a:srgbClr val="1637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764067A-4E24-4006-22C3-DA235D09B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0650" y="1433194"/>
            <a:ext cx="9519067" cy="49834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we now take our isolated </a:t>
            </a: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test set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and pass it through the trained autoencoder.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the results: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normal sounds: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the model recognizes the patterns, compresses them, and reconstructs them easily 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abnormal sounds: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the model's bottleneck destroys the unknown diseased patterns, resulting in a failed reconstruction.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163794"/>
                </a:solidFill>
                <a:latin typeface="InputMono Medium" panose="02000709030000090004" pitchFamily="49" charset="0"/>
              </a:rPr>
              <a:t>setting the threshold: </a:t>
            </a:r>
            <a:r>
              <a:rPr lang="en-US" altLang="en-US" dirty="0">
                <a:solidFill>
                  <a:srgbClr val="163794"/>
                </a:solidFill>
                <a:latin typeface="InputMono Light" panose="02000509020000090004" pitchFamily="49" charset="0"/>
              </a:rPr>
              <a:t>by establishing a cut-off threshold on the reconstruction error, we successfully identify medical anomalies without ever giving the network labeled diseased data!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dirty="0">
              <a:solidFill>
                <a:srgbClr val="163794"/>
              </a:solidFill>
              <a:latin typeface="InputMono Light" panose="0200050902000009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7A376-68A8-1F5F-CAFF-EAA178874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468" y="5737372"/>
            <a:ext cx="11137919" cy="499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4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ADAD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7834</TotalTime>
  <Words>1136</Words>
  <Application>Microsoft Macintosh PowerPoint</Application>
  <PresentationFormat>Custom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Cambria Math</vt:lpstr>
      <vt:lpstr>IBM Plex Sans</vt:lpstr>
      <vt:lpstr>InputMono</vt:lpstr>
      <vt:lpstr>InputMono Light</vt:lpstr>
      <vt:lpstr>InputMono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AERO62520</dc:title>
  <cp:lastModifiedBy>Diego Corona Lopez</cp:lastModifiedBy>
  <cp:revision>19</cp:revision>
  <dcterms:created xsi:type="dcterms:W3CDTF">2026-01-27T08:59:44Z</dcterms:created>
  <dcterms:modified xsi:type="dcterms:W3CDTF">2026-02-20T14:19:59Z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2026-01-26T00:00:00Z</vt:filetime>
  </property>
  <property fmtid="{D5CDD505-2E9C-101B-9397-08002B2CF9AE}" pid="3" name="Creator">
    <vt:lpwstr>Adobe Illustrator 30.1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2026-01-27T00:00:00Z</vt:filetime>
  </property>
  <property fmtid="{D5CDD505-2E9C-101B-9397-08002B2CF9AE}" pid="6" name="Producer">
    <vt:lpwstr>Adobe PDF library 17.00</vt:lpwstr>
  </property>
</Properties>
</file>